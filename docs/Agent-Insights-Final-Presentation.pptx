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p>
            <a:r>
              <a:t>[Cold open. Do NOT advance yet. Have your status bar visible, or describe it.]</a:t>
            </a:r>
          </a:p>
          <a:p/>
          <a:p>
            <a:r>
              <a:t>"Before I say anything about the project — this is my VS Code status bar."</a:t>
            </a:r>
          </a:p>
          <a:p/>
          <a:p>
            <a:r>
              <a:t>   $(broadcast)  ↓12.4K   42% cached   ↑3.1K</a:t>
            </a:r>
          </a:p>
          <a:p/>
          <a:p>
            <a:r>
              <a:t>"That's what my coding agents cost me today. Twelve thousand tokens in, three thousand out,</a:t>
            </a:r>
          </a:p>
          <a:p>
            <a:r>
              <a:t>forty-two percent of the input served from cache."</a:t>
            </a:r>
          </a:p>
          <a:p/>
          <a:p>
            <a:r>
              <a:t>"Nobody built me a dashboard for that. That number came out of telemetry the agents were already</a:t>
            </a:r>
          </a:p>
          <a:p>
            <a:r>
              <a:t>emitting into the void."</a:t>
            </a:r>
          </a:p>
          <a:p/>
          <a:p>
            <a:r>
              <a:t>[beat]</a:t>
            </a:r>
          </a:p>
          <a:p/>
          <a:p>
            <a:r>
              <a:t>"I'm Michelle, and I spent my internship building Agent Insights: a VS Code extension that picks</a:t>
            </a:r>
          </a:p>
          <a:p>
            <a:r>
              <a:t>that telemetry up and turns it into something you — and your agent — can actually read."</a:t>
            </a:r>
          </a:p>
          <a:p/>
          <a:p>
            <a:r>
              <a:t>"Two short recorded demos partway through, and questions at the end."</a:t>
            </a:r>
          </a:p>
          <a:p/>
          <a:p>
            <a:r>
              <a:t>[advance]</a:t>
            </a:r>
          </a:p>
          <a:p/>
          <a:p>
            <a:r>
              <a:t>─── NOTES ───</a:t>
            </a:r>
          </a:p>
          <a:p/>
          <a:p>
            <a:r>
              <a:t>• This is the ONLY place in the talk you define the project. Make it land, then stop — the next</a:t>
            </a:r>
          </a:p>
          <a:p>
            <a:r>
              <a:t>  fifteen minutes are the explanation, and the problem section works far better if the room</a:t>
            </a:r>
          </a:p>
          <a:p>
            <a:r>
              <a:t>  feels the pain before it hears the solution.</a:t>
            </a:r>
          </a:p>
          <a:p>
            <a:r>
              <a:t>• If the status bar isn't showing real numbers on the day, just say the figures out loud. The</a:t>
            </a:r>
          </a:p>
          <a:p>
            <a:r>
              <a:t>  point is that a number exists and nothing explains it.</a:t>
            </a:r>
          </a:p>
          <a:p>
            <a:r>
              <a:t>• There's an appendix with all the numbers if anyone wants to go deeper in Q&amp;A.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p>
            <a:r>
              <a:t>Twenty seconds. This is a handshake, not a biography. Do not linger.</a:t>
            </a:r>
          </a:p>
          <a:p/>
          <a:p>
            <a:r>
              <a:t>"Quickly about me — I'm at UC San Diego studying math, computer science and cognitive science,</a:t>
            </a:r>
          </a:p>
          <a:p>
            <a:r>
              <a:t>and this is my second internship here. Explore last year, and software engineering on VS Code</a:t>
            </a:r>
          </a:p>
          <a:p>
            <a:r>
              <a:t>this year."</a:t>
            </a:r>
          </a:p>
          <a:p/>
          <a:p>
            <a:r>
              <a:t>[pick ONE of the bottom two rows — don't read both]</a:t>
            </a:r>
          </a:p>
          <a:p/>
          <a:p>
            <a:r>
              <a:t>"And a fun fact: I've journaled every day for the past six hundred days."</a:t>
            </a:r>
          </a:p>
          <a:p/>
          <a:p>
            <a:r>
              <a:t>[move on immediately]</a:t>
            </a:r>
          </a:p>
          <a:p/>
          <a:p>
            <a:r>
              <a:t>─── NOTES ───</a:t>
            </a:r>
          </a:p>
          <a:p/>
          <a:p>
            <a:r>
              <a:t>• The journaling line is the better one if the room is quiet and you want a beat of personality.</a:t>
            </a:r>
          </a:p>
          <a:p>
            <a:r>
              <a:t>  Bainbridge Island is the better one if you want to connect with people who were on that trip.</a:t>
            </a:r>
          </a:p>
          <a:p>
            <a:r>
              <a:t>• Resist explaining why you picked this project here — that's what the next four slides are for,</a:t>
            </a:r>
          </a:p>
          <a:p>
            <a:r>
              <a:t>  and the answer lands much harder after they've felt the problem.</a:t>
            </a:r>
          </a:p>
          <a:p>
            <a:r>
              <a:t>• CHECK BEFORE PRESENTING: swap in your own headshot.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the beats: where this problem lives, what the data actually is, what you still can't answer, and why. Say: "I want to earn the rest of the talk here."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p>
            <a:r>
              <a:t>Thirty seconds. This slide opens the Problem section by establishing WHERE the problem lives.</a:t>
            </a:r>
          </a:p>
          <a:p>
            <a:r>
              <a:t>Don't rush it, but don't add to it either.</a:t>
            </a:r>
          </a:p>
          <a:p/>
          <a:p>
            <a:r>
              <a:t>"I spent the summer on VS Code — the team that builds the editor, in the open, shipping monthly."</a:t>
            </a:r>
          </a:p>
          <a:p/>
          <a:p>
            <a:r>
              <a:t>[the navy band — this is the actual argument, say it close to verbatim]</a:t>
            </a:r>
          </a:p>
          <a:p>
            <a:r>
              <a:t>"And VS Code is where coding agents actually run now. That makes the editor the only place on</a:t>
            </a:r>
          </a:p>
          <a:p>
            <a:r>
              <a:t>the machine that can see all of them at once — and the only place a developer would trust with</a:t>
            </a:r>
          </a:p>
          <a:p>
            <a:r>
              <a:t>what they say."</a:t>
            </a:r>
          </a:p>
          <a:p/>
          <a:p>
            <a:r>
              <a:t>[the four cards — ONE clause each, do not read the body text]</a:t>
            </a:r>
          </a:p>
          <a:p>
            <a:r>
              <a:t>"The editor became the host — Claude Code and Codex run as sessions inside VS Code now, next to</a:t>
            </a:r>
          </a:p>
          <a:p>
            <a:r>
              <a:t>Copilot."</a:t>
            </a:r>
          </a:p>
          <a:p/>
          <a:p>
            <a:r>
              <a:t>"And VS Code isn't just next to that telemetry, it's already in the path. It routes it, and</a:t>
            </a:r>
          </a:p>
          <a:p>
            <a:r>
              <a:t>stamps its own conversation id onto it."</a:t>
            </a:r>
          </a:p>
          <a:p/>
          <a:p>
            <a:r>
              <a:t>"Agent cost stopped being an abstraction — it's a question this team asks about its own work."</a:t>
            </a:r>
          </a:p>
          <a:p/>
          <a:p>
            <a:r>
              <a:t>"But the contents are prompts, model replies and source code. So it can't leave the machine."</a:t>
            </a:r>
          </a:p>
          <a:p/>
          <a:p>
            <a:r>
              <a:t>[the bottom band]</a:t>
            </a:r>
          </a:p>
          <a:p>
            <a:r>
              <a:t>"Which means the observability has to live in the editor too. Not in a cloud dashboard, not in a</a:t>
            </a:r>
          </a:p>
          <a:p>
            <a:r>
              <a:t>separate app — next to the thing it describes."</a:t>
            </a:r>
          </a:p>
          <a:p/>
          <a:p>
            <a:r>
              <a:t>─── NOTES ───</a:t>
            </a:r>
          </a:p>
          <a:p/>
          <a:p>
            <a:r>
              <a:t>• Card 2 is the hand-off. You've just said telemetry is flowing through the host, so the next</a:t>
            </a:r>
          </a:p>
          <a:p>
            <a:r>
              <a:t>  slide spends thirty seconds on what that telemetry actually is. Don't explain it here.</a:t>
            </a:r>
          </a:p>
          <a:p>
            <a:r>
              <a:t>• If you want a number, VS Code's install base is a fine one to say out loud — but keep it off</a:t>
            </a:r>
          </a:p>
          <a:p>
            <a:r>
              <a:t>  the slide. The argument is stronger than the statistic.</a:t>
            </a:r>
          </a:p>
          <a:p>
            <a:r>
              <a:t>• If asked "why not a cloud service?" — that's the fourth card, and the appendix has a full</a:t>
            </a:r>
          </a:p>
          <a:p>
            <a:r>
              <a:t>  data-flow diagram showing the trust boundary.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p>
            <a:r>
              <a:t>Thirty-five seconds. Pure setup — you are buying comprehension for the next fifteen minutes.</a:t>
            </a:r>
          </a:p>
          <a:p>
            <a:r>
              <a:t>Don't go faster than the room.</a:t>
            </a:r>
          </a:p>
          <a:p/>
          <a:p>
            <a:r>
              <a:t>"Quick thirty seconds on OpenTelemetry, because everything after this uses two words from it."</a:t>
            </a:r>
          </a:p>
          <a:p/>
          <a:p>
            <a:r>
              <a:t>"It's an open standard for recording what a program did while it ran. Most modern observability</a:t>
            </a:r>
          </a:p>
          <a:p>
            <a:r>
              <a:t>is built on it. And the useful thing here is that all three of these agents already emit it —</a:t>
            </a:r>
          </a:p>
          <a:p>
            <a:r>
              <a:t>the data exists, nobody was reading it."</a:t>
            </a:r>
          </a:p>
          <a:p/>
          <a:p>
            <a:r>
              <a:t>[trace the diagram with your hand, top to bottom]</a:t>
            </a:r>
          </a:p>
          <a:p>
            <a:r>
              <a:t>"A span is one unit of work. It has a name, a start time, a duration, a parent, and a bag of</a:t>
            </a:r>
          </a:p>
          <a:p>
            <a:r>
              <a:t>attributes. A trace is every span that shares an id. That is genuinely the entire data model."</a:t>
            </a:r>
          </a:p>
          <a:p/>
          <a:p>
            <a:r>
              <a:t>[right side, one breath]</a:t>
            </a:r>
          </a:p>
          <a:p>
            <a:r>
              <a:t>"Three kinds of signal — traces, metrics, logs."</a:t>
            </a:r>
          </a:p>
          <a:p/>
          <a:p>
            <a:r>
              <a:t>[the magenta box — this is the bridge to the whole talk, land it deliberately]</a:t>
            </a:r>
          </a:p>
          <a:p>
            <a:r>
              <a:t>"And there are semantic conventions. Agreed attribute names, so that 'which model' or 'how many</a:t>
            </a:r>
          </a:p>
          <a:p>
            <a:r>
              <a:t>tokens' means the same thing no matter who emitted it."</a:t>
            </a:r>
          </a:p>
          <a:p/>
          <a:p>
            <a:r>
              <a:t>[beat]</a:t>
            </a:r>
          </a:p>
          <a:p/>
          <a:p>
            <a:r>
              <a:t>"That last part is where this entire project lives — because in practice, the three harnesses</a:t>
            </a:r>
          </a:p>
          <a:p>
            <a:r>
              <a:t>do not agree."</a:t>
            </a:r>
          </a:p>
          <a:p/>
          <a:p>
            <a:r>
              <a:t>Then pivot hard: "so the data exists, and it's in a standard format. Here's what you still</a:t>
            </a:r>
          </a:p>
          <a:p>
            <a:r>
              <a:t>can't answer."</a:t>
            </a:r>
          </a:p>
          <a:p/>
          <a:p>
            <a:r>
              <a:t>─── NOTES ───</a:t>
            </a:r>
          </a:p>
          <a:p/>
          <a:p>
            <a:r>
              <a:t>• If the room is all observability people, say the one-liner and move through fast. But if there</a:t>
            </a:r>
          </a:p>
          <a:p>
            <a:r>
              <a:t>  is a single PM or manager present, KEEP THIS SLIDE — everything after it uses "span" and</a:t>
            </a:r>
          </a:p>
          <a:p>
            <a:r>
              <a:t>  "trace" without apologising.</a:t>
            </a:r>
          </a:p>
          <a:p>
            <a:r>
              <a:t>• The waterfall is deliberately the same visual grammar as the Codex span cascade two slides</a:t>
            </a:r>
          </a:p>
          <a:p>
            <a:r>
              <a:t>  later, so the audience already knows how to read that one.</a:t>
            </a:r>
          </a:p>
          <a:p>
            <a:r>
              <a:t>• If asked what OTLP is: the wire protocol — how the data gets from the agent to anything that</a:t>
            </a:r>
          </a:p>
          <a:p>
            <a:r>
              <a:t>  wants to receive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p>
            <a:r>
              <a:t>"Here are five questions I could not answer about my own agent runs. Not exotic questions —</a:t>
            </a:r>
          </a:p>
          <a:p>
            <a:r>
              <a:t>these are the ones you ask every single day."</a:t>
            </a:r>
          </a:p>
          <a:p/>
          <a:p>
            <a:r>
              <a:t>[read three only — 1, 3 and 5]</a:t>
            </a:r>
          </a:p>
          <a:p/>
          <a:p>
            <a:r>
              <a:t>"What did I even ask it to do? I'd have six sessions open across two harnesses by lunchtime, and</a:t>
            </a:r>
          </a:p>
          <a:p>
            <a:r>
              <a:t>no idea which one was the one that actually worked."</a:t>
            </a:r>
          </a:p>
          <a:p/>
          <a:p>
            <a:r>
              <a:t>"Why did it go wrong? — and this is the one that justifies the whole project. Agents almost</a:t>
            </a:r>
          </a:p>
          <a:p>
            <a:r>
              <a:t>never throw an exception. They misread you quietly on turn two, and then spend eight more turns</a:t>
            </a:r>
          </a:p>
          <a:p>
            <a:r>
              <a:t>confidently building on the wrong assumption. That failure is semantic. There's no error, no</a:t>
            </a:r>
          </a:p>
          <a:p>
            <a:r>
              <a:t>latency spike, no non-zero exit code. Every metric you'd normally collect says everything is</a:t>
            </a:r>
          </a:p>
          <a:p>
            <a:r>
              <a:t>fine."</a:t>
            </a:r>
          </a:p>
          <a:p/>
          <a:p>
            <a:r>
              <a:t>"And was Claude actually better than Copilot for this task? I had a gut feeling and exactly zero</a:t>
            </a:r>
          </a:p>
          <a:p>
            <a:r>
              <a:t>evidence."</a:t>
            </a:r>
          </a:p>
          <a:p/>
          <a:p>
            <a:r>
              <a:t>[point at the navy card]</a:t>
            </a:r>
          </a:p>
          <a:p>
            <a:r>
              <a:t>"There's also a loop that should exist and doesn't. The agent sitting in your editor reads</a:t>
            </a:r>
          </a:p>
          <a:p>
            <a:r>
              <a:t>structured data all day — and it has no access to its own history."</a:t>
            </a:r>
          </a:p>
          <a:p/>
          <a:p>
            <a:r>
              <a:t>[the band — say it slowly, then pause]</a:t>
            </a:r>
          </a:p>
          <a:p>
            <a:r>
              <a:t>"An agent session is the most expensive thing a developer runs all day, and the least observable</a:t>
            </a:r>
          </a:p>
          <a:p>
            <a:r>
              <a:t>thing on their machine."</a:t>
            </a:r>
          </a:p>
          <a:p/>
          <a:p>
            <a:r>
              <a:t>─── DETAIL FOR Q&amp;A ───</a:t>
            </a:r>
          </a:p>
          <a:p/>
          <a:p>
            <a:r>
              <a:t>• The comparison to make if it helps: you can profile a 200-millisecond function call in a dozen</a:t>
            </a:r>
          </a:p>
          <a:p>
            <a:r>
              <a:t>  tools. You cannot profile the four-minute, forty-cent, fourteen-tool-call conversation that</a:t>
            </a:r>
          </a:p>
          <a:p>
            <a:r>
              <a:t>  just rewrote your auth layer.</a:t>
            </a:r>
          </a:p>
          <a:p>
            <a:r>
              <a:t>• "Expensive" is meant literally as well as figuratively — tokens cost money, and the runs are</a:t>
            </a:r>
          </a:p>
          <a:p>
            <a:r>
              <a:t>  long enough that you context-switch away and lose the thread.</a:t>
            </a:r>
          </a:p>
          <a:p>
            <a:r>
              <a:t>• The navy card is the setup for the language-model tools later. Flag it here, don't explain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p>
            <a:r>
              <a:t>"So why not just read the logs? Four reasons, and I hit all four."</a:t>
            </a:r>
          </a:p>
          <a:p/>
          <a:p>
            <a:r>
              <a:t>[#1]</a:t>
            </a:r>
          </a:p>
          <a:p>
            <a:r>
              <a:t>"First — and I want to get ahead of this, because half of you are already thinking it — VS Code</a:t>
            </a:r>
          </a:p>
          <a:p>
            <a:r>
              <a:t>does ship Agent Debug Logs. But there's an open issue right now that Claude harness sessions</a:t>
            </a:r>
          </a:p>
          <a:p>
            <a:r>
              <a:t>don't show up in them at all. The in-box view hasn't caught up with the agent host yet. And</a:t>
            </a:r>
          </a:p>
          <a:p>
            <a:r>
              <a:t>underneath that there's no shared format anyway: Claude writes JSONL transcripts, Codex has its</a:t>
            </a:r>
          </a:p>
          <a:p>
            <a:r>
              <a:t>own session files, Copilot keeps history in the workbench. Three formats, three locations, zero</a:t>
            </a:r>
          </a:p>
          <a:p>
            <a:r>
              <a:t>joins."</a:t>
            </a:r>
          </a:p>
          <a:p/>
          <a:p>
            <a:r>
              <a:t>[#2 — the strongest technical point, slow down]</a:t>
            </a:r>
          </a:p>
          <a:p>
            <a:r>
              <a:t>"Second, and this is the real one: a transcript is append-only text. It tells you what was said.</a:t>
            </a:r>
          </a:p>
          <a:p>
            <a:r>
              <a:t>It cannot tell you that the third tool call took forty-one seconds, or that turn five spent</a:t>
            </a:r>
          </a:p>
          <a:p>
            <a:r>
              <a:t>ninety percent of its input on cache reads, or that two of those twelve tool calls were retries.</a:t>
            </a:r>
          </a:p>
          <a:p>
            <a:r>
              <a:t>Duration, causality, parent-child structure — that's exactly what a chronological log destroys</a:t>
            </a:r>
          </a:p>
          <a:p>
            <a:r>
              <a:t>by construction."</a:t>
            </a:r>
          </a:p>
          <a:p/>
          <a:p>
            <a:r>
              <a:t>[#3 — say the privacy line deliberately]</a:t>
            </a:r>
          </a:p>
          <a:p>
            <a:r>
              <a:t>"Third, OpenTelemetry does exist, and nothing consumes it. Turn it on and it asks you for an</a:t>
            </a:r>
          </a:p>
          <a:p>
            <a:r>
              <a:t>endpoint. Your options are stand up a collector and a Jaeger instance — heavyweight, off-machine,</a:t>
            </a:r>
          </a:p>
          <a:p>
            <a:r>
              <a:t>and privacy-hostile for data that is literally your prompts and your source code — or nothing.</a:t>
            </a:r>
          </a:p>
          <a:p>
            <a:r>
              <a:t>Most people pick nothing."</a:t>
            </a:r>
          </a:p>
          <a:p/>
          <a:p>
            <a:r>
              <a:t>[#4 — the segue]</a:t>
            </a:r>
          </a:p>
          <a:p>
            <a:r>
              <a:t>"And fourth, even if you do that, generic viewers show you spans. Jaeger has never heard of a</a:t>
            </a:r>
          </a:p>
          <a:p>
            <a:r>
              <a:t>turn. It will happily show you two hundred and sixty-one traces, and not one of them is labelled</a:t>
            </a:r>
          </a:p>
          <a:p>
            <a:r>
              <a:t>'the conversation where I asked it to fix the flaky test.'"</a:t>
            </a:r>
          </a:p>
          <a:p/>
          <a:p>
            <a:r>
              <a:t>Then: "hold onto that 261 — it comes back."</a:t>
            </a:r>
          </a:p>
          <a:p/>
          <a:p>
            <a:r>
              <a:t>─── DETAIL FOR Q&amp;A ───</a:t>
            </a:r>
          </a:p>
          <a:p/>
          <a:p>
            <a:r>
              <a:t>• Be generous about the debug logs. It's a gap in something shipping fast, not a failing, and it</a:t>
            </a:r>
          </a:p>
          <a:p>
            <a:r>
              <a:t>  will get fixed. Don't name the issue number on stage.</a:t>
            </a:r>
          </a:p>
          <a:p>
            <a:r>
              <a:t>• The durable version of #1: even once the debug logs work, they're per-harness text, not a</a:t>
            </a:r>
          </a:p>
          <a:p>
            <a:r>
              <a:t>  queryable cross-agent model. That gap doesn't close.</a:t>
            </a:r>
          </a:p>
          <a:p>
            <a:r>
              <a:t>• Privacy is why this became local-first, and it comes back on the Impact slide — flag it here</a:t>
            </a:r>
          </a:p>
          <a:p>
            <a:r>
              <a:t>  as a design position rather than a limitation.</a:t>
            </a:r>
          </a:p>
          <a:p>
            <a:r>
              <a:t>• 261 is a real number from one day of my own use. It comes back in the Agent Host section.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p>
            <a:r>
              <a:t>This is the most important slide in the Problem section. Slow down.</a:t>
            </a:r>
          </a:p>
          <a:p/>
          <a:p>
            <a:r>
              <a:t>"So here's the crux, in two pictures."</a:t>
            </a:r>
          </a:p>
          <a:p/>
          <a:p>
            <a:r>
              <a:t>[left — walk down the nesting with your hand]</a:t>
            </a:r>
          </a:p>
          <a:p>
            <a:r>
              <a:t>"This is one model call, as OpenTelemetry sees it on Codex. Five spans. Not five operations —</a:t>
            </a:r>
          </a:p>
          <a:p>
            <a:r>
              <a:t>one. Every single one of them reports the same token count."</a:t>
            </a:r>
          </a:p>
          <a:p/>
          <a:p>
            <a:r>
              <a:t>"So if you naively count model calls, you're five times wrong on Codex and exactly right on</a:t>
            </a:r>
          </a:p>
          <a:p>
            <a:r>
              <a:t>Copilot. Which means any cross-agent comparison is garbage before you've started."</a:t>
            </a:r>
          </a:p>
          <a:p/>
          <a:p>
            <a:r>
              <a:t>[right]</a:t>
            </a:r>
          </a:p>
          <a:p>
            <a:r>
              <a:t>"And nobody agrees on the names. Three different spellings of 'input tokens'. Four of 'model'.</a:t>
            </a:r>
          </a:p>
          <a:p>
            <a:r>
              <a:t>That's not a nitpick — it's a hard blocker on every aggregate question you'd want to ask."</a:t>
            </a:r>
          </a:p>
          <a:p/>
          <a:p>
            <a:r>
              <a:t>"Ask a generic viewer 'how many tokens today' and it answers with whichever third of your data</a:t>
            </a:r>
          </a:p>
          <a:p>
            <a:r>
              <a:t>happened to use the key it knows about."</a:t>
            </a:r>
          </a:p>
          <a:p/>
          <a:p>
            <a:r>
              <a:t>[the band — this is the one that surprised me most]</a:t>
            </a:r>
          </a:p>
          <a:p>
            <a:r>
              <a:t>"And it gets worse. Two of the three split the two halves of a conversation across two different</a:t>
            </a:r>
          </a:p>
          <a:p>
            <a:r>
              <a:t>signals — your prompt on a span, the model's reply in a log record. So a tool that reads traces</a:t>
            </a:r>
          </a:p>
          <a:p>
            <a:r>
              <a:t>sees half a conversation, and a tool that reads logs sees a different half."</a:t>
            </a:r>
          </a:p>
          <a:p/>
          <a:p>
            <a:r>
              <a:t>"And Codex strips the model's words out entirely before export. It never sends them at all."</a:t>
            </a:r>
          </a:p>
          <a:p/>
          <a:p>
            <a:r>
              <a:t>[land it]</a:t>
            </a:r>
          </a:p>
          <a:p>
            <a:r>
              <a:t>"That gap — between a span, which is what you're given, and a turn, which is what you actually</a:t>
            </a:r>
          </a:p>
          <a:p>
            <a:r>
              <a:t>want — that gap is the entire product."</a:t>
            </a:r>
          </a:p>
          <a:p/>
          <a:p>
            <a:r>
              <a:t>─── DETAIL FOR Q&amp;A ───</a:t>
            </a:r>
          </a:p>
          <a:p/>
          <a:p>
            <a:r>
              <a:t>• On Codex only the outermost of the five spans is counted as the model call. The other four</a:t>
            </a:r>
          </a:p>
          <a:p>
            <a:r>
              <a:t>  are internal layers of the same request.</a:t>
            </a:r>
          </a:p>
          <a:p>
            <a:r>
              <a:t>• The Codex assistant-text gap is the one thing nothing downstream can fix — it's an upstream</a:t>
            </a:r>
          </a:p>
          <a:p>
            <a:r>
              <a:t>  ask, and it's #1 on the roadmap slide.</a:t>
            </a:r>
          </a:p>
          <a:p>
            <a:r>
              <a:t>• If asked why the vendors differ: none of them are wrong. The GenAI conventions describe how to</a:t>
            </a:r>
          </a:p>
          <a:p>
            <a:r>
              <a:t>  WRITE this data; nothing describes how to read it back as a conversation. Each team made a</a:t>
            </a:r>
          </a:p>
          <a:p>
            <a:r>
              <a:t>  reasonable local choice.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p>
            <a:r>
              <a:t>Twenty-five seconds. This slide is a signpost, not a destination. Keep it brisk.</a:t>
            </a:r>
          </a:p>
          <a:p/>
          <a:p>
            <a:r>
              <a:t>"That's the problem. Here's what I set out to build."</a:t>
            </a:r>
          </a:p>
          <a:p/>
          <a:p>
            <a:r>
              <a:t>[read the navy statement once, slowly — it's the thesis in project form]</a:t>
            </a:r>
          </a:p>
          <a:p>
            <a:r>
              <a:t>"Close the gap after you turn OpenTelemetry on. Give humans and agents inside VS Code a way to</a:t>
            </a:r>
          </a:p>
          <a:p>
            <a:r>
              <a:t>actually consume the telemetry their agent runs already emit."</a:t>
            </a:r>
          </a:p>
          <a:p/>
          <a:p>
            <a:r>
              <a:t>[the four cards — four verbs, one breath total, do NOT read the body text]</a:t>
            </a:r>
          </a:p>
          <a:p>
            <a:r>
              <a:t>"Collect it. Store it. Show it to a person. Answer questions for an agent. One extension,</a:t>
            </a:r>
          </a:p>
          <a:p>
            <a:r>
              <a:t>everything local."</a:t>
            </a:r>
          </a:p>
          <a:p/>
          <a:p>
            <a:r>
              <a:t>[the band — land it and MOVE ON]</a:t>
            </a:r>
          </a:p>
          <a:p>
            <a:r>
              <a:t>"Four verbs. And the hard part turned out to be a fifth step nobody puts on the list — deciding</a:t>
            </a:r>
          </a:p>
          <a:p>
            <a:r>
              <a:t>what the data actually means."</a:t>
            </a:r>
          </a:p>
          <a:p/>
          <a:p>
            <a:r>
              <a:t>─── NOTES ───</a:t>
            </a:r>
          </a:p>
          <a:p/>
          <a:p>
            <a:r>
              <a:t>• That last clause is the setup for the entire Approach section. You pay it off two slides later</a:t>
            </a:r>
          </a:p>
          <a:p>
            <a:r>
              <a:t>  on "seven things have to happen". Don't explain it here.</a:t>
            </a:r>
          </a:p>
          <a:p>
            <a:r>
              <a:t>• If asked about VS Code emitting its own cross-process telemetry: that's on the roadmap slide.</a:t>
            </a:r>
          </a:p>
          <a:p>
            <a:r>
              <a:t>  The confident answer is "it's the natural next surface, and this extension is exactly the</a:t>
            </a:r>
          </a:p>
          <a:p>
            <a:r>
              <a:t>  consumer it needs, so it's shovel-ready rather than hypothetical." Don't pre-empt it here.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line: "and then, about halfway through, the platform I was building on shipped something that changed the project — and made it matter more." Then advance.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p>
            <a:r>
              <a:t>"About halfway through my internship, VS Code shipped Agent Host. Claude Code and Codex stopped</a:t>
            </a:r>
          </a:p>
          <a:p>
            <a:r>
              <a:t>being separate terminal tools and became native sessions inside the editor. This is what happens</a:t>
            </a:r>
          </a:p>
          <a:p>
            <a:r>
              <a:t>when you build on a platform that is itself being built."</a:t>
            </a:r>
          </a:p>
          <a:p/>
          <a:p>
            <a:r>
              <a:t>[left column — 15 seconds, don't labour it]</a:t>
            </a:r>
          </a:p>
          <a:p>
            <a:r>
              <a:t>"And genuinely, it helped. One setting to turn telemetry on. An anchor span that links the host</a:t>
            </a:r>
          </a:p>
          <a:p>
            <a:r>
              <a:t>to the agent's own trace. A conversation id stamped onto it. Even a session title, for free. On</a:t>
            </a:r>
          </a:p>
          <a:p>
            <a:r>
              <a:t>paper, that solves session identity for nothing."</a:t>
            </a:r>
          </a:p>
          <a:p/>
          <a:p>
            <a:r>
              <a:t>[right column]</a:t>
            </a:r>
          </a:p>
          <a:p>
            <a:r>
              <a:t>"In practice it created four problems. My favourite bug of the summer is the first one: every</a:t>
            </a:r>
          </a:p>
          <a:p>
            <a:r>
              <a:t>single native session was suddenly labelled 'the agent host'. Not for any deep reason — I was</a:t>
            </a:r>
          </a:p>
          <a:p>
            <a:r>
              <a:t>taking a MAX over the service name, and 'vscode-agent-host' happens to sort after 'claude-code'</a:t>
            </a:r>
          </a:p>
          <a:p>
            <a:r>
              <a:t>alphabetically."</a:t>
            </a:r>
          </a:p>
          <a:p/>
          <a:p>
            <a:r>
              <a:t>"The second one is the one that made this project matter more rather than less: the in-box debug</a:t>
            </a:r>
          </a:p>
          <a:p>
            <a:r>
              <a:t>view hasn't caught up with the host yet."</a:t>
            </a:r>
          </a:p>
          <a:p/>
          <a:p>
            <a:r>
              <a:t>"And the last two are about that conversation id. It only anchors the first trace — later turns</a:t>
            </a:r>
          </a:p>
          <a:p>
            <a:r>
              <a:t>carry nothing. And the host mints one when a chat is created, not when it's used."</a:t>
            </a:r>
          </a:p>
          <a:p/>
          <a:p>
            <a:r>
              <a:t>[the number — let it land]</a:t>
            </a:r>
          </a:p>
          <a:p>
            <a:r>
              <a:t>"Which gets you this. Two hundred and sixty-one phantom sessions burying six real ones, in a</a:t>
            </a:r>
          </a:p>
          <a:p>
            <a:r>
              <a:t>single day of my own use. Open a Codex thread, never type in it, and you still get a session."</a:t>
            </a:r>
          </a:p>
          <a:p/>
          <a:p>
            <a:r>
              <a:t>[the takeaway — say it deliberately]</a:t>
            </a:r>
          </a:p>
          <a:p>
            <a:r>
              <a:t>"The takeaway is the one I'd keep: the platform moving under me didn't invalidate the project.</a:t>
            </a:r>
          </a:p>
          <a:p>
            <a:r>
              <a:t>It moved the hard part from collecting the data to deciding what the data means."</a:t>
            </a:r>
          </a:p>
          <a:p/>
          <a:p>
            <a:r>
              <a:t>Then: "and it isn't just me hitting that gap."</a:t>
            </a:r>
          </a:p>
          <a:p/>
          <a:p>
            <a:r>
              <a:t>─── DETAIL FOR Q&amp;A ───</a:t>
            </a:r>
          </a:p>
          <a:p/>
          <a:p>
            <a:r>
              <a:t>• Fix for the relabelling: exclude host spans explicitly from span counts and service labels,</a:t>
            </a:r>
          </a:p>
          <a:p>
            <a:r>
              <a:t>  rather than trusting an aggregate over service name.</a:t>
            </a:r>
          </a:p>
          <a:p>
            <a:r>
              <a:t>• Fix for the phantom sessions: keep a session only if it shows real agent activity, a captured</a:t>
            </a:r>
          </a:p>
          <a:p>
            <a:r>
              <a:t>  user prompt, or a host-assigned title. A trace id fallback alone mints one session per</a:t>
            </a:r>
          </a:p>
          <a:p>
            <a:r>
              <a:t>  housekeeping trace.</a:t>
            </a:r>
          </a:p>
          <a:p>
            <a:r>
              <a:t>• An empty Codex thread produces roughly 37 spans of pure startup — that's what "phantom" means</a:t>
            </a:r>
          </a:p>
          <a:p>
            <a:r>
              <a:t>  here.</a:t>
            </a:r>
          </a:p>
          <a:p>
            <a:r>
              <a:t>• This is the setup for the "platform moved under you" learning at the end. Don't spend it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p>
            <a:r>
              <a:t>Thirty seconds. You've just spent a slide on what the host broke FOR YOU. This one shows it</a:t>
            </a:r>
          </a:p>
          <a:p>
            <a:r>
              <a:t>isn't only you — which is what turns a personal war story into a product argument.</a:t>
            </a:r>
          </a:p>
          <a:p/>
          <a:p>
            <a:r>
              <a:t>[open by tying straight back to the previous slide]</a:t>
            </a:r>
          </a:p>
          <a:p>
            <a:r>
              <a:t>"That second problem — the in-box view not keeping up — isn't something only I noticed."</a:t>
            </a:r>
          </a:p>
          <a:p/>
          <a:p>
            <a:r>
              <a:t>[the screenshot]</a:t>
            </a:r>
          </a:p>
          <a:p>
            <a:r>
              <a:t>"This is a bug someone on the team filed. Agent Debug Logs don't show Claude harness sessions at</a:t>
            </a:r>
          </a:p>
          <a:p>
            <a:r>
              <a:t>all. Expected: session logs. Actual: nothing."</a:t>
            </a:r>
          </a:p>
          <a:p/>
          <a:p>
            <a:r>
              <a:t>[the three signals, one sentence each]</a:t>
            </a:r>
          </a:p>
          <a:p>
            <a:r>
              <a:t>"So — people are filing bugs because they can't see agent-host sessions in the in-box view."</a:t>
            </a:r>
          </a:p>
          <a:p/>
          <a:p>
            <a:r>
              <a:t>"All three vendors independently decided this data was worth emitting. That's three separate</a:t>
            </a:r>
          </a:p>
          <a:p>
            <a:r>
              <a:t>teams agreeing the problem exists."</a:t>
            </a:r>
          </a:p>
          <a:p/>
          <a:p>
            <a:r>
              <a:t>"And the host is still rolling out, so there's more of this every week, not less."</a:t>
            </a:r>
          </a:p>
          <a:p/>
          <a:p>
            <a:r>
              <a:t>[the band]</a:t>
            </a:r>
          </a:p>
          <a:p>
            <a:r>
              <a:t>"Nobody has to take my word for the gap. And the question people ask is never 'show me a span' —</a:t>
            </a:r>
          </a:p>
          <a:p>
            <a:r>
              <a:t>it's 'what did it do?'. Which is exactly the question the session model exists to answer."</a:t>
            </a:r>
          </a:p>
          <a:p/>
          <a:p>
            <a:r>
              <a:t>[hand off into Approach]</a:t>
            </a:r>
          </a:p>
          <a:p>
            <a:r>
              <a:t>"So that's the problem, and it got bigger while I was working on it. Here's what I built."</a:t>
            </a:r>
          </a:p>
          <a:p/>
          <a:p>
            <a:r>
              <a:t>─── NOTES ───</a:t>
            </a:r>
          </a:p>
          <a:p/>
          <a:p>
            <a:r>
              <a:t>• Be generous about the debug logs. It's a gap in something shipping fast, not a failing, and it</a:t>
            </a:r>
          </a:p>
          <a:p>
            <a:r>
              <a:t>  will get fixed. Do not dunk.</a:t>
            </a:r>
          </a:p>
          <a:p>
            <a:r>
              <a:t>• This is deliberately NOT a "look how many people used my extension" slide. It was a summer</a:t>
            </a:r>
          </a:p>
          <a:p>
            <a:r>
              <a:t>  project with limited dogfooding, and claiming adoption you don't have is the fastest way to</a:t>
            </a:r>
          </a:p>
          <a:p>
            <a:r>
              <a:t>  lose a room. What you CAN claim honestly is that the need is real and independently evidenced.</a:t>
            </a:r>
          </a:p>
          <a:p>
            <a:r>
              <a:t>• TO DO BEFORE PRESENTING: screenshot the issue into the left frame. Crop to the title and the</a:t>
            </a:r>
          </a:p>
          <a:p>
            <a:r>
              <a:t>  "Actual: no Claude agent harness session logs found" line, and box that line in red.</a:t>
            </a:r>
          </a:p>
          <a:p>
            <a:r>
              <a:t>• IF YOU HAVE REAL USAGE EVIDENCE — a Teams message, an email, someone asking you a question the</a:t>
            </a:r>
          </a:p>
          <a:p>
            <a:r>
              <a:t>  panel answered — use THAT instead and retitle the frame "someone asked, and the panel</a:t>
            </a:r>
          </a:p>
          <a:p>
            <a:r>
              <a:t>  answered". Demand you can point at beats a defect report every time.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Structure the section out loud: first the input — how the three harnesses actually differ — then the seven things that have to happen, the design, the hardest problem inside it, and finally the shape that comes out.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p>
            <a:r>
              <a:t>This is the most persuasive slide in the deck and you get it almost for free — do NOT read it</a:t>
            </a:r>
          </a:p>
          <a:p>
            <a:r>
              <a:t>row by row.</a:t>
            </a:r>
          </a:p>
          <a:p/>
          <a:p>
            <a:r>
              <a:t>"I'm not going to read this to you. I want you to look at the shape of it. Four columns, ten</a:t>
            </a:r>
          </a:p>
          <a:p>
            <a:r>
              <a:t>rows, and almost nothing lines up."</a:t>
            </a:r>
          </a:p>
          <a:p/>
          <a:p>
            <a:r>
              <a:t>[three seconds of silence — let them scan]</a:t>
            </a:r>
          </a:p>
          <a:p/>
          <a:p>
            <a:r>
              <a:t>"Three rows to actually notice."</a:t>
            </a:r>
          </a:p>
          <a:p/>
          <a:p>
            <a:r>
              <a:t>"Cache tokens. Copilot and Codex follow the OpenTelemetry convention, where cache reads are a</a:t>
            </a:r>
          </a:p>
          <a:p>
            <a:r>
              <a:t>subset of your input tokens — already counted. Anthropic's are additive, on top. Same idea,</a:t>
            </a:r>
          </a:p>
          <a:p>
            <a:r>
              <a:t>opposite arithmetic. Get that wrong and you under-report Claude's prompt tokens by three or four</a:t>
            </a:r>
          </a:p>
          <a:p>
            <a:r>
              <a:t>times."</a:t>
            </a:r>
          </a:p>
          <a:p/>
          <a:p>
            <a:r>
              <a:t>"Assistant text — what the model actually said. Three different answers, and one of them is</a:t>
            </a:r>
          </a:p>
          <a:p>
            <a:r>
              <a:t>'never'. Codex strips it before export."</a:t>
            </a:r>
          </a:p>
          <a:p/>
          <a:p>
            <a:r>
              <a:t>"And one model call. On Codex that's five nested spans. Count them naively and every Codex</a:t>
            </a:r>
          </a:p>
          <a:p>
            <a:r>
              <a:t>session looks five times busier than it is."</a:t>
            </a:r>
          </a:p>
          <a:p/>
          <a:p>
            <a:r>
              <a:t>[the band]</a:t>
            </a:r>
          </a:p>
          <a:p>
            <a:r>
              <a:t>"So: counting a tool call is not obvious. Counting a model call is not obvious. Reading a</a:t>
            </a:r>
          </a:p>
          <a:p>
            <a:r>
              <a:t>conversation is not obvious. That's why this is an engineering problem and not a rendering</a:t>
            </a:r>
          </a:p>
          <a:p>
            <a:r>
              <a:t>problem."</a:t>
            </a:r>
          </a:p>
          <a:p/>
          <a:p>
            <a:r>
              <a:t>─── DETAIL FOR Q&amp;A ───</a:t>
            </a:r>
          </a:p>
          <a:p/>
          <a:p>
            <a:r>
              <a:t>• Claude tool calls: matching the whole subtree trebles the count, because each tool call has</a:t>
            </a:r>
          </a:p>
          <a:p>
            <a:r>
              <a:t>  child spans. Matching only the .execution child silently drops every permission-denied call —</a:t>
            </a:r>
          </a:p>
          <a:p>
            <a:r>
              <a:t>  which are exactly the ones you most want to see. The fix is an exact match on claude_code.tool.</a:t>
            </a:r>
          </a:p>
          <a:p>
            <a:r>
              <a:t>• Log timestamps: Codex sends a literal zero and puts the real clock in observedTimeUnixNano.</a:t>
            </a:r>
          </a:p>
          <a:p>
            <a:r>
              <a:t>  A plain COALESCE only falls through on NULL, so the zero won — every Codex log landed at 1970,</a:t>
            </a:r>
          </a:p>
          <a:p>
            <a:r>
              <a:t>  sorted last, and vanished from any time-windowed query.</a:t>
            </a:r>
          </a:p>
          <a:p>
            <a:r>
              <a:t>• Session identity: Copilot uses its own chat_session_id, Claude uses the GenAI conversation id</a:t>
            </a:r>
          </a:p>
          <a:p>
            <a:r>
              <a:t>  or a session id, and Codex frequently carries neither — it has to be recovered from logs.</a:t>
            </a:r>
          </a:p>
          <a:p>
            <a:r>
              <a:t>• If someone asks why not just normalise at ingest: because the vendors ship weekly. Anything</a:t>
            </a:r>
          </a:p>
          <a:p>
            <a:r>
              <a:t>  written as "if it's Codex, do X" is a dated cheque. The rules are written against observable</a:t>
            </a:r>
          </a:p>
          <a:p>
            <a:r>
              <a:t>  shape instead.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p>
            <a:r>
              <a:t>Twenty-five seconds. Establish the map — the NEXT slide is the payoff, so don't spend here.</a:t>
            </a:r>
          </a:p>
          <a:p/>
          <a:p>
            <a:r>
              <a:t>"Before any of this is a product, seven things have to happen to turn raw telemetry into</a:t>
            </a:r>
          </a:p>
          <a:p>
            <a:r>
              <a:t>something you'd actually read."</a:t>
            </a:r>
          </a:p>
          <a:p/>
          <a:p>
            <a:r>
              <a:t>[walk 1 → 7 with your hand, NAMING them only — don't explain any of them yet]</a:t>
            </a:r>
          </a:p>
          <a:p>
            <a:r>
              <a:t>"Emit it. Group it into traces. Work out which session a trace belongs to. Split that into</a:t>
            </a:r>
          </a:p>
          <a:p>
            <a:r>
              <a:t>turns. Count the work. Reconcile the tokens. Rebuild the transcript."</a:t>
            </a:r>
          </a:p>
          <a:p/>
          <a:p>
            <a:r>
              <a:t>[the navy box]</a:t>
            </a:r>
          </a:p>
          <a:p>
            <a:r>
              <a:t>"And out the other end you get a readable session — an outcome, a timeline, tokens, and a</a:t>
            </a:r>
          </a:p>
          <a:p>
            <a:r>
              <a:t>transcript."</a:t>
            </a:r>
          </a:p>
          <a:p/>
          <a:p>
            <a:r>
              <a:t>[the band]</a:t>
            </a:r>
          </a:p>
          <a:p>
            <a:r>
              <a:t>"And every one of those boxes is a decision, not a lookup. The OpenTelemetry conventions</a:t>
            </a:r>
          </a:p>
          <a:p>
            <a:r>
              <a:t>describe how to write this data. Nothing describes how to read it back as a conversation."</a:t>
            </a:r>
          </a:p>
          <a:p/>
          <a:p>
            <a:r>
              <a:t>Then set up the next slide and advance immediately:</a:t>
            </a:r>
          </a:p>
          <a:p>
            <a:r>
              <a:t>"That's the happy path. Here's what actually happens."</a:t>
            </a:r>
          </a:p>
          <a:p/>
          <a:p>
            <a:r>
              <a:t>─── NOTES ───</a:t>
            </a:r>
          </a:p>
          <a:p/>
          <a:p>
            <a:r>
              <a:t>• Resist explaining any individual stage here. The whole value of this slide is that the next</a:t>
            </a:r>
          </a:p>
          <a:p>
            <a:r>
              <a:t>  one re-shows it in red — and that only works if the audience has the map first.</a:t>
            </a:r>
          </a:p>
          <a:p>
            <a:r>
              <a:t>• If you're behind time, this pair is still worth keeping. It's the cheapest way to make the</a:t>
            </a:r>
          </a:p>
          <a:p>
            <a:r>
              <a:t>  normalization argument land.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p>
            <a:r>
              <a:t>Twenty-five seconds, and it costs almost nothing — they already know the map.</a:t>
            </a:r>
          </a:p>
          <a:p/>
          <a:p>
            <a:r>
              <a:t>The whole point of this slide is the RE-SHOW. Same seven boxes, now all red. Let the visual do</a:t>
            </a:r>
          </a:p>
          <a:p>
            <a:r>
              <a:t>the work. Do NOT read all seven.</a:t>
            </a:r>
          </a:p>
          <a:p/>
          <a:p>
            <a:r>
              <a:t>"Same seven stages. And every single one of them breaks — differently, depending on which agent</a:t>
            </a:r>
          </a:p>
          <a:p>
            <a:r>
              <a:t>produced the data."</a:t>
            </a:r>
          </a:p>
          <a:p/>
          <a:p>
            <a:r>
              <a:t>[pick exactly TWO and say them out loud]</a:t>
            </a:r>
          </a:p>
          <a:p/>
          <a:p>
            <a:r>
              <a:t>"Stage three, identify the session. Codex frequently carries no conversation id at all. And the</a:t>
            </a:r>
          </a:p>
          <a:p>
            <a:r>
              <a:t>agent host relabels every session 'vscode-agent-host' — for no better reason than that it sorts</a:t>
            </a:r>
          </a:p>
          <a:p>
            <a:r>
              <a:t>last alphabetically and I was taking a maximum."</a:t>
            </a:r>
          </a:p>
          <a:p/>
          <a:p>
            <a:r>
              <a:t>"Stage six, tokens. Three incompatible counting conventions co-existing on one machine, plus</a:t>
            </a:r>
          </a:p>
          <a:p>
            <a:r>
              <a:t>parent spans that re-report everything their children already reported."</a:t>
            </a:r>
          </a:p>
          <a:p/>
          <a:p>
            <a:r>
              <a:t>[the band — this is the number that reframes the project]</a:t>
            </a:r>
          </a:p>
          <a:p>
            <a:r>
              <a:t>"Roughly two thousand six hundred lines of the engine exist for this slide. The receiver that</a:t>
            </a:r>
          </a:p>
          <a:p>
            <a:r>
              <a:t>accepts the telemetry in the first place is about two hundred."</a:t>
            </a:r>
          </a:p>
          <a:p/>
          <a:p>
            <a:r>
              <a:t>[close, then advance into the architecture]</a:t>
            </a:r>
          </a:p>
          <a:p>
            <a:r>
              <a:t>"Everything after this is how I made those seven stages produce one answer instead of three."</a:t>
            </a:r>
          </a:p>
          <a:p/>
          <a:p>
            <a:r>
              <a:t>─── NOTES ───</a:t>
            </a:r>
          </a:p>
          <a:p/>
          <a:p>
            <a:r>
              <a:t>• The 200-vs-2,600 ratio is the single most memorable fact in the deck. It comes back on the</a:t>
            </a:r>
          </a:p>
          <a:p>
            <a:r>
              <a:t>  learning outcomes slide — planting it here makes that callback work.</a:t>
            </a:r>
          </a:p>
          <a:p>
            <a:r>
              <a:t>• If someone asks about a stage you didn't cover, every one of them has a real story. Stage 1,</a:t>
            </a:r>
          </a:p>
          <a:p>
            <a:r>
              <a:t>  Codex strips assistant text. Stage 2, the host anchors only the trace that started the thread.</a:t>
            </a:r>
          </a:p>
          <a:p>
            <a:r>
              <a:t>  Stage 5, one Codex call is five spans. Stage 7, three different sources for the transcript.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p>
            <a:r>
              <a:t>The hero diagram. Trace it top to bottom with your hand, roughly ten seconds per layer.</a:t>
            </a:r>
          </a:p>
          <a:p/>
          <a:p>
            <a:r>
              <a:t>"This is the whole system on one slide. Four packages, one pipeline, two consumers."</a:t>
            </a:r>
          </a:p>
          <a:p/>
          <a:p>
            <a:r>
              <a:t>[top]</a:t>
            </a:r>
          </a:p>
          <a:p>
            <a:r>
              <a:t>"At the top, four producers. The three agents, plus the host itself. All of them speak OTLP over</a:t>
            </a:r>
          </a:p>
          <a:p>
            <a:r>
              <a:t>plain HTTP to a port on localhost. Loopback only — there is deliberately no remote mode."</a:t>
            </a:r>
          </a:p>
          <a:p/>
          <a:p>
            <a:r>
              <a:t>[receiver]</a:t>
            </a:r>
          </a:p>
          <a:p>
            <a:r>
              <a:t>"The receiver is a plain Node HTTP server. About two hundred lines. It flattens the OTLP envelope</a:t>
            </a:r>
          </a:p>
          <a:p>
            <a:r>
              <a:t>to one row per entity and preserves the values exactly as sent."</a:t>
            </a:r>
          </a:p>
          <a:p/>
          <a:p>
            <a:r>
              <a:t>[the red boundary — worth a beat]</a:t>
            </a:r>
          </a:p>
          <a:p>
            <a:r>
              <a:t>"Then a worker-thread boundary. SQLite, compiled to WebAssembly, running off the main thread.</a:t>
            </a:r>
          </a:p>
          <a:p>
            <a:r>
              <a:t>It used to run in-process, and a multi-second query froze the entire editor — not the panel, the</a:t>
            </a:r>
          </a:p>
          <a:p>
            <a:r>
              <a:t>editor. That's a product bug, not a performance bug."</a:t>
            </a:r>
          </a:p>
          <a:p/>
          <a:p>
            <a:r>
              <a:t>[engine — slow down, this is the point of the slide]</a:t>
            </a:r>
          </a:p>
          <a:p>
            <a:r>
              <a:t>"And then the engine. Everything above this line is plumbing you can get off the shelf. This</a:t>
            </a:r>
          </a:p>
          <a:p>
            <a:r>
              <a:t>layer is the one where three vendors' emissions are made to mean the same thing. It's why the</a:t>
            </a:r>
          </a:p>
          <a:p>
            <a:r>
              <a:t>badge says 'the contribution'."</a:t>
            </a:r>
          </a:p>
          <a:p/>
          <a:p>
            <a:r>
              <a:t>[bottom]</a:t>
            </a:r>
          </a:p>
          <a:p>
            <a:r>
              <a:t>"Out the bottom, two consumers over one model — a panel for a person, tools for an agent. And</a:t>
            </a:r>
          </a:p>
          <a:p>
            <a:r>
              <a:t>note the arrows go both ways: every tool result carries a link back into the panel, so a human</a:t>
            </a:r>
          </a:p>
          <a:p>
            <a:r>
              <a:t>and an agent are always pointing at the same object."</a:t>
            </a:r>
          </a:p>
          <a:p/>
          <a:p>
            <a:r>
              <a:t>Then hand off: "that engine box is the whole project. Let me show you one problem inside it</a:t>
            </a:r>
          </a:p>
          <a:p>
            <a:r>
              <a:t>properly."</a:t>
            </a:r>
          </a:p>
          <a:p/>
          <a:p>
            <a:r>
              <a:t>─── DETAIL FOR Q&amp;A ───</a:t>
            </a:r>
          </a:p>
          <a:p/>
          <a:p>
            <a:r>
              <a:t>• Sizes: receiver ~1.4k lines, engine ~4.9k, about 17k lines total, 522 test assertions.</a:t>
            </a:r>
          </a:p>
          <a:p>
            <a:r>
              <a:t>• Why sql.js and not better-sqlite3: no native module to rebuild per platform and per Electron</a:t>
            </a:r>
          </a:p>
          <a:p>
            <a:r>
              <a:t>  ABI. The cost is a WASM boundary, which is exactly why it lives on a worker thread.</a:t>
            </a:r>
          </a:p>
          <a:p>
            <a:r>
              <a:t>• Value preservation: an OTLP intValue stays a string through the parser, so a 64-bit token count</a:t>
            </a:r>
          </a:p>
          <a:p>
            <a:r>
              <a:t>  doesn't quietly lose precision by becoming a JavaScript number.</a:t>
            </a:r>
          </a:p>
          <a:p>
            <a:r>
              <a:t>• The four packages are receiver, engine, extension and types — the split is what keeps SQL out</a:t>
            </a:r>
          </a:p>
          <a:p>
            <a:r>
              <a:t>  of the UI and the UI out of the agent surface.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p>
            <a:r>
              <a:t>This is the only normalization slide in the running order — it carries the whole "this is the</a:t>
            </a:r>
          </a:p>
          <a:p>
            <a:r>
              <a:t>contribution" argument. Give it a full beat. Identity and transcripts are in the appendix.</a:t>
            </a:r>
          </a:p>
          <a:p/>
          <a:p>
            <a:r>
              <a:t>"I'll show you one of these problems properly, because they all have the same shape. Tokens —</a:t>
            </a:r>
          </a:p>
          <a:p>
            <a:r>
              <a:t>because everyone thinks token counting is trivial."</a:t>
            </a:r>
          </a:p>
          <a:p/>
          <a:p>
            <a:r>
              <a:t>[the three cards]</a:t>
            </a:r>
          </a:p>
          <a:p>
            <a:r>
              <a:t>"There are three incompatible counting schemes running on one developer's machine at the same</a:t>
            </a:r>
          </a:p>
          <a:p>
            <a:r>
              <a:t>time."</a:t>
            </a:r>
          </a:p>
          <a:p/>
          <a:p>
            <a:r>
              <a:t>"Copilot and Codex follow the OpenTelemetry convention: cache reads are a subset of your input</a:t>
            </a:r>
          </a:p>
          <a:p>
            <a:r>
              <a:t>tokens. Already counted. Don't add them."</a:t>
            </a:r>
          </a:p>
          <a:p/>
          <a:p>
            <a:r>
              <a:t>"Anthropic does the opposite. Cache reads are additive — they sit on top of input. Same concept,</a:t>
            </a:r>
          </a:p>
          <a:p>
            <a:r>
              <a:t>opposite arithmetic. If you get that backwards, you under-report Claude's prompt tokens by three</a:t>
            </a:r>
          </a:p>
          <a:p>
            <a:r>
              <a:t>or four times."</a:t>
            </a:r>
          </a:p>
          <a:p/>
          <a:p>
            <a:r>
              <a:t>"And the third one is sneaky. Some parent spans re-report everything their children already</a:t>
            </a:r>
          </a:p>
          <a:p>
            <a:r>
              <a:t>reported. Sum those naively and a single model call gets counted twice."</a:t>
            </a:r>
          </a:p>
          <a:p/>
          <a:p>
            <a:r>
              <a:t>[the resolution]</a:t>
            </a:r>
          </a:p>
          <a:p>
            <a:r>
              <a:t>"The fix is one fact table, written at insert time. Every span gets a row, and a flag saying</a:t>
            </a:r>
          </a:p>
          <a:p>
            <a:r>
              <a:t>whether this vendor's cache numbers are additive. Then the query expands conditionally."</a:t>
            </a:r>
          </a:p>
          <a:p/>
          <a:p>
            <a:r>
              <a:t>"The important detail is how that flag gets set: by the SHAPE of the attributes — the presence</a:t>
            </a:r>
          </a:p>
          <a:p>
            <a:r>
              <a:t>of Anthropic's bare cache key names — never by 'if the vendor is Claude'. That's the difference</a:t>
            </a:r>
          </a:p>
          <a:p>
            <a:r>
              <a:t>between code that survives the next release and code that doesn't."</a:t>
            </a:r>
          </a:p>
          <a:p/>
          <a:p>
            <a:r>
              <a:t>[the test line]</a:t>
            </a:r>
          </a:p>
          <a:p>
            <a:r>
              <a:t>"And one test asserts all three at once from a single fixture. If any vendor's convention drifts,</a:t>
            </a:r>
          </a:p>
          <a:p>
            <a:r>
              <a:t>that test fails immediately."</a:t>
            </a:r>
          </a:p>
          <a:p/>
          <a:p>
            <a:r>
              <a:t>[close on the generalisation — this is what makes one example stand for the layer]</a:t>
            </a:r>
          </a:p>
          <a:p>
            <a:r>
              <a:t>"Identity, tool counts and transcripts all needed exactly this treatment. Same pattern every</a:t>
            </a:r>
          </a:p>
          <a:p>
            <a:r>
              <a:t>time: define the concept once, in SQL, from what the data shows rather than from who sent it.</a:t>
            </a:r>
          </a:p>
          <a:p>
            <a:r>
              <a:t>And this is the shape that falls out the other end."</a:t>
            </a:r>
          </a:p>
          <a:p/>
          <a:p>
            <a:r>
              <a:t>─── DETAIL FOR Q&amp;A ───</a:t>
            </a:r>
          </a:p>
          <a:p/>
          <a:p>
            <a:r>
              <a:t>• The cache HIT RATE has a different denominator too — read/input under OTel, but</a:t>
            </a:r>
          </a:p>
          <a:p>
            <a:r>
              <a:t>  read/(input+read+creation) under Anthropic. Same trap, second order.</a:t>
            </a:r>
          </a:p>
          <a:p>
            <a:r>
              <a:t>• The rollup spans specifically: Copilot's invoke_agent aggregates every subagent, and Codex has</a:t>
            </a:r>
          </a:p>
          <a:p>
            <a:r>
              <a:t>  a turn-level span that aggregates the whole turn. Both are excluded by only counting spans whose</a:t>
            </a:r>
          </a:p>
          <a:p>
            <a:r>
              <a:t>  operation name marks them as a real chat completion.</a:t>
            </a:r>
          </a:p>
          <a:p>
            <a:r>
              <a:t>• The key cascade collapses up to six vendor spellings per quantity, and it's exported from the</a:t>
            </a:r>
          </a:p>
          <a:p>
            <a:r>
              <a:t>  shared types package so the store and the engine physically cannot disagree.</a:t>
            </a:r>
          </a:p>
          <a:p>
            <a:r>
              <a:t>• "Walk up": Codex puts token counts on a span three levels below the one naming the model, so a</a:t>
            </a:r>
          </a:p>
          <a:p>
            <a:r>
              <a:t>  recursive query climbs the ancestor chain to attribute them.</a:t>
            </a:r>
          </a:p>
          <a:p>
            <a:r>
              <a:t>• token_facts is exempt from retention pruning — it outlives the raw spans, which is what makes</a:t>
            </a:r>
          </a:p>
          <a:p>
            <a:r>
              <a:t>  nine days of trend data possible without storing nine days of spans.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p>
            <a:r>
              <a:t>Thirty seconds. This is the payoff slide for the whole Approach section — it's what all the</a:t>
            </a:r>
          </a:p>
          <a:p>
            <a:r>
              <a:t>normalization is FOR. Do not skip it, even if you're behind.</a:t>
            </a:r>
          </a:p>
          <a:p/>
          <a:p>
            <a:r>
              <a:t>"So this is what comes out the other end."</a:t>
            </a:r>
          </a:p>
          <a:p/>
          <a:p>
            <a:r>
              <a:t>[point at the left]</a:t>
            </a:r>
          </a:p>
          <a:p>
            <a:r>
              <a:t>"A session contains turns. A turn is one thing you asked for, plus everything the agent did to</a:t>
            </a:r>
          </a:p>
          <a:p>
            <a:r>
              <a:t>answer it — the model calls and the tool calls. Tokens roll up."</a:t>
            </a:r>
          </a:p>
          <a:p/>
          <a:p>
            <a:r>
              <a:t>"That's it. That's the whole model."</a:t>
            </a:r>
          </a:p>
          <a:p/>
          <a:p>
            <a:r>
              <a:t>"And every number you'll see in the demo is an aggregate of this tree. Nothing is stored twice."</a:t>
            </a:r>
          </a:p>
          <a:p/>
          <a:p>
            <a:r>
              <a:t>[sweep the right column once — do NOT read it]</a:t>
            </a:r>
          </a:p>
          <a:p>
            <a:r>
              <a:t>"And that's the same comparison table I opened this section with, collapsed down into five</a:t>
            </a:r>
          </a:p>
          <a:p>
            <a:r>
              <a:t>concepts."</a:t>
            </a:r>
          </a:p>
          <a:p/>
          <a:p>
            <a:r>
              <a:t>[the navy band — land it and stop]</a:t>
            </a:r>
          </a:p>
          <a:p>
            <a:r>
              <a:t>"The left side is the product. The right side is why it took a summer."</a:t>
            </a:r>
          </a:p>
          <a:p/>
          <a:p>
            <a:r>
              <a:t>─── DETAIL FOR Q&amp;A ───</a:t>
            </a:r>
          </a:p>
          <a:p/>
          <a:p>
            <a:r>
              <a:t>• "What exactly is a turn?" — one user request plus every model and tool call it triggered,</a:t>
            </a:r>
          </a:p>
          <a:p>
            <a:r>
              <a:t>  bounded by the next user request. That definition is the thing the three harnesses do not</a:t>
            </a:r>
          </a:p>
          <a:p>
            <a:r>
              <a:t>  agree on, and the thing everything downstream depends on.</a:t>
            </a:r>
          </a:p>
          <a:p>
            <a:r>
              <a:t>• "Nothing is stored twice" matters because it means adding a new view is a query, not a</a:t>
            </a:r>
          </a:p>
          <a:p>
            <a:r>
              <a:t>  migration. The session, the timeline and the transcript are three reads of the same rows.</a:t>
            </a:r>
          </a:p>
          <a:p>
            <a:r>
              <a:t>• If asked how sessions are identified: that's an appendix slide — a trust-ordered ladder that</a:t>
            </a:r>
          </a:p>
          <a:p>
            <a:r>
              <a:t>  tries the standard key first, then each vendor's own, then a recovered projection for Codex.</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p>
            <a:r>
              <a:t>"Two consumers, one model. Everything on the left, an agent can ask for on the right — same</a:t>
            </a:r>
          </a:p>
          <a:p>
            <a:r>
              <a:t>objects, same links."</a:t>
            </a:r>
          </a:p>
          <a:p/>
          <a:p>
            <a:r>
              <a:t>[left]</a:t>
            </a:r>
          </a:p>
          <a:p>
            <a:r>
              <a:t>"For a person: five tabs. Home is the daily view. Sessions is the headline surface, and it's the</a:t>
            </a:r>
          </a:p>
          <a:p>
            <a:r>
              <a:t>one this whole talk has been about — a list, a timeline, a readable transcript. Traces, metrics</a:t>
            </a:r>
          </a:p>
          <a:p>
            <a:r>
              <a:t>and logs are the conventional views; I kept them because sometimes you really do want the</a:t>
            </a:r>
          </a:p>
          <a:p>
            <a:r>
              <a:t>waterfall."</a:t>
            </a:r>
          </a:p>
          <a:p/>
          <a:p>
            <a:r>
              <a:t>"Two things here are product decisions rather than rendering decisions. The harness re-sends the</a:t>
            </a:r>
          </a:p>
          <a:p>
            <a:r>
              <a:t>same preamble every single turn, so I hoist it out and show it once — showing it fourteen times</a:t>
            </a:r>
          </a:p>
          <a:p>
            <a:r>
              <a:t>is noise. And every bubble in the transcript knows which span produced it, so you can click a</a:t>
            </a:r>
          </a:p>
          <a:p>
            <a:r>
              <a:t>sentence and land on the exact operation behind it."</a:t>
            </a:r>
          </a:p>
          <a:p/>
          <a:p>
            <a:r>
              <a:t>[right]</a:t>
            </a:r>
          </a:p>
          <a:p>
            <a:r>
              <a:t>"For an agent: twelve tools you can hash-reference in chat. The interesting part is the skill —</a:t>
            </a:r>
          </a:p>
          <a:p>
            <a:r>
              <a:t>it routes to the right tool without the user knowing any of these names. You just ask 'why was</a:t>
            </a:r>
          </a:p>
          <a:p>
            <a:r>
              <a:t>that slow' and it picks."</a:t>
            </a:r>
          </a:p>
          <a:p/>
          <a:p>
            <a:r>
              <a:t>[the band]</a:t>
            </a:r>
          </a:p>
          <a:p>
            <a:r>
              <a:t>"And writing tool output for a model turned out to be its own discipline. Four rules I'd keep on</a:t>
            </a:r>
          </a:p>
          <a:p>
            <a:r>
              <a:t>any project: every call settles, results are paged rather than truncated, 'no content captured'</a:t>
            </a:r>
          </a:p>
          <a:p>
            <a:r>
              <a:t>is an explicit answer, and every result carries a link back."</a:t>
            </a:r>
          </a:p>
          <a:p/>
          <a:p>
            <a:r>
              <a:t>Then: "that's the build — let me show you it working."</a:t>
            </a:r>
          </a:p>
          <a:p/>
          <a:p>
            <a:r>
              <a:t>─── DETAIL FOR Q&amp;A ───</a:t>
            </a:r>
          </a:p>
          <a:p/>
          <a:p>
            <a:r>
              <a:t>• "Every call settles": cancellation, a 15-second timeout, and error isolation. A timeout that</a:t>
            </a:r>
          </a:p>
          <a:p>
            <a:r>
              <a:t>  explains itself beats a promise that never resolves — a hung tool call makes the agent look</a:t>
            </a:r>
          </a:p>
          <a:p>
            <a:r>
              <a:t>  broken.</a:t>
            </a:r>
          </a:p>
          <a:p>
            <a:r>
              <a:t>• Paging budget: 10 turns per page, 1,500 characters each, 40,000-character ceiling. The result</a:t>
            </a:r>
          </a:p>
          <a:p>
            <a:r>
              <a:t>  tells the model how to fetch the next page rather than silently cutting off.</a:t>
            </a:r>
          </a:p>
          <a:p>
            <a:r>
              <a:t>• Why "no content captured" matters: return an empty list and the model infers nothing was said.</a:t>
            </a:r>
          </a:p>
          <a:p>
            <a:r>
              <a:t>  Saying capture was off stops it inventing an answer.</a:t>
            </a:r>
          </a:p>
          <a:p>
            <a:r>
              <a:t>• Why LM tools and not MCP: first-party, no separate server process, they appear as</a:t>
            </a:r>
          </a:p>
          <a:p>
            <a:r>
              <a:t>  #-references, and the skill can route without the user naming a tool.</a:t>
            </a:r>
          </a:p>
          <a:p>
            <a:r>
              <a:t>• The panel is one webview, no framework — the render surface was simple enough that a build</a:t>
            </a:r>
          </a:p>
          <a:p>
            <a:r>
              <a:t>  step would have cost more than it saved.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VS Code BEFORE you finish talking. Say: "two scenarios — the first one no existing tool can do at all, the second one looks boring and is the hardest thing I built."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 recorded clip, you narrate live over it.</a:t>
            </a:r>
          </a:p>
          <a:p/>
          <a:p>
            <a:r>
              <a:t>Do NOT read the right-hand column. It's there so the audience knows where to look while you talk.</a:t>
            </a:r>
          </a:p>
          <a:p/>
          <a:p>
            <a:r>
              <a:t>[before you start the clip]</a:t>
            </a:r>
          </a:p>
          <a:p>
            <a:r>
              <a:t>"First scenario: why did that session go wrong. This is a recording — I wanted to show you the</a:t>
            </a:r>
          </a:p>
          <a:p>
            <a:r>
              <a:t>real thing without betting the talk on a live agent run."</a:t>
            </a:r>
          </a:p>
          <a:p/>
          <a:p>
            <a:r>
              <a:t>[press play, then talk over it]</a:t>
            </a:r>
          </a:p>
          <a:p/>
          <a:p>
            <a:r>
              <a:t>"So this is the session list. Every row here was assembled out of spans that never once</a:t>
            </a:r>
          </a:p>
          <a:p>
            <a:r>
              <a:t>contained the word 'session'. Three different agents, one list, and they're directly</a:t>
            </a:r>
          </a:p>
          <a:p>
            <a:r>
              <a:t>comparable — same columns, same meanings."</a:t>
            </a:r>
          </a:p>
          <a:p/>
          <a:p>
            <a:r>
              <a:t>"I'm picking a run that took too long. And what you get is a turn-by-turn timeline — you can see</a:t>
            </a:r>
          </a:p>
          <a:p>
            <a:r>
              <a:t>duration and tokens both spike right here, on turn five."</a:t>
            </a:r>
          </a:p>
          <a:p/>
          <a:p>
            <a:r>
              <a:t>"Open that turn, and this is the part no other tool gets you to. The failure isn't an exception.</a:t>
            </a:r>
          </a:p>
          <a:p>
            <a:r>
              <a:t>There's no error, no crash. It misread a requirement on turn five and then spent eight more turns</a:t>
            </a:r>
          </a:p>
          <a:p>
            <a:r>
              <a:t>confidently building on it. That's a semantic failure, and it's only visible in the words."</a:t>
            </a:r>
          </a:p>
          <a:p/>
          <a:p>
            <a:r>
              <a:t>"Now watch this — I click a sentence in the transcript, and it lands on the exact span that</a:t>
            </a:r>
          </a:p>
          <a:p>
            <a:r>
              <a:t>produced it. The conversation and the trace are the same object, viewed two ways."</a:t>
            </a:r>
          </a:p>
          <a:p/>
          <a:p>
            <a:r>
              <a:t>"And then the loop closes. This button pre-stages a reference to the session in chat. I send it,</a:t>
            </a:r>
          </a:p>
          <a:p>
            <a:r>
              <a:t>and the agent reads its own telemetry through the tools and tells me what happened — with links</a:t>
            </a:r>
          </a:p>
          <a:p>
            <a:r>
              <a:t>back into the panel, so every claim it makes is checkable."</a:t>
            </a:r>
          </a:p>
          <a:p/>
          <a:p>
            <a:r>
              <a:t>[as the clip ends, land the line]</a:t>
            </a:r>
          </a:p>
          <a:p>
            <a:r>
              <a:t>"The agent just diagnosed the agent. And its answer is clickable."</a:t>
            </a:r>
          </a:p>
          <a:p/>
          <a:p>
            <a:r>
              <a:t>Do not improvise past that line.</a:t>
            </a:r>
          </a:p>
          <a:p/>
          <a:p>
            <a:r>
              <a:t>─── RECORDING SETUP ───</a:t>
            </a:r>
          </a:p>
          <a:p/>
          <a:p>
            <a:r>
              <a:t>• Target ~90 seconds, 1920×1080, no audio — you are the narration.</a:t>
            </a:r>
          </a:p>
          <a:p>
            <a:r>
              <a:t>• Bump VS Code's font size before recording; text that's fine on your monitor is unreadable from</a:t>
            </a:r>
          </a:p>
          <a:p>
            <a:r>
              <a:t>  the back of a room.</a:t>
            </a:r>
          </a:p>
          <a:p>
            <a:r>
              <a:t>• Speed up any wait longer than ~2 seconds by 2-4× rather than cutting it — it still reads as</a:t>
            </a:r>
          </a:p>
          <a:p>
            <a:r>
              <a:t>  real, but nobody watches a spinner.</a:t>
            </a:r>
          </a:p>
          <a:p>
            <a:r>
              <a:t>• In PowerPoint: set the video to Start Automatically and turn Loop until Stopped OFF.</a:t>
            </a:r>
          </a:p>
          <a:p>
            <a:r>
              <a:t>• Have the panel already open when the clip starts. Don't spend seconds on navigation.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 recorded clip, you narrate live over it.</a:t>
            </a:r>
          </a:p>
          <a:p/>
          <a:p>
            <a:r>
              <a:t>This one looks boring on purpose. Your job is to say why it isn't.</a:t>
            </a:r>
          </a:p>
          <a:p/>
          <a:p>
            <a:r>
              <a:t>[before you start]</a:t>
            </a:r>
          </a:p>
          <a:p>
            <a:r>
              <a:t>"Second scenario, and it's the opposite of the first — this one looks completely unremarkable,</a:t>
            </a:r>
          </a:p>
          <a:p>
            <a:r>
              <a:t>and it's the hardest thing in the project."</a:t>
            </a:r>
          </a:p>
          <a:p/>
          <a:p>
            <a:r>
              <a:t>[press play, then talk over it]</a:t>
            </a:r>
          </a:p>
          <a:p/>
          <a:p>
            <a:r>
              <a:t>"Starting in the status bar. That's today's tokens and cache hit rate, updating as runs land.</a:t>
            </a:r>
          </a:p>
          <a:p>
            <a:r>
              <a:t>One click opens the panel."</a:t>
            </a:r>
          </a:p>
          <a:p/>
          <a:p>
            <a:r>
              <a:t>"This is Home. Tokens by model, cache reads versus cache writes, tool call error rates. And</a:t>
            </a:r>
          </a:p>
          <a:p>
            <a:r>
              <a:t>those two cache columns mean different arithmetic depending on which agent produced them — this</a:t>
            </a:r>
          </a:p>
          <a:p>
            <a:r>
              <a:t>chart has already reconciled that. You just can't see it happening."</a:t>
            </a:r>
          </a:p>
          <a:p/>
          <a:p>
            <a:r>
              <a:t>[the three rows — SLOW DOWN, this is the payoff of the whole technical section]</a:t>
            </a:r>
          </a:p>
          <a:p>
            <a:r>
              <a:t>"And here's the moment. Same task, three harnesses, three rows side by side. Same columns. Same</a:t>
            </a:r>
          </a:p>
          <a:p>
            <a:r>
              <a:t>meanings."</a:t>
            </a:r>
          </a:p>
          <a:p/>
          <a:p>
            <a:r>
              <a:t>"Getting these three rows comparable is ninety percent of this project."</a:t>
            </a:r>
          </a:p>
          <a:p/>
          <a:p>
            <a:r>
              <a:t>"Codex reports one model call as five nested spans. Claude puts the model's reply in a log</a:t>
            </a:r>
          </a:p>
          <a:p>
            <a:r>
              <a:t>record. All three spell 'input tokens' differently. And none of that is visible here, because</a:t>
            </a:r>
          </a:p>
          <a:p>
            <a:r>
              <a:t>that's the point."</a:t>
            </a:r>
          </a:p>
          <a:p/>
          <a:p>
            <a:r>
              <a:t>"Last thing — when I ask it to compare them, watch what it does. It tells me the call counts</a:t>
            </a:r>
          </a:p>
          <a:p>
            <a:r>
              <a:t>aren't like-for-like across harnesses instead of just ranking them. A tool that knows the limits</a:t>
            </a:r>
          </a:p>
          <a:p>
            <a:r>
              <a:t>of its own numbers is more credible than one that doesn't."</a:t>
            </a:r>
          </a:p>
          <a:p/>
          <a:p>
            <a:r>
              <a:t>─── IF YOU'RE RUNNING LONG ───</a:t>
            </a:r>
          </a:p>
          <a:p/>
          <a:p>
            <a:r>
              <a:t>This is the clip to shorten. Trim it to the three rows and the caveat; drop the Home tour</a:t>
            </a:r>
          </a:p>
          <a:p>
            <a:r>
              <a:t>entirely. The comparison is the only part that has to survive.</a:t>
            </a:r>
          </a:p>
          <a:p/>
          <a:p>
            <a:r>
              <a:t>─── RECORDING SETUP ───</a:t>
            </a:r>
          </a:p>
          <a:p/>
          <a:p>
            <a:r>
              <a:t>• Target ~75 seconds, 1920×1080, no audio.</a:t>
            </a:r>
          </a:p>
          <a:p>
            <a:r>
              <a:t>• Have all three sessions already captured and visible — don't record yourself scrolling to</a:t>
            </a:r>
          </a:p>
          <a:p>
            <a:r>
              <a:t>  find them.</a:t>
            </a:r>
          </a:p>
          <a:p>
            <a:r>
              <a:t>• The comparison rows should be on screen for at least 8 seconds. That's the shot people will</a:t>
            </a:r>
          </a:p>
          <a:p>
            <a:r>
              <a:t>  remember.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Straight through — don't linger on the divider.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p>
            <a:r>
              <a:t>Claims only. Do NOT re-explain anything — they just watched it work. Read three of the six.</a:t>
            </a:r>
          </a:p>
          <a:p/>
          <a:p>
            <a:r>
              <a:t>"So what's true now that wasn't in June."</a:t>
            </a:r>
          </a:p>
          <a:p/>
          <a:p>
            <a:r>
              <a:t>"Agent sessions are a first-class, queryable object. On your own machine, across three</a:t>
            </a:r>
          </a:p>
          <a:p>
            <a:r>
              <a:t>harnesses, with one definition of a turn, a model call, a tool call and a token."</a:t>
            </a:r>
          </a:p>
          <a:p/>
          <a:p>
            <a:r>
              <a:t>"Semantic failures are diagnosable. 'It misunderstood me on turn five' went from a feeling to</a:t>
            </a:r>
          </a:p>
          <a:p>
            <a:r>
              <a:t>something you can point at."</a:t>
            </a:r>
          </a:p>
          <a:p/>
          <a:p>
            <a:r>
              <a:t>"And the agent can reason about itself. 'Why was that slow', 'compare these two runs' — those</a:t>
            </a:r>
          </a:p>
          <a:p>
            <a:r>
              <a:t>are answerable inside the editor now, and the answers are clickable."</a:t>
            </a:r>
          </a:p>
          <a:p/>
          <a:p>
            <a:r>
              <a:t>[say this one deliberately — it's a design position, not a limitation]</a:t>
            </a:r>
          </a:p>
          <a:p>
            <a:r>
              <a:t>"And all of it is local by construction. Nothing leaves your machine — which matters precisely</a:t>
            </a:r>
          </a:p>
          <a:p>
            <a:r>
              <a:t>because the interesting data here is your prompts, the model's replies, your tool arguments and</a:t>
            </a:r>
          </a:p>
          <a:p>
            <a:r>
              <a:t>your source code. That's exactly the data you cannot ship to a shared collector."</a:t>
            </a:r>
          </a:p>
          <a:p/>
          <a:p>
            <a:r>
              <a:t>[the three numbers, one breath — don't labour them]</a:t>
            </a:r>
          </a:p>
          <a:p>
            <a:r>
              <a:t>"Three harnesses normalized. Twelve tools plus a skill. And none of it leaves your machine."</a:t>
            </a:r>
          </a:p>
          <a:p/>
          <a:p>
            <a:r>
              <a:t>"Those are the three facts worth keeping if you forget everything else."</a:t>
            </a:r>
          </a:p>
          <a:p/>
          <a:p>
            <a:r>
              <a:t>Then: "and here's where it goes from here."</a:t>
            </a:r>
          </a:p>
          <a:p/>
          <a:p>
            <a:r>
              <a:t>─── DETAIL FOR Q&amp;A ───</a:t>
            </a:r>
          </a:p>
          <a:p/>
          <a:p>
            <a:r>
              <a:t>• Content capture — prompts and replies — is opt-in, and there's a threat model in the repo.</a:t>
            </a:r>
          </a:p>
          <a:p>
            <a:r>
              <a:t>• "It survives real use" covers multi-window handover, bounded retention with a per-service</a:t>
            </a:r>
          </a:p>
          <a:p>
            <a:r>
              <a:t>  floor, and the worker thread. There's an appendix slide on all of it.</a:t>
            </a:r>
          </a:p>
          <a:p>
            <a:r>
              <a:t>• If someone asks for the full inventory of what shipped — packages, explorers, tests, the</a:t>
            </a:r>
          </a:p>
          <a:p>
            <a:r>
              <a:t>  .vsix — that's an appendix slide, and it's a good one to jump to.</a:t>
            </a:r>
          </a:p>
          <a:p>
            <a:r>
              <a:t>• Retention is per-service with a floor deliberately: global pruning would evict Claude Code</a:t>
            </a:r>
          </a:p>
          <a:p>
            <a:r>
              <a:t>  before Copilot purely because Copilot is chattier, which would silently bias exactly the</a:t>
            </a:r>
          </a:p>
          <a:p>
            <a:r>
              <a:t>  cross-agent comparison the product exists to provide.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p>
            <a:r>
              <a:t>Fast — twenty seconds. This is a roadmap, not an apology. Deliver it that way.</a:t>
            </a:r>
          </a:p>
          <a:p/>
          <a:p>
            <a:r>
              <a:t>"Six things I'd pick up next, and I'll name two."</a:t>
            </a:r>
          </a:p>
          <a:p/>
          <a:p>
            <a:r>
              <a:t>[#1 — this is a genuine upstream ask, and you want someone in the room to hear it]</a:t>
            </a:r>
          </a:p>
          <a:p>
            <a:r>
              <a:t>"The first one isn't something I can fix. Codex strips the model's own words before export — it</a:t>
            </a:r>
          </a:p>
          <a:p>
            <a:r>
              <a:t>never sends them at all. Everything else in this project works around vendor differences. That</a:t>
            </a:r>
          </a:p>
          <a:p>
            <a:r>
              <a:t>one is a hole nothing downstream can fill, and it's worth raising upstream."</a:t>
            </a:r>
          </a:p>
          <a:p/>
          <a:p>
            <a:r>
              <a:t>[#2 — frame as a head start you're handing over, NOT as something left undone]</a:t>
            </a:r>
          </a:p>
          <a:p>
            <a:r>
              <a:t>"The second is cross-process telemetry inside VS Code itself. That's the natural next surface,</a:t>
            </a:r>
          </a:p>
          <a:p>
            <a:r>
              <a:t>and it's a lot cheaper to build now than it was in June — because the thing that consumes it</a:t>
            </a:r>
          </a:p>
          <a:p>
            <a:r>
              <a:t>already exists."</a:t>
            </a:r>
          </a:p>
          <a:p/>
          <a:p>
            <a:r>
              <a:t>"The rest are on the slide."</a:t>
            </a:r>
          </a:p>
          <a:p/>
          <a:p>
            <a:r>
              <a:t>─── DETAIL FOR Q&amp;A ───</a:t>
            </a:r>
          </a:p>
          <a:p/>
          <a:p>
            <a:r>
              <a:t>• If asked "what would you do with another month?" — #2 and #3. Cross-process OTel, and per-model</a:t>
            </a:r>
          </a:p>
          <a:p>
            <a:r>
              <a:t>  pricing so the status bar shows spend rather than usage.</a:t>
            </a:r>
          </a:p>
          <a:p>
            <a:r>
              <a:t>• #4, session diffing: "same prompt, two agents" or "before and after my prompt change". The data</a:t>
            </a:r>
          </a:p>
          <a:p>
            <a:r>
              <a:t>  is already there; it's a view, not an engine change.</a:t>
            </a:r>
          </a:p>
          <a:p>
            <a:r>
              <a:t>• #5: the projection tables already survive retention pruning, which is what makes long-horizon</a:t>
            </a:r>
          </a:p>
          <a:p>
            <a:r>
              <a:t>  trends possible without storing months of raw spans.</a:t>
            </a:r>
          </a:p>
          <a:p>
            <a:r>
              <a:t>• #6: the .vsix builds on every push to main. Listing it on the Marketplace is genuinely the</a:t>
            </a:r>
          </a:p>
          <a:p>
            <a:r>
              <a:t>  last mile, not a rewrite.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Straight through.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p>
            <a:r>
              <a:t>Twenty-five seconds. Name them plainly. Do NOT apologise for any of them.</a:t>
            </a:r>
          </a:p>
          <a:p/>
          <a:p>
            <a:r>
              <a:t>Say three, not six. Recommended: 1, 3, 4.</a:t>
            </a:r>
          </a:p>
          <a:p/>
          <a:p>
            <a:r>
              <a:t>"Six things genuinely made this hard. I'll name three."</a:t>
            </a:r>
          </a:p>
          <a:p/>
          <a:p>
            <a:r>
              <a:t>[#1 — already familiar, one sentence is enough]</a:t>
            </a:r>
          </a:p>
          <a:p>
            <a:r>
              <a:t>"The platform moved under me. You've seen that one."</a:t>
            </a:r>
          </a:p>
          <a:p/>
          <a:p>
            <a:r>
              <a:t>[#3 — the one engineers in the room will respect most]</a:t>
            </a:r>
          </a:p>
          <a:p>
            <a:r>
              <a:t>"There was no ground truth to test against. There is no reference answer for 'how many tokens</a:t>
            </a:r>
          </a:p>
          <a:p>
            <a:r>
              <a:t>did that session use' — nobody publishes one. So correctness had to be constructed. I built</a:t>
            </a:r>
          </a:p>
          <a:p>
            <a:r>
              <a:t>fixtures per harness and wrote a test that asserts Copilot, Claude and Codex totals</a:t>
            </a:r>
          </a:p>
          <a:p>
            <a:r>
              <a:t>simultaneously from one fixture. If any single convention drifts, that test fails."</a:t>
            </a:r>
          </a:p>
          <a:p/>
          <a:p>
            <a:r>
              <a:t>[#4 — say it as judgement, not as shortfall]</a:t>
            </a:r>
          </a:p>
          <a:p>
            <a:r>
              <a:t>"And I was one person against three harnesses that all shipped weekly. Which meant re-testing</a:t>
            </a:r>
          </a:p>
          <a:p>
            <a:r>
              <a:t>assumptions constantly, and picking one surface to do properly rather than several half-way."</a:t>
            </a:r>
          </a:p>
          <a:p/>
          <a:p>
            <a:r>
              <a:t>Then move. Don't editorialise.</a:t>
            </a:r>
          </a:p>
          <a:p/>
          <a:p>
            <a:r>
              <a:t>─── DETAIL FOR Q&amp;A ───</a:t>
            </a:r>
          </a:p>
          <a:p/>
          <a:p>
            <a:r>
              <a:t>• #5, silent failures: a port mismatch dropped 100% of telemetry with no error anywhere, and a</a:t>
            </a:r>
          </a:p>
          <a:p>
            <a:r>
              <a:t>  thrown query error vanished into a console the user never opens — leaving "loading spans..."</a:t>
            </a:r>
          </a:p>
          <a:p>
            <a:r>
              <a:t>  on screen forever. Both fixes were about making failure visible, and both mattered more than</a:t>
            </a:r>
          </a:p>
          <a:p>
            <a:r>
              <a:t>  any feature.</a:t>
            </a:r>
          </a:p>
          <a:p>
            <a:r>
              <a:t>• #6, performance: a slow query froze the whole editor, not just the panel. The two fixes that</a:t>
            </a:r>
          </a:p>
          <a:p>
            <a:r>
              <a:t>  mattered were one SQL statement (ANALYZE, 8.4s → 0.2s) and the physical column order in a</a:t>
            </a:r>
          </a:p>
          <a:p>
            <a:r>
              <a:t>  table. Neither was where I'd have guessed.</a:t>
            </a:r>
          </a:p>
          <a:p>
            <a:r>
              <a:t>• #2, no shared vocabulary: this is why every rule is written against observable shape rather</a:t>
            </a:r>
          </a:p>
          <a:p>
            <a:r>
              <a:t>  than vendor name. Anything written as "if it's Codex, do X" was obsolete within a release.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p>
            <a:r>
              <a:t>Twenty-five seconds. Do NOT read this slide — it's here so the audience can scan the breadth</a:t>
            </a:r>
          </a:p>
          <a:p>
            <a:r>
              <a:t>while you say one sentence per column.</a:t>
            </a:r>
          </a:p>
          <a:p/>
          <a:p>
            <a:r>
              <a:t>[open by naming the link to the previous slide, so the overlap reads as deliberate]</a:t>
            </a:r>
          </a:p>
          <a:p>
            <a:r>
              <a:t>"Most of these came straight out of that last slide."</a:t>
            </a:r>
          </a:p>
          <a:p/>
          <a:p>
            <a:r>
              <a:t>"On engineering — OpenTelemetry end to end, and the big one: the hard part was never collecting</a:t>
            </a:r>
          </a:p>
          <a:p>
            <a:r>
              <a:t>the data, it was agreeing what it means. The receiver is two hundred lines. The engine that</a:t>
            </a:r>
          </a:p>
          <a:p>
            <a:r>
              <a:t>interprets it is thirteen times that."</a:t>
            </a:r>
          </a:p>
          <a:p/>
          <a:p>
            <a:r>
              <a:t>"On product — designing for two consumers at once, a person and a model, which turn out to want</a:t>
            </a:r>
          </a:p>
          <a:p>
            <a:r>
              <a:t>very different things from the same data."</a:t>
            </a:r>
          </a:p>
          <a:p/>
          <a:p>
            <a:r>
              <a:t>"And working here — building on a platform that is itself still being built, and learning that</a:t>
            </a:r>
          </a:p>
          <a:p>
            <a:r>
              <a:t>when the plumbing gets solved for you, the value moves up a layer."</a:t>
            </a:r>
          </a:p>
          <a:p/>
          <a:p>
            <a:r>
              <a:t>Then stop.</a:t>
            </a:r>
          </a:p>
          <a:p/>
          <a:p>
            <a:r>
              <a:t>─── DETAIL FOR Q&amp;A ───</a:t>
            </a:r>
          </a:p>
          <a:p/>
          <a:p>
            <a:r>
              <a:t>• "Matching on shape, not on vendor name": every filter written as "if it's Codex, do X" would</a:t>
            </a:r>
          </a:p>
          <a:p>
            <a:r>
              <a:t>  have rotted within a release. The echo-detection rule is defined by shape instead — has</a:t>
            </a:r>
          </a:p>
          <a:p>
            <a:r>
              <a:t>  content, no prompt, no round trip, no model-call span — which is why it survived three upstream</a:t>
            </a:r>
          </a:p>
          <a:p>
            <a:r>
              <a:t>  releases untouched.</a:t>
            </a:r>
          </a:p>
          <a:p>
            <a:r>
              <a:t>• Product: writing for an LLM means paging and budgeting instead of truncating, and saying</a:t>
            </a:r>
          </a:p>
          <a:p>
            <a:r>
              <a:t>  "content capture was off" rather than returning an empty list, so the model can't infer what</a:t>
            </a:r>
          </a:p>
          <a:p>
            <a:r>
              <a:t>  wasn't there.</a:t>
            </a:r>
          </a:p>
          <a:p>
            <a:r>
              <a:t>• "The unit of the product": choosing the session rather than the span as the thing everything</a:t>
            </a:r>
          </a:p>
          <a:p>
            <a:r>
              <a:t>  hangs off. That one decision is why the panel and the tools can share an engine.</a:t>
            </a:r>
          </a:p>
          <a:p>
            <a:r>
              <a:t>• If asked which you'd want to go deeper on: the middle column. Designing for a model as a</a:t>
            </a:r>
          </a:p>
          <a:p>
            <a:r>
              <a:t>  first-class reader is the part that felt genuinely new.</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p>
            <a:r>
              <a:t>Short, specific, sincere. Slow down here — it's the last real slide.</a:t>
            </a:r>
          </a:p>
          <a:p/>
          <a:p>
            <a:r>
              <a:t>"Before I finish — a few thank-yous, and they're not perfunctory."</a:t>
            </a:r>
          </a:p>
          <a:p/>
          <a:p>
            <a:r>
              <a:t>[name Zhichao first and properly]</a:t>
            </a:r>
          </a:p>
          <a:p>
            <a:r>
              <a:t>"Zhichao framed this whole problem space before I got here. A lot of what I built is genuinely</a:t>
            </a:r>
          </a:p>
          <a:p>
            <a:r>
              <a:t>an argument with ideas he'd already had, and that's the best possible starting point."</a:t>
            </a:r>
          </a:p>
          <a:p/>
          <a:p>
            <a:r>
              <a:t>[then the mentors and manager — use their names]</a:t>
            </a:r>
          </a:p>
          <a:p>
            <a:r>
              <a:t>"[names] — for the early direction, and for letting me change the shape of this when the</a:t>
            </a:r>
          </a:p>
          <a:p>
            <a:r>
              <a:t>platform changed underneath it."</a:t>
            </a:r>
          </a:p>
          <a:p/>
          <a:p>
            <a:r>
              <a:t>[then the three teams]</a:t>
            </a:r>
          </a:p>
          <a:p>
            <a:r>
              <a:t>"The agent-host team, whose anchor span is the thing that made cross-harness session identity</a:t>
            </a:r>
          </a:p>
          <a:p>
            <a:r>
              <a:t>tractable at all — even though, as you saw, it also handed me four new problems. Both are true."</a:t>
            </a:r>
          </a:p>
          <a:p/>
          <a:p>
            <a:r>
              <a:t>"The OpenTelemetry GenAI working group. Their conventions are the only reason there's anything</a:t>
            </a:r>
          </a:p>
          <a:p>
            <a:r>
              <a:t>to normalize toward. Without that, this is three parsers and a prayer."</a:t>
            </a:r>
          </a:p>
          <a:p/>
          <a:p>
            <a:r>
              <a:t>"And the Copilot, Claude Code and Codex teams — for emitting this data at all. Three teams each</a:t>
            </a:r>
          </a:p>
          <a:p>
            <a:r>
              <a:t>independently decided agent runs were worth instrumenting, and none of them had to."</a:t>
            </a:r>
          </a:p>
          <a:p/>
          <a:p>
            <a:r>
              <a:t>[the last line — it usually gets a laugh]</a:t>
            </a:r>
          </a:p>
          <a:p>
            <a:r>
              <a:t>"And everyone who dogfooded it and told me their session list had two hundred and sixty-one rows</a:t>
            </a:r>
          </a:p>
          <a:p>
            <a:r>
              <a:t>in it."</a:t>
            </a:r>
          </a:p>
          <a:p/>
          <a:p>
            <a:r>
              <a:t>─── TO DO BEFORE PRESENTING ───</a:t>
            </a:r>
          </a:p>
          <a:p/>
          <a:p>
            <a:r>
              <a:t>• Drop headshots into the five circles: right-click → Format Shape → Picture fill, or delete the</a:t>
            </a:r>
          </a:p>
          <a:p>
            <a:r>
              <a:t>  circle and insert a picture over it.</a:t>
            </a:r>
          </a:p>
          <a:p>
            <a:r>
              <a:t>• Replace the two "add name" slots with your manager and mentor.</a:t>
            </a:r>
          </a:p>
          <a:p>
            <a:r>
              <a:t>• If you only have three people, delete the extras and re-space the remaining circles evenly.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p>
            <a:r>
              <a:t>Close, then stop talking.</a:t>
            </a:r>
          </a:p>
          <a:p/>
          <a:p>
            <a:r>
              <a:t>[deliver the two lines, and let the second one sit for a beat]</a:t>
            </a:r>
          </a:p>
          <a:p>
            <a:r>
              <a:t>"The data layer is solved."</a:t>
            </a:r>
          </a:p>
          <a:p>
            <a:r>
              <a:t>"Agent Insights is about everything after."</a:t>
            </a:r>
          </a:p>
          <a:p/>
          <a:p>
            <a:r>
              <a:t>[pause — this is the conclusion the last twenty minutes exists to earn]</a:t>
            </a:r>
          </a:p>
          <a:p/>
          <a:p>
            <a:r>
              <a:t>[point at the grey line — this is the bookend]</a:t>
            </a:r>
          </a:p>
          <a:p>
            <a:r>
              <a:t>"Three agents, three vocabularies, one machine — and now one definition of a session, a turn, a</a:t>
            </a:r>
          </a:p>
          <a:p>
            <a:r>
              <a:t>model call, a tool call and a token."</a:t>
            </a:r>
          </a:p>
          <a:p/>
          <a:p>
            <a:r>
              <a:t>[say "and now" with a little weight; that's the whole talk in two words]</a:t>
            </a:r>
          </a:p>
          <a:p/>
          <a:p>
            <a:r>
              <a:t>"Happy to take questions. My contact details are up here, and there's an appendix with all the</a:t>
            </a:r>
          </a:p>
          <a:p>
            <a:r>
              <a:t>numbers if anyone wants to go deeper on the normalization."</a:t>
            </a:r>
          </a:p>
          <a:p/>
          <a:p>
            <a:r>
              <a:t>Leave this slide up for the whole Q&amp;A — that's what the contact cards are for.</a:t>
            </a:r>
          </a:p>
          <a:p/>
          <a:p>
            <a:r>
              <a:t>─── NOTES ───</a:t>
            </a:r>
          </a:p>
          <a:p/>
          <a:p>
            <a:r>
              <a:t>• This is the FIRST time the audience hears the "data layer" line — it only works because they</a:t>
            </a:r>
          </a:p>
          <a:p>
            <a:r>
              <a:t>  now know what the data layer is and what "after" means. Don't rush it.</a:t>
            </a:r>
          </a:p>
          <a:p>
            <a:r>
              <a:t>• The title slide said "three agents, three vocabularies, one machine" and left it hanging.</a:t>
            </a:r>
          </a:p>
          <a:p>
            <a:r>
              <a:t>  This closes it. Same seven opening words, deliberately.</a:t>
            </a:r>
          </a:p>
          <a:p/>
          <a:p>
            <a:r>
              <a:t>─── LIKELY QUESTIONS ───</a:t>
            </a:r>
          </a:p>
          <a:p/>
          <a:p>
            <a:r>
              <a:t>• "Why LM tools and not MCP?" — first-party: no separate server process, they appear as</a:t>
            </a:r>
          </a:p>
          <a:p>
            <a:r>
              <a:t>  #-references, and the bundled skill lets the agent route without being named. MCP was the</a:t>
            </a:r>
          </a:p>
          <a:p>
            <a:r>
              <a:t>  obvious first guess; LM tools turned out strictly better inside VS Code.</a:t>
            </a:r>
          </a:p>
          <a:p>
            <a:r>
              <a:t>• "Why sql.js and not better-sqlite3?" — no native module to rebuild per platform and per</a:t>
            </a:r>
          </a:p>
          <a:p>
            <a:r>
              <a:t>  Electron ABI. The cost is a WASM boundary, which is exactly why it lives on a worker thread.</a:t>
            </a:r>
          </a:p>
          <a:p>
            <a:r>
              <a:t>• "How do you know your numbers are right?" — 522 assertions across 15 suites, including one</a:t>
            </a:r>
          </a:p>
          <a:p>
            <a:r>
              <a:t>  that asserts Copilot, Claude and Codex token totals simultaneously from a single fixture.</a:t>
            </a:r>
          </a:p>
          <a:p>
            <a:r>
              <a:t>• "Privacy?" — loopback only, content capture opt-in, threat model in the repo. There's an</a:t>
            </a:r>
          </a:p>
          <a:p>
            <a:r>
              <a:t>  appendix slide with the full data-flow diagram.</a:t>
            </a:r>
          </a:p>
          <a:p>
            <a:r>
              <a:t>• "What would you do with another month?" — cross-process OTel inside VS Code itself, and</a:t>
            </a:r>
          </a:p>
          <a:p>
            <a:r>
              <a:t>  per-model pricing so the status bar shows spend rather than usage.</a:t>
            </a:r>
          </a:p>
          <a:p>
            <a:r>
              <a:t>• "What was the hardest bug?" — Codex response.completed records carry no trace id, so joining</a:t>
            </a:r>
          </a:p>
          <a:p>
            <a:r>
              <a:t>  by trace matched nothing and no Codex transcript reported a single token. Fixed by joining on</a:t>
            </a:r>
          </a:p>
          <a:p>
            <a:r>
              <a:t>  conversation id instead.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Jump here for "how big was it / how do you know it's right" questions.</a:t>
            </a:r>
          </a:p>
          <a:p/>
          <a:p>
            <a:r>
              <a:t>Favourites to quote: 261 vs 6. 8.4 s → 0.2 s from one ANALYZE. And ~2 600 lines of normalization</a:t>
            </a:r>
          </a:p>
          <a:p>
            <a:r>
              <a:t>against ~200 lines of receiver — the ratio that is the whole finding.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and also the "how do I try it" slide if anyone asks after the talk.</a:t>
            </a:r>
          </a:p>
          <a:p/>
          <a:p>
            <a:r>
              <a:t>The point to make if it comes up: this is the entire setup. Two blocks, one reload. There is no</a:t>
            </a:r>
          </a:p>
          <a:p>
            <a:r>
              <a:t>collector to run, no Docker, no account. That low a setup cost is the reason it gets used at all</a:t>
            </a:r>
          </a:p>
          <a:p>
            <a:r>
              <a:t>— the alternative was "stand up Jaeger", and nobody does that to look at their own chat history.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 not in the running order. Jump here if someone asks what "an extension" actually</a:t>
            </a:r>
          </a:p>
          <a:p>
            <a:r>
              <a:t>means in scope terms, or wants the inventory of what was built.</a:t>
            </a:r>
          </a:p>
          <a:p/>
          <a:p>
            <a:r>
              <a:t>Do NOT read this table. Say three things and move:</a:t>
            </a:r>
          </a:p>
          <a:p/>
          <a:p>
            <a:r>
              <a:t>  "This is the whole thing in one view. Collection, storage, three explorers, the session model,</a:t>
            </a:r>
          </a:p>
          <a:p>
            <a:r>
              <a:t>   two surfaces on top of it, and a build anyone can install."</a:t>
            </a:r>
          </a:p>
          <a:p/>
          <a:p>
            <a:r>
              <a:t>  Point at row 4 (Sessions and Home): "these two weren't in the original brief at all. They came</a:t>
            </a:r>
          </a:p>
          <a:p>
            <a:r>
              <a:t>   out of using it. They're now the two tabs people actually open."</a:t>
            </a:r>
          </a:p>
          <a:p/>
          <a:p>
            <a:r>
              <a:t>  Point at the last row: "and all of it is tested against fixtures captured from all three</a:t>
            </a:r>
          </a:p>
          <a:p>
            <a:r>
              <a:t>   harnesses at once, so the conventions can't quietly drift apart."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 not in the running order. Jump here for any privacy or "where does the data go"</a:t>
            </a:r>
          </a:p>
          <a:p>
            <a:r>
              <a:t>question, which is the most likely serious question you will get.</a:t>
            </a:r>
          </a:p>
          <a:p/>
          <a:p>
            <a:r>
              <a:t>Trace it left to right with your hand:</a:t>
            </a:r>
          </a:p>
          <a:p>
            <a:r>
              <a:t>  1. The agents export OTLP to a port on localhost. Loopback only — not reachable from another</a:t>
            </a:r>
          </a:p>
          <a:p>
            <a:r>
              <a:t>     machine.</a:t>
            </a:r>
          </a:p>
          <a:p>
            <a:r>
              <a:t>  2. The receiver writes to a SQLite file inside the extension's own storage directory.</a:t>
            </a:r>
          </a:p>
          <a:p>
            <a:r>
              <a:t>  3. The panel and the twelve LM tools read from that file. Nothing else does.</a:t>
            </a:r>
          </a:p>
          <a:p>
            <a:r>
              <a:t>  4. You control it — browse it, clear it, and content capture (prompts and replies) is off</a:t>
            </a:r>
          </a:p>
          <a:p>
            <a:r>
              <a:t>     unless you turn it on.</a:t>
            </a:r>
          </a:p>
          <a:p>
            <a:r>
              <a:t>  5. The one magenta arrow: Copilot Chat answering you. Same trust boundary as any other chat</a:t>
            </a:r>
          </a:p>
          <a:p>
            <a:r>
              <a:t>     message you send.</a:t>
            </a:r>
          </a:p>
          <a:p/>
          <a:p>
            <a:r>
              <a:t>The strong version of the claim: "there is no collector to stand up, no account, and no</a:t>
            </a:r>
          </a:p>
          <a:p>
            <a:r>
              <a:t>background upload. If you unplug the network, everything on the previous slides still works."</a:t>
            </a:r>
          </a:p>
          <a:p/>
          <a:p>
            <a:r>
              <a:t>Full threat model is in the repo at docs/threat-model.md.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 not in the running order. Jump here if someone asks how it holds up in real use,</a:t>
            </a:r>
          </a:p>
          <a:p>
            <a:r>
              <a:t>about multi-window behaviour, retention, or SQLite performance.</a:t>
            </a:r>
          </a:p>
          <a:p/>
          <a:p>
            <a:r>
              <a:t>Card 1 in one sentence: "a port can only be owned by one VS Code window, and developers run</a:t>
            </a:r>
          </a:p>
          <a:p>
            <a:r>
              <a:t>five, so the collector negotiates — bind, probe, follow read-only, heartbeat, take over cleanly</a:t>
            </a:r>
          </a:p>
          <a:p>
            <a:r>
              <a:t>when the owner goes away. No data loss, no configuration."</a:t>
            </a:r>
          </a:p>
          <a:p/>
          <a:p>
            <a:r>
              <a:t>Card 2, the line worth saying: schema, inserts, migrations and views are all generated from one</a:t>
            </a:r>
          </a:p>
          <a:p>
            <a:r>
              <a:t>DERIVED table, so they physically cannot drift apart.</a:t>
            </a:r>
          </a:p>
          <a:p/>
          <a:p>
            <a:r>
              <a:t>Card 3 is the one I'd defend in a design review: retention is per-service with a floor, because</a:t>
            </a:r>
          </a:p>
          <a:p>
            <a:r>
              <a:t>global pruning would evict Claude Code before Copilot purely because Copilot is chattier — which</a:t>
            </a:r>
          </a:p>
          <a:p>
            <a:r>
              <a:t>would silently bias exactly the cross-agent comparison this product exists to provide. A</a:t>
            </a:r>
          </a:p>
          <a:p>
            <a:r>
              <a:t>correctness bug wearing a performance bug's clothes.</a:t>
            </a:r>
          </a:p>
          <a:p/>
          <a:p>
            <a:r>
              <a:t>Bottom band: ANALYZE is a single statement worth 8.4 seconds. Column order in a SQLite table was</a:t>
            </a:r>
          </a:p>
          <a:p>
            <a:r>
              <a:t>an order of magnitude on scans. Measure first.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 not in the running order. Jump here if someone asks how sessions are identified.</a:t>
            </a:r>
          </a:p>
          <a:p/>
          <a:p>
            <a:r>
              <a:t>Say the pattern first, then show it three times:</a:t>
            </a:r>
          </a:p>
          <a:p>
            <a:r>
              <a:t>"Define the concept once, in SQL, from what the data SHOWS — never from which harness sent it."</a:t>
            </a:r>
          </a:p>
          <a:p/>
          <a:p>
            <a:r>
              <a:t>LEFT: session identity is a COALESCE ladder ordered by trust. OTel's standard key first, then</a:t>
            </a:r>
          </a:p>
          <a:p>
            <a:r>
              <a:t>each vendor's own, then a recovered projection for Codex, then trace_id as the last resort.</a:t>
            </a:r>
          </a:p>
          <a:p>
            <a:r>
              <a:t>Point at MAX() and explain it: the conversation id is on the chat span but not on the permission</a:t>
            </a:r>
          </a:p>
          <a:p>
            <a:r>
              <a:t>span or the execute_tool span in the same trace. MAX over the trace means one span knowing the</a:t>
            </a:r>
          </a:p>
          <a:p>
            <a:r>
              <a:t>answer is enough for the whole trace.</a:t>
            </a:r>
          </a:p>
          <a:p/>
          <a:p>
            <a:r>
              <a:t>RIGHT: 'one model call' and 'one tool call' are predicates, not name lists. The Claude detail is</a:t>
            </a:r>
          </a:p>
          <a:p>
            <a:r>
              <a:t>worth 10 seconds: match the subtree and you treble the count; match only .execution and you</a:t>
            </a:r>
          </a:p>
          <a:p>
            <a:r>
              <a:t>silently drop every permission-denied call — which are the calls you most want to see.</a:t>
            </a:r>
          </a:p>
          <a:p/>
          <a:p>
            <a:r>
              <a:t>BOTTOM: this is the agent-host fix from earlier, in one line.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 not in the running order. Jump here if someone asks how the transcript is rebuilt,</a:t>
            </a:r>
          </a:p>
          <a:p>
            <a:r>
              <a:t>or why Codex transcripts are missing the model's replies.</a:t>
            </a:r>
          </a:p>
          <a:p/>
          <a:p>
            <a:r>
              <a:t>Top row: three completely different acquisition strategies. Copilot hands you structured</a:t>
            </a:r>
          </a:p>
          <a:p>
            <a:r>
              <a:t>messages on a span attribute. Claude requires rebuilding turns from a log stream. Codex requires</a:t>
            </a:r>
          </a:p>
          <a:p>
            <a:r>
              <a:t>rebuilding them from logs AND joining tokens by conversation id, because its response.completed</a:t>
            </a:r>
          </a:p>
          <a:p>
            <a:r>
              <a:t>records carry no trace id at all — joining by trace matched nothing, and for a while no Codex</a:t>
            </a:r>
          </a:p>
          <a:p>
            <a:r>
              <a:t>transcript reported a single token.</a:t>
            </a:r>
          </a:p>
          <a:p/>
          <a:p>
            <a:r>
              <a:t>The Claude detail is my favourite: api_request is logged when the round trip FINISHES. So a</a:t>
            </a:r>
          </a:p>
          <a:p>
            <a:r>
              <a:t>tool_decision log can legitimately arrive before the api_request that owns it. The builder</a:t>
            </a:r>
          </a:p>
          <a:p>
            <a:r>
              <a:t>adopts an already-open unclaimed draft instead of minting a new call — otherwise a seven-call</a:t>
            </a:r>
          </a:p>
          <a:p>
            <a:r>
              <a:t>agent loop collapses into one turn with every tool piled onto the last call.</a:t>
            </a:r>
          </a:p>
          <a:p/>
          <a:p>
            <a:r>
              <a:t>Then the navy bar, and this is the sentence:</a:t>
            </a:r>
          </a:p>
          <a:p>
            <a:r>
              <a:t>"All three reshape into the same SessionMessageTurn, so no renderer and no LM tool knows which</a:t>
            </a:r>
          </a:p>
          <a:p>
            <a:r>
              <a:t>harness it is looking at."</a:t>
            </a:r>
          </a:p>
          <a:p/>
          <a:p>
            <a:r>
              <a:t>Bottom-middle card is the design principle and it becomes Learning #1: written from shape, not</a:t>
            </a:r>
          </a:p>
          <a:p>
            <a:r>
              <a:t>from vendor. Harness-specific code is a dated cheque.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for a technical audience — use it if someone says "give me a concrete example of a</a:t>
            </a:r>
          </a:p>
          <a:p>
            <a:r>
              <a:t>normalization problem."</a:t>
            </a:r>
          </a:p>
          <a:p/>
          <a:p>
            <a:r>
              <a:t>Best single story to tell from here is row 3, the Claude one, because it's counter-intuitive:</a:t>
            </a:r>
          </a:p>
          <a:p>
            <a:r>
              <a:t>Claude logs the api_request record when the round trip FINISHES, not when it starts. So a</a:t>
            </a:r>
          </a:p>
          <a:p>
            <a:r>
              <a:t>permission decision or a tool result can legitimately show up in the stream before the request</a:t>
            </a:r>
          </a:p>
          <a:p>
            <a:r>
              <a:t>that owns it. If you naively open a new call on every api_request, a seven-call agent loop</a:t>
            </a:r>
          </a:p>
          <a:p>
            <a:r>
              <a:t>collapses into one turn with all seven tools piled onto the last call. The fix is that opening a</a:t>
            </a:r>
          </a:p>
          <a:p>
            <a:r>
              <a:t>call adopts an already-open, unclaimed draft.</a:t>
            </a:r>
          </a:p>
          <a:p/>
          <a:p>
            <a:r>
              <a:t>Every one of these five has a dedicated test suite. That's most of the 522 assertions.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 not in the running order. The four lessons in full, with the reasoning, for Q&amp;A.</a:t>
            </a:r>
          </a:p>
          <a:p/>
          <a:p>
            <a:r>
              <a:t>The condensed version of #1, #3 and #4 is on the "What I learned" slide. Come here if someone</a:t>
            </a:r>
          </a:p>
          <a:p>
            <a:r>
              <a:t>asks a follow-up, or if you want #2 — the platform lesson — which isn't on the main slide.</a:t>
            </a:r>
          </a:p>
          <a:p/>
          <a:p>
            <a:r>
              <a:t>#2 is worth having ready: the agent host arrived mid-project and made collection easier and</a:t>
            </a:r>
          </a:p>
          <a:p>
            <a:r>
              <a:t>interpretation harder. The lesson isn't "platforms are unstable" — it's that the moment the</a:t>
            </a:r>
          </a:p>
          <a:p>
            <a:r>
              <a:t>plumbing gets solved for you, the remaining value moves up a layer into semantics. Plan to</a:t>
            </a:r>
          </a:p>
          <a:p>
            <a:r>
              <a:t>be there.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 not in the running order. Extra learnings #6 and #7, kept for Q&amp;A.]</a:t>
            </a:r>
          </a:p>
          <a:p/>
          <a:p>
            <a:r>
              <a:t>Land #6 and #7.</a:t>
            </a:r>
          </a:p>
          <a:p/>
          <a:p>
            <a:r>
              <a:t>#6: the bug report was "VS Code freezes". Not "the panel is slow" — the whole editor, because</a:t>
            </a:r>
          </a:p>
          <a:p>
            <a:r>
              <a:t>sql.js was running on the extension host thread and a multi-second query blocked it. That</a:t>
            </a:r>
          </a:p>
          <a:p>
            <a:r>
              <a:t>reframed it from a perf ticket into a product bug, and the worker thread was the fix.</a:t>
            </a:r>
          </a:p>
          <a:p/>
          <a:p>
            <a:r>
              <a:t>#7 is the one I'd generalise furthest beyond this project. Two separate failures, same shape:</a:t>
            </a:r>
          </a:p>
          <a:p>
            <a:r>
              <a:t>the system was broken and told nobody. A port mismatch silently dropped 100% of telemetry. A</a:t>
            </a:r>
          </a:p>
          <a:p>
            <a:r>
              <a:t>thrown query error disappeared into a console the user never opens, leaving "loading spans..."</a:t>
            </a:r>
          </a:p>
          <a:p>
            <a:r>
              <a:t>forever. Neither was a hard bug to fix; both were invisible until someone complained. Now the</a:t>
            </a:r>
          </a:p>
          <a:p>
            <a:r>
              <a:t>extension detects the port mismatch and OFFERS to fix it — it doesn't edit your settings behind</a:t>
            </a:r>
          </a:p>
          <a:p>
            <a:r>
              <a:t>your back — and every webview request is answered or turned into a visible error.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4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64592" cy="685800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9189720" y="2807208"/>
            <a:ext cx="274320" cy="1417320"/>
          </a:xfrm>
          <a:prstGeom prst="roundRect">
            <a:avLst>
              <a:gd name="adj" fmla="val 35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9710928" y="2075688"/>
            <a:ext cx="274320" cy="2148840"/>
          </a:xfrm>
          <a:prstGeom prst="roundRect">
            <a:avLst>
              <a:gd name="adj" fmla="val 35000"/>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10232136" y="3355848"/>
            <a:ext cx="274320" cy="868680"/>
          </a:xfrm>
          <a:prstGeom prst="roundRect">
            <a:avLst>
              <a:gd name="adj" fmla="val 35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10753344" y="2441448"/>
            <a:ext cx="274320" cy="1783080"/>
          </a:xfrm>
          <a:prstGeom prst="roundRect">
            <a:avLst>
              <a:gd name="adj" fmla="val 35000"/>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11274552" y="3081528"/>
            <a:ext cx="274320" cy="1143000"/>
          </a:xfrm>
          <a:prstGeom prst="roundRect">
            <a:avLst>
              <a:gd name="adj" fmla="val 35000"/>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481328"/>
            <a:ext cx="8412480" cy="274320"/>
          </a:xfrm>
          <a:prstGeom prst="rect">
            <a:avLst/>
          </a:prstGeom>
          <a:noFill/>
        </p:spPr>
        <p:txBody>
          <a:bodyPr wrap="square" lIns="0" rIns="0" tIns="0" bIns="0" anchor="t">
            <a:spAutoFit/>
          </a:bodyPr>
          <a:lstStyle/>
          <a:p>
            <a:pPr algn="l">
              <a:spcBef>
                <a:spcPts val="0"/>
              </a:spcBef>
              <a:spcAft>
                <a:spcPts val="0"/>
              </a:spcAft>
            </a:pPr>
            <a:r>
              <a:rPr sz="1150" b="1" i="0">
                <a:solidFill>
                  <a:srgbClr val="50E6FF"/>
                </a:solidFill>
                <a:latin typeface="Segoe UI Semibold"/>
              </a:rPr>
              <a:t>MICROSOFT  ·  VISUAL STUDIO CODE  ·  SEPT 2026</a:t>
            </a:r>
          </a:p>
        </p:txBody>
      </p:sp>
      <p:sp>
        <p:nvSpPr>
          <p:cNvPr id="10" name="TextBox 9"/>
          <p:cNvSpPr txBox="1"/>
          <p:nvPr/>
        </p:nvSpPr>
        <p:spPr>
          <a:xfrm>
            <a:off x="914400" y="1938528"/>
            <a:ext cx="8595360" cy="1188720"/>
          </a:xfrm>
          <a:prstGeom prst="rect">
            <a:avLst/>
          </a:prstGeom>
          <a:noFill/>
        </p:spPr>
        <p:txBody>
          <a:bodyPr wrap="square" lIns="0" rIns="0" tIns="0" bIns="0" anchor="t">
            <a:spAutoFit/>
          </a:bodyPr>
          <a:lstStyle/>
          <a:p>
            <a:pPr algn="l">
              <a:spcBef>
                <a:spcPts val="0"/>
              </a:spcBef>
              <a:spcAft>
                <a:spcPts val="0"/>
              </a:spcAft>
            </a:pPr>
            <a:r>
              <a:rPr sz="6800" b="0" i="0">
                <a:solidFill>
                  <a:srgbClr val="FFFFFF"/>
                </a:solidFill>
                <a:latin typeface="Segoe UI Light"/>
              </a:rPr>
              <a:t>Agent Insights</a:t>
            </a:r>
          </a:p>
        </p:txBody>
      </p:sp>
      <p:sp>
        <p:nvSpPr>
          <p:cNvPr id="11" name="Rectangle 10"/>
          <p:cNvSpPr/>
          <p:nvPr/>
        </p:nvSpPr>
        <p:spPr>
          <a:xfrm>
            <a:off x="960120" y="3127248"/>
            <a:ext cx="1371600" cy="41148"/>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60120" y="3456432"/>
            <a:ext cx="7863840" cy="1005840"/>
          </a:xfrm>
          <a:prstGeom prst="rect">
            <a:avLst/>
          </a:prstGeom>
          <a:noFill/>
        </p:spPr>
        <p:txBody>
          <a:bodyPr wrap="square" lIns="0" rIns="0" tIns="0" bIns="0" anchor="t">
            <a:spAutoFit/>
          </a:bodyPr>
          <a:lstStyle/>
          <a:p>
            <a:pPr algn="l">
              <a:lnSpc>
                <a:spcPct val="115000"/>
              </a:lnSpc>
              <a:spcBef>
                <a:spcPts val="0"/>
              </a:spcBef>
              <a:spcAft>
                <a:spcPts val="800"/>
              </a:spcAft>
            </a:pPr>
            <a:r>
              <a:rPr sz="2300" b="0" i="0">
                <a:solidFill>
                  <a:srgbClr val="C9D8EE"/>
                </a:solidFill>
                <a:latin typeface="Segoe UI Light"/>
              </a:rPr>
              <a:t>OpenTelemetry for AI coding agents, inside VS Code</a:t>
            </a:r>
          </a:p>
          <a:p>
            <a:pPr algn="l">
              <a:lnSpc>
                <a:spcPct val="125000"/>
              </a:lnSpc>
              <a:spcBef>
                <a:spcPts val="0"/>
              </a:spcBef>
              <a:spcAft>
                <a:spcPts val="0"/>
              </a:spcAft>
            </a:pPr>
            <a:r>
              <a:rPr sz="1350" b="0" i="0">
                <a:solidFill>
                  <a:srgbClr val="93A6C4"/>
                </a:solidFill>
                <a:latin typeface="Segoe UI"/>
              </a:rPr>
              <a:t>Copilot, Claude Code and Codex — three agents, three vocabularies, one machine.</a:t>
            </a:r>
          </a:p>
        </p:txBody>
      </p:sp>
      <p:sp>
        <p:nvSpPr>
          <p:cNvPr id="13" name="TextBox 12"/>
          <p:cNvSpPr txBox="1"/>
          <p:nvPr/>
        </p:nvSpPr>
        <p:spPr>
          <a:xfrm>
            <a:off x="960120" y="5230368"/>
            <a:ext cx="9601200" cy="914400"/>
          </a:xfrm>
          <a:prstGeom prst="rect">
            <a:avLst/>
          </a:prstGeom>
          <a:noFill/>
        </p:spPr>
        <p:txBody>
          <a:bodyPr wrap="square" lIns="0" rIns="0" tIns="0" bIns="0" anchor="t">
            <a:spAutoFit/>
          </a:bodyPr>
          <a:lstStyle/>
          <a:p>
            <a:pPr algn="l">
              <a:spcBef>
                <a:spcPts val="0"/>
              </a:spcBef>
              <a:spcAft>
                <a:spcPts val="600"/>
              </a:spcAft>
            </a:pPr>
            <a:r>
              <a:rPr sz="1350" b="1" i="0">
                <a:solidFill>
                  <a:srgbClr val="FFFFFF"/>
                </a:solidFill>
                <a:latin typeface="Segoe UI"/>
              </a:rPr>
              <a:t>Michelle Ma</a:t>
            </a:r>
            <a:r>
              <a:rPr sz="1350" b="0" i="0">
                <a:solidFill>
                  <a:srgbClr val="93A6C4"/>
                </a:solidFill>
                <a:latin typeface="Segoe UI"/>
              </a:rPr>
              <a:t>   |   Software Engineer Intern</a:t>
            </a:r>
          </a:p>
          <a:p>
            <a:pPr algn="l">
              <a:spcBef>
                <a:spcPts val="0"/>
              </a:spcBef>
              <a:spcAft>
                <a:spcPts val="0"/>
              </a:spcAft>
            </a:pPr>
            <a:r>
              <a:rPr sz="1200" b="0" i="0">
                <a:solidFill>
                  <a:srgbClr val="50E6FF"/>
                </a:solidFill>
                <a:latin typeface="Consolas"/>
              </a:rPr>
              <a:t>github.com/michiisai/agent-insights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47925" cy="685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47923" y="0"/>
            <a:ext cx="3047925" cy="68580"/>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6095847" y="0"/>
            <a:ext cx="3047925" cy="6858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143771" y="0"/>
            <a:ext cx="3047925" cy="68580"/>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384048"/>
            <a:ext cx="10872216" cy="237744"/>
          </a:xfrm>
          <a:prstGeom prst="rect">
            <a:avLst/>
          </a:prstGeom>
          <a:noFill/>
        </p:spPr>
        <p:txBody>
          <a:bodyPr wrap="square" lIns="0" rIns="0" tIns="0" bIns="0" anchor="t">
            <a:spAutoFit/>
          </a:bodyPr>
          <a:lstStyle/>
          <a:p>
            <a:pPr algn="l">
              <a:spcBef>
                <a:spcPts val="0"/>
              </a:spcBef>
              <a:spcAft>
                <a:spcPts val="0"/>
              </a:spcAft>
            </a:pPr>
            <a:r>
              <a:rPr sz="1050" b="1" i="0">
                <a:solidFill>
                  <a:srgbClr val="0078D4"/>
                </a:solidFill>
                <a:latin typeface="Segoe UI Semibold"/>
              </a:rPr>
              <a:t>INTRODUCTION</a:t>
            </a:r>
          </a:p>
        </p:txBody>
      </p:sp>
      <p:sp>
        <p:nvSpPr>
          <p:cNvPr id="7" name="TextBox 6"/>
          <p:cNvSpPr txBox="1"/>
          <p:nvPr/>
        </p:nvSpPr>
        <p:spPr>
          <a:xfrm>
            <a:off x="658368" y="658368"/>
            <a:ext cx="10872216" cy="502920"/>
          </a:xfrm>
          <a:prstGeom prst="rect">
            <a:avLst/>
          </a:prstGeom>
          <a:noFill/>
        </p:spPr>
        <p:txBody>
          <a:bodyPr wrap="square" lIns="0" rIns="0" tIns="0" bIns="0" anchor="t">
            <a:spAutoFit/>
          </a:bodyPr>
          <a:lstStyle/>
          <a:p>
            <a:pPr algn="l">
              <a:spcBef>
                <a:spcPts val="0"/>
              </a:spcBef>
              <a:spcAft>
                <a:spcPts val="0"/>
              </a:spcAft>
            </a:pPr>
            <a:r>
              <a:rPr sz="2900" b="0" i="0">
                <a:solidFill>
                  <a:srgbClr val="14243E"/>
                </a:solidFill>
                <a:latin typeface="Segoe UI Light"/>
              </a:rPr>
              <a:t>About me</a:t>
            </a:r>
          </a:p>
        </p:txBody>
      </p:sp>
      <p:sp>
        <p:nvSpPr>
          <p:cNvPr id="8" name="Rectangle 7"/>
          <p:cNvSpPr/>
          <p:nvPr/>
        </p:nvSpPr>
        <p:spPr>
          <a:xfrm>
            <a:off x="658368" y="1152144"/>
            <a:ext cx="960120" cy="320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1188720" y="2057400"/>
            <a:ext cx="1920240" cy="1920240"/>
          </a:xfrm>
          <a:prstGeom prst="ellipse">
            <a:avLst/>
          </a:prstGeom>
          <a:solidFill>
            <a:srgbClr val="F0F3F9"/>
          </a:solidFill>
          <a:ln w="15875">
            <a:solidFill>
              <a:srgbClr val="B3C4D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900" b="0" i="0">
                <a:solidFill>
                  <a:srgbClr val="8A8886"/>
                </a:solidFill>
                <a:latin typeface="Segoe UI"/>
              </a:rPr>
              <a:t>add
headshot</a:t>
            </a:r>
          </a:p>
        </p:txBody>
      </p:sp>
      <p:sp>
        <p:nvSpPr>
          <p:cNvPr id="10" name="TextBox 9"/>
          <p:cNvSpPr txBox="1"/>
          <p:nvPr/>
        </p:nvSpPr>
        <p:spPr>
          <a:xfrm>
            <a:off x="3401568" y="1755648"/>
            <a:ext cx="3931920" cy="914400"/>
          </a:xfrm>
          <a:prstGeom prst="rect">
            <a:avLst/>
          </a:prstGeom>
          <a:noFill/>
        </p:spPr>
        <p:txBody>
          <a:bodyPr wrap="square" lIns="0" rIns="0" tIns="0" bIns="0" anchor="t">
            <a:spAutoFit/>
          </a:bodyPr>
          <a:lstStyle/>
          <a:p>
            <a:pPr algn="l">
              <a:spcBef>
                <a:spcPts val="0"/>
              </a:spcBef>
              <a:spcAft>
                <a:spcPts val="400"/>
              </a:spcAft>
            </a:pPr>
            <a:r>
              <a:rPr sz="3200" b="0" i="0">
                <a:solidFill>
                  <a:srgbClr val="14243E"/>
                </a:solidFill>
                <a:latin typeface="Segoe UI Light"/>
              </a:rPr>
              <a:t>Michelle Ma</a:t>
            </a:r>
          </a:p>
          <a:p>
            <a:pPr algn="l">
              <a:spcBef>
                <a:spcPts val="0"/>
              </a:spcBef>
              <a:spcAft>
                <a:spcPts val="0"/>
              </a:spcAft>
            </a:pPr>
            <a:r>
              <a:rPr sz="1350" b="1" i="0">
                <a:solidFill>
                  <a:srgbClr val="0078D4"/>
                </a:solidFill>
                <a:latin typeface="Segoe UI"/>
              </a:rPr>
              <a:t>Software Engineer Intern  ·  VS Code</a:t>
            </a:r>
          </a:p>
        </p:txBody>
      </p:sp>
      <p:sp>
        <p:nvSpPr>
          <p:cNvPr id="11" name="Rounded Rectangle 10"/>
          <p:cNvSpPr/>
          <p:nvPr/>
        </p:nvSpPr>
        <p:spPr>
          <a:xfrm>
            <a:off x="3401568" y="2834640"/>
            <a:ext cx="8129016" cy="658368"/>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401568" y="2834640"/>
            <a:ext cx="54864" cy="658368"/>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657600" y="3008376"/>
            <a:ext cx="365760" cy="365760"/>
          </a:xfrm>
          <a:prstGeom prst="rect">
            <a:avLst/>
          </a:prstGeom>
          <a:noFill/>
        </p:spPr>
        <p:txBody>
          <a:bodyPr wrap="square" lIns="0" rIns="0" tIns="0" bIns="0" anchor="t">
            <a:spAutoFit/>
          </a:bodyPr>
          <a:lstStyle/>
          <a:p>
            <a:pPr algn="l">
              <a:spcBef>
                <a:spcPts val="0"/>
              </a:spcBef>
              <a:spcAft>
                <a:spcPts val="0"/>
              </a:spcAft>
            </a:pPr>
            <a:r>
              <a:rPr sz="1400" b="0" i="0">
                <a:solidFill>
                  <a:srgbClr val="1B1A19"/>
                </a:solidFill>
                <a:latin typeface="Segoe UI"/>
              </a:rPr>
              <a:t>🎓</a:t>
            </a:r>
          </a:p>
        </p:txBody>
      </p:sp>
      <p:sp>
        <p:nvSpPr>
          <p:cNvPr id="14" name="TextBox 13"/>
          <p:cNvSpPr txBox="1"/>
          <p:nvPr/>
        </p:nvSpPr>
        <p:spPr>
          <a:xfrm>
            <a:off x="4096512" y="2944368"/>
            <a:ext cx="7223760" cy="502920"/>
          </a:xfrm>
          <a:prstGeom prst="rect">
            <a:avLst/>
          </a:prstGeom>
          <a:noFill/>
        </p:spPr>
        <p:txBody>
          <a:bodyPr wrap="square" lIns="0" rIns="0" tIns="0" bIns="0" anchor="t">
            <a:spAutoFit/>
          </a:bodyPr>
          <a:lstStyle/>
          <a:p>
            <a:pPr algn="l">
              <a:spcBef>
                <a:spcPts val="0"/>
              </a:spcBef>
              <a:spcAft>
                <a:spcPts val="200"/>
              </a:spcAft>
            </a:pPr>
            <a:r>
              <a:rPr sz="1250" b="1" i="0">
                <a:solidFill>
                  <a:srgbClr val="14243E"/>
                </a:solidFill>
                <a:latin typeface="Segoe UI"/>
              </a:rPr>
              <a:t>UC San Diego</a:t>
            </a:r>
          </a:p>
          <a:p>
            <a:pPr algn="l">
              <a:lnSpc>
                <a:spcPct val="116000"/>
              </a:lnSpc>
              <a:spcBef>
                <a:spcPts val="0"/>
              </a:spcBef>
              <a:spcAft>
                <a:spcPts val="0"/>
              </a:spcAft>
            </a:pPr>
            <a:r>
              <a:rPr sz="1100" b="0" i="0">
                <a:solidFill>
                  <a:srgbClr val="605E5C"/>
                </a:solidFill>
                <a:latin typeface="Segoe UI"/>
              </a:rPr>
              <a:t>Mathematics, Computer Science &amp; Cognitive Science</a:t>
            </a:r>
          </a:p>
        </p:txBody>
      </p:sp>
      <p:sp>
        <p:nvSpPr>
          <p:cNvPr id="15" name="Rounded Rectangle 14"/>
          <p:cNvSpPr/>
          <p:nvPr/>
        </p:nvSpPr>
        <p:spPr>
          <a:xfrm>
            <a:off x="3401568" y="3584448"/>
            <a:ext cx="8129016" cy="658368"/>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3401568" y="3584448"/>
            <a:ext cx="54864" cy="658368"/>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657600" y="3758184"/>
            <a:ext cx="365760" cy="365760"/>
          </a:xfrm>
          <a:prstGeom prst="rect">
            <a:avLst/>
          </a:prstGeom>
          <a:noFill/>
        </p:spPr>
        <p:txBody>
          <a:bodyPr wrap="square" lIns="0" rIns="0" tIns="0" bIns="0" anchor="t">
            <a:spAutoFit/>
          </a:bodyPr>
          <a:lstStyle/>
          <a:p>
            <a:pPr algn="l">
              <a:spcBef>
                <a:spcPts val="0"/>
              </a:spcBef>
              <a:spcAft>
                <a:spcPts val="0"/>
              </a:spcAft>
            </a:pPr>
            <a:r>
              <a:rPr sz="1400" b="0" i="0">
                <a:solidFill>
                  <a:srgbClr val="1B1A19"/>
                </a:solidFill>
                <a:latin typeface="Segoe UI"/>
              </a:rPr>
              <a:t>📅</a:t>
            </a:r>
          </a:p>
        </p:txBody>
      </p:sp>
      <p:sp>
        <p:nvSpPr>
          <p:cNvPr id="18" name="TextBox 17"/>
          <p:cNvSpPr txBox="1"/>
          <p:nvPr/>
        </p:nvSpPr>
        <p:spPr>
          <a:xfrm>
            <a:off x="4096512" y="3694176"/>
            <a:ext cx="7223760" cy="502920"/>
          </a:xfrm>
          <a:prstGeom prst="rect">
            <a:avLst/>
          </a:prstGeom>
          <a:noFill/>
        </p:spPr>
        <p:txBody>
          <a:bodyPr wrap="square" lIns="0" rIns="0" tIns="0" bIns="0" anchor="t">
            <a:spAutoFit/>
          </a:bodyPr>
          <a:lstStyle/>
          <a:p>
            <a:pPr algn="l">
              <a:spcBef>
                <a:spcPts val="0"/>
              </a:spcBef>
              <a:spcAft>
                <a:spcPts val="200"/>
              </a:spcAft>
            </a:pPr>
            <a:r>
              <a:rPr sz="1250" b="1" i="0">
                <a:solidFill>
                  <a:srgbClr val="14243E"/>
                </a:solidFill>
                <a:latin typeface="Segoe UI"/>
              </a:rPr>
              <a:t>2x Microsoft Intern</a:t>
            </a:r>
          </a:p>
          <a:p>
            <a:pPr algn="l">
              <a:lnSpc>
                <a:spcPct val="116000"/>
              </a:lnSpc>
              <a:spcBef>
                <a:spcPts val="0"/>
              </a:spcBef>
              <a:spcAft>
                <a:spcPts val="0"/>
              </a:spcAft>
            </a:pPr>
            <a:r>
              <a:rPr sz="1100" b="0" i="0">
                <a:solidFill>
                  <a:srgbClr val="605E5C"/>
                </a:solidFill>
                <a:latin typeface="Segoe UI"/>
              </a:rPr>
              <a:t>SWE + Explore</a:t>
            </a:r>
          </a:p>
        </p:txBody>
      </p:sp>
      <p:sp>
        <p:nvSpPr>
          <p:cNvPr id="19" name="Rounded Rectangle 18"/>
          <p:cNvSpPr/>
          <p:nvPr/>
        </p:nvSpPr>
        <p:spPr>
          <a:xfrm>
            <a:off x="3401568" y="4334256"/>
            <a:ext cx="8129016" cy="658368"/>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3401568" y="4334256"/>
            <a:ext cx="54864" cy="658368"/>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657600" y="4507992"/>
            <a:ext cx="365760" cy="365760"/>
          </a:xfrm>
          <a:prstGeom prst="rect">
            <a:avLst/>
          </a:prstGeom>
          <a:noFill/>
        </p:spPr>
        <p:txBody>
          <a:bodyPr wrap="square" lIns="0" rIns="0" tIns="0" bIns="0" anchor="t">
            <a:spAutoFit/>
          </a:bodyPr>
          <a:lstStyle/>
          <a:p>
            <a:pPr algn="l">
              <a:spcBef>
                <a:spcPts val="0"/>
              </a:spcBef>
              <a:spcAft>
                <a:spcPts val="0"/>
              </a:spcAft>
            </a:pPr>
            <a:r>
              <a:rPr sz="1400" b="0" i="0">
                <a:solidFill>
                  <a:srgbClr val="1B1A19"/>
                </a:solidFill>
                <a:latin typeface="Segoe UI"/>
              </a:rPr>
              <a:t>🔍</a:t>
            </a:r>
          </a:p>
        </p:txBody>
      </p:sp>
      <p:sp>
        <p:nvSpPr>
          <p:cNvPr id="22" name="TextBox 21"/>
          <p:cNvSpPr txBox="1"/>
          <p:nvPr/>
        </p:nvSpPr>
        <p:spPr>
          <a:xfrm>
            <a:off x="4096512" y="4443984"/>
            <a:ext cx="7223760" cy="502920"/>
          </a:xfrm>
          <a:prstGeom prst="rect">
            <a:avLst/>
          </a:prstGeom>
          <a:noFill/>
        </p:spPr>
        <p:txBody>
          <a:bodyPr wrap="square" lIns="0" rIns="0" tIns="0" bIns="0" anchor="t">
            <a:spAutoFit/>
          </a:bodyPr>
          <a:lstStyle/>
          <a:p>
            <a:pPr algn="l">
              <a:spcBef>
                <a:spcPts val="0"/>
              </a:spcBef>
              <a:spcAft>
                <a:spcPts val="200"/>
              </a:spcAft>
            </a:pPr>
            <a:r>
              <a:rPr sz="1250" b="1" i="0">
                <a:solidFill>
                  <a:srgbClr val="14243E"/>
                </a:solidFill>
                <a:latin typeface="Segoe UI"/>
              </a:rPr>
              <a:t>Favorite Memory</a:t>
            </a:r>
          </a:p>
          <a:p>
            <a:pPr algn="l">
              <a:lnSpc>
                <a:spcPct val="116000"/>
              </a:lnSpc>
              <a:spcBef>
                <a:spcPts val="0"/>
              </a:spcBef>
              <a:spcAft>
                <a:spcPts val="0"/>
              </a:spcAft>
            </a:pPr>
            <a:r>
              <a:rPr sz="1100" b="0" i="0">
                <a:solidFill>
                  <a:srgbClr val="605E5C"/>
                </a:solidFill>
                <a:latin typeface="Segoe UI"/>
              </a:rPr>
              <a:t>Bainbridge Island</a:t>
            </a:r>
          </a:p>
        </p:txBody>
      </p:sp>
      <p:sp>
        <p:nvSpPr>
          <p:cNvPr id="23" name="Rounded Rectangle 22"/>
          <p:cNvSpPr/>
          <p:nvPr/>
        </p:nvSpPr>
        <p:spPr>
          <a:xfrm>
            <a:off x="3401568" y="5084064"/>
            <a:ext cx="8129016" cy="658368"/>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3401568" y="5084064"/>
            <a:ext cx="54864" cy="658368"/>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657600" y="5257800"/>
            <a:ext cx="365760" cy="365760"/>
          </a:xfrm>
          <a:prstGeom prst="rect">
            <a:avLst/>
          </a:prstGeom>
          <a:noFill/>
        </p:spPr>
        <p:txBody>
          <a:bodyPr wrap="square" lIns="0" rIns="0" tIns="0" bIns="0" anchor="t">
            <a:spAutoFit/>
          </a:bodyPr>
          <a:lstStyle/>
          <a:p>
            <a:pPr algn="l">
              <a:spcBef>
                <a:spcPts val="0"/>
              </a:spcBef>
              <a:spcAft>
                <a:spcPts val="0"/>
              </a:spcAft>
            </a:pPr>
            <a:r>
              <a:rPr sz="1400" b="0" i="0">
                <a:solidFill>
                  <a:srgbClr val="1B1A19"/>
                </a:solidFill>
                <a:latin typeface="Segoe UI"/>
              </a:rPr>
              <a:t>⭐</a:t>
            </a:r>
          </a:p>
        </p:txBody>
      </p:sp>
      <p:sp>
        <p:nvSpPr>
          <p:cNvPr id="26" name="TextBox 25"/>
          <p:cNvSpPr txBox="1"/>
          <p:nvPr/>
        </p:nvSpPr>
        <p:spPr>
          <a:xfrm>
            <a:off x="4096512" y="5193792"/>
            <a:ext cx="7223760" cy="502920"/>
          </a:xfrm>
          <a:prstGeom prst="rect">
            <a:avLst/>
          </a:prstGeom>
          <a:noFill/>
        </p:spPr>
        <p:txBody>
          <a:bodyPr wrap="square" lIns="0" rIns="0" tIns="0" bIns="0" anchor="t">
            <a:spAutoFit/>
          </a:bodyPr>
          <a:lstStyle/>
          <a:p>
            <a:pPr algn="l">
              <a:spcBef>
                <a:spcPts val="0"/>
              </a:spcBef>
              <a:spcAft>
                <a:spcPts val="200"/>
              </a:spcAft>
            </a:pPr>
            <a:r>
              <a:rPr sz="1250" b="1" i="0">
                <a:solidFill>
                  <a:srgbClr val="14243E"/>
                </a:solidFill>
                <a:latin typeface="Segoe UI"/>
              </a:rPr>
              <a:t>Fun Fact</a:t>
            </a:r>
          </a:p>
          <a:p>
            <a:pPr algn="l">
              <a:lnSpc>
                <a:spcPct val="116000"/>
              </a:lnSpc>
              <a:spcBef>
                <a:spcPts val="0"/>
              </a:spcBef>
              <a:spcAft>
                <a:spcPts val="0"/>
              </a:spcAft>
            </a:pPr>
            <a:r>
              <a:rPr sz="1100" b="0" i="0">
                <a:solidFill>
                  <a:srgbClr val="605E5C"/>
                </a:solidFill>
                <a:latin typeface="Segoe UI"/>
              </a:rPr>
              <a:t>I have journaled every day for the past 600+ days</a:t>
            </a:r>
          </a:p>
        </p:txBody>
      </p:sp>
      <p:sp>
        <p:nvSpPr>
          <p:cNvPr id="27" name="TextBox 26"/>
          <p:cNvSpPr txBox="1"/>
          <p:nvPr/>
        </p:nvSpPr>
        <p:spPr>
          <a:xfrm>
            <a:off x="658368" y="6382512"/>
            <a:ext cx="8686800" cy="237744"/>
          </a:xfrm>
          <a:prstGeom prst="rect">
            <a:avLst/>
          </a:prstGeom>
          <a:noFill/>
        </p:spPr>
        <p:txBody>
          <a:bodyPr wrap="square" lIns="0" rIns="0" tIns="0" bIns="0" anchor="t">
            <a:spAutoFit/>
          </a:bodyPr>
          <a:lstStyle/>
          <a:p>
            <a:pPr algn="l">
              <a:spcBef>
                <a:spcPts val="0"/>
              </a:spcBef>
              <a:spcAft>
                <a:spcPts val="0"/>
              </a:spcAft>
            </a:pPr>
            <a:r>
              <a:rPr sz="900" b="0" i="0">
                <a:solidFill>
                  <a:srgbClr val="8A8886"/>
                </a:solidFill>
                <a:latin typeface="Segoe UI"/>
              </a:rPr>
              <a:t>Microsoft  ·  Agent Insights</a:t>
            </a:r>
          </a:p>
        </p:txBody>
      </p:sp>
      <p:sp>
        <p:nvSpPr>
          <p:cNvPr id="28" name="TextBox 27"/>
          <p:cNvSpPr txBox="1"/>
          <p:nvPr/>
        </p:nvSpPr>
        <p:spPr>
          <a:xfrm>
            <a:off x="10835640" y="6382512"/>
            <a:ext cx="694944" cy="237744"/>
          </a:xfrm>
          <a:prstGeom prst="rect">
            <a:avLst/>
          </a:prstGeom>
          <a:noFill/>
        </p:spPr>
        <p:txBody>
          <a:bodyPr wrap="square" lIns="0" rIns="0" tIns="0" bIns="0" anchor="t">
            <a:spAutoFit/>
          </a:bodyPr>
          <a:lstStyle/>
          <a:p>
            <a:pPr algn="r">
              <a:spcBef>
                <a:spcPts val="0"/>
              </a:spcBef>
              <a:spcAft>
                <a:spcPts val="0"/>
              </a:spcAft>
            </a:pPr>
            <a:r>
              <a:rPr sz="900" b="0" i="0">
                <a:solidFill>
                  <a:srgbClr val="8A8886"/>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4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64592" cy="685800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51560" y="2121408"/>
            <a:ext cx="1828800" cy="1280160"/>
          </a:xfrm>
          <a:prstGeom prst="rect">
            <a:avLst/>
          </a:prstGeom>
          <a:noFill/>
        </p:spPr>
        <p:txBody>
          <a:bodyPr wrap="square" lIns="0" rIns="0" tIns="0" bIns="0" anchor="t">
            <a:spAutoFit/>
          </a:bodyPr>
          <a:lstStyle/>
          <a:p>
            <a:pPr algn="l">
              <a:spcBef>
                <a:spcPts val="0"/>
              </a:spcBef>
              <a:spcAft>
                <a:spcPts val="0"/>
              </a:spcAft>
            </a:pPr>
            <a:r>
              <a:rPr sz="8800" b="1" i="0">
                <a:solidFill>
                  <a:srgbClr val="0078D4"/>
                </a:solidFill>
                <a:latin typeface="Segoe UI Light"/>
              </a:rPr>
              <a:t>01</a:t>
            </a:r>
          </a:p>
        </p:txBody>
      </p:sp>
      <p:sp>
        <p:nvSpPr>
          <p:cNvPr id="5" name="Rectangle 4"/>
          <p:cNvSpPr/>
          <p:nvPr/>
        </p:nvSpPr>
        <p:spPr>
          <a:xfrm>
            <a:off x="2788920" y="2212848"/>
            <a:ext cx="27432" cy="1828800"/>
          </a:xfrm>
          <a:prstGeom prst="rect">
            <a:avLst/>
          </a:prstGeom>
          <a:solidFill>
            <a:srgbClr val="3A4E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3246120" y="2286000"/>
            <a:ext cx="7863840" cy="1737360"/>
          </a:xfrm>
          <a:prstGeom prst="rect">
            <a:avLst/>
          </a:prstGeom>
          <a:noFill/>
        </p:spPr>
        <p:txBody>
          <a:bodyPr wrap="square" lIns="0" rIns="0" tIns="0" bIns="0" anchor="t">
            <a:spAutoFit/>
          </a:bodyPr>
          <a:lstStyle/>
          <a:p>
            <a:pPr algn="l">
              <a:lnSpc>
                <a:spcPct val="110000"/>
              </a:lnSpc>
              <a:spcBef>
                <a:spcPts val="0"/>
              </a:spcBef>
              <a:spcAft>
                <a:spcPts val="1200"/>
              </a:spcAft>
            </a:pPr>
            <a:r>
              <a:rPr sz="4200" b="0" i="0">
                <a:solidFill>
                  <a:srgbClr val="FFFFFF"/>
                </a:solidFill>
                <a:latin typeface="Segoe UI Light"/>
              </a:rPr>
              <a:t>Problem</a:t>
            </a:r>
          </a:p>
          <a:p>
            <a:pPr algn="l">
              <a:lnSpc>
                <a:spcPct val="130000"/>
              </a:lnSpc>
              <a:spcBef>
                <a:spcPts val="0"/>
              </a:spcBef>
              <a:spcAft>
                <a:spcPts val="0"/>
              </a:spcAft>
            </a:pPr>
            <a:r>
              <a:rPr sz="1550" b="0" i="0">
                <a:solidFill>
                  <a:srgbClr val="93A6C4"/>
                </a:solidFill>
                <a:latin typeface="Segoe UI"/>
              </a:rPr>
              <a:t>Agent runs are the most expensive and least observable
thing a developer starts all day.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47925" cy="685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47923" y="0"/>
            <a:ext cx="3047925" cy="68580"/>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6095847" y="0"/>
            <a:ext cx="3047925" cy="6858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143771" y="0"/>
            <a:ext cx="3047925" cy="68580"/>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384048"/>
            <a:ext cx="10872216" cy="237744"/>
          </a:xfrm>
          <a:prstGeom prst="rect">
            <a:avLst/>
          </a:prstGeom>
          <a:noFill/>
        </p:spPr>
        <p:txBody>
          <a:bodyPr wrap="square" lIns="0" rIns="0" tIns="0" bIns="0" anchor="t">
            <a:spAutoFit/>
          </a:bodyPr>
          <a:lstStyle/>
          <a:p>
            <a:pPr algn="l">
              <a:spcBef>
                <a:spcPts val="0"/>
              </a:spcBef>
              <a:spcAft>
                <a:spcPts val="0"/>
              </a:spcAft>
            </a:pPr>
            <a:r>
              <a:rPr sz="1050" b="1" i="0">
                <a:solidFill>
                  <a:srgbClr val="0078D4"/>
                </a:solidFill>
                <a:latin typeface="Segoe UI Semibold"/>
              </a:rPr>
              <a:t>01  PROBLEM · WHERE IT LIVES</a:t>
            </a:r>
          </a:p>
        </p:txBody>
      </p:sp>
      <p:sp>
        <p:nvSpPr>
          <p:cNvPr id="7" name="TextBox 6"/>
          <p:cNvSpPr txBox="1"/>
          <p:nvPr/>
        </p:nvSpPr>
        <p:spPr>
          <a:xfrm>
            <a:off x="658368" y="658368"/>
            <a:ext cx="10872216" cy="502920"/>
          </a:xfrm>
          <a:prstGeom prst="rect">
            <a:avLst/>
          </a:prstGeom>
          <a:noFill/>
        </p:spPr>
        <p:txBody>
          <a:bodyPr wrap="square" lIns="0" rIns="0" tIns="0" bIns="0" anchor="t">
            <a:spAutoFit/>
          </a:bodyPr>
          <a:lstStyle/>
          <a:p>
            <a:pPr algn="l">
              <a:spcBef>
                <a:spcPts val="0"/>
              </a:spcBef>
              <a:spcAft>
                <a:spcPts val="0"/>
              </a:spcAft>
            </a:pPr>
            <a:r>
              <a:rPr sz="2900" b="0" i="0">
                <a:solidFill>
                  <a:srgbClr val="14243E"/>
                </a:solidFill>
                <a:latin typeface="Segoe UI Light"/>
              </a:rPr>
              <a:t>Why this is a VS Code problem</a:t>
            </a:r>
          </a:p>
        </p:txBody>
      </p:sp>
      <p:sp>
        <p:nvSpPr>
          <p:cNvPr id="8" name="TextBox 7"/>
          <p:cNvSpPr txBox="1"/>
          <p:nvPr/>
        </p:nvSpPr>
        <p:spPr>
          <a:xfrm>
            <a:off x="658368" y="1207008"/>
            <a:ext cx="10872216" cy="329184"/>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605E5C"/>
                </a:solidFill>
                <a:latin typeface="Segoe UI"/>
              </a:rPr>
              <a:t>The team ships the editor most of these agents now run inside.</a:t>
            </a:r>
          </a:p>
        </p:txBody>
      </p:sp>
      <p:sp>
        <p:nvSpPr>
          <p:cNvPr id="9" name="Rectangle 8"/>
          <p:cNvSpPr/>
          <p:nvPr/>
        </p:nvSpPr>
        <p:spPr>
          <a:xfrm>
            <a:off x="658368" y="1591056"/>
            <a:ext cx="960120" cy="320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58368" y="1737360"/>
            <a:ext cx="10872216" cy="969264"/>
          </a:xfrm>
          <a:prstGeom prst="roundRect">
            <a:avLst>
              <a:gd name="adj" fmla="val 4500"/>
            </a:avLst>
          </a:prstGeom>
          <a:solidFill>
            <a:srgbClr val="14243E"/>
          </a:solidFill>
          <a:ln w="12700">
            <a:solidFill>
              <a:srgbClr val="14243E"/>
            </a:solidFill>
          </a:ln>
          <a:effectLst/>
        </p:spPr>
        <p:style>
          <a:lnRef idx="1">
            <a:schemeClr val="accent1"/>
          </a:lnRef>
          <a:fillRef idx="3">
            <a:schemeClr val="accent1"/>
          </a:fillRef>
          <a:effectRef idx="2">
            <a:schemeClr val="accent1"/>
          </a:effectRef>
          <a:fontRef idx="minor">
            <a:schemeClr val="lt1"/>
          </a:fontRef>
        </p:style>
        <p:txBody>
          <a:bodyPr rtlCol="0" anchor="ctr" wrap="square" lIns="384048" rIns="329184"/>
          <a:lstStyle/>
          <a:p>
            <a:pPr algn="l">
              <a:lnSpc>
                <a:spcPct val="125000"/>
              </a:lnSpc>
              <a:spcBef>
                <a:spcPts val="0"/>
              </a:spcBef>
              <a:spcAft>
                <a:spcPts val="0"/>
              </a:spcAft>
            </a:pPr>
            <a:r>
              <a:rPr sz="1600" b="1" i="0">
                <a:solidFill>
                  <a:srgbClr val="FFFFFF"/>
                </a:solidFill>
                <a:latin typeface="Segoe UI"/>
              </a:rPr>
              <a:t>VS Code is where coding agents actually run. </a:t>
            </a:r>
            <a:r>
              <a:rPr sz="1600" b="0" i="0">
                <a:solidFill>
                  <a:srgbClr val="B9C8E0"/>
                </a:solidFill>
                <a:latin typeface="Segoe UI"/>
              </a:rPr>
              <a:t>That makes the editor the only place on the machine that can see all of them at once — and the only place a developer would trust with what they say.</a:t>
            </a:r>
          </a:p>
        </p:txBody>
      </p:sp>
      <p:sp>
        <p:nvSpPr>
          <p:cNvPr id="11" name="Rectangle 10"/>
          <p:cNvSpPr/>
          <p:nvPr/>
        </p:nvSpPr>
        <p:spPr>
          <a:xfrm>
            <a:off x="658368" y="1737360"/>
            <a:ext cx="68580" cy="969264"/>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58368" y="2944368"/>
            <a:ext cx="2615184" cy="1920240"/>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219456"/>
          <a:lstStyle/>
          <a:p>
            <a:pPr algn="l">
              <a:lnSpc>
                <a:spcPct val="114000"/>
              </a:lnSpc>
              <a:spcBef>
                <a:spcPts val="0"/>
              </a:spcBef>
              <a:spcAft>
                <a:spcPts val="700"/>
              </a:spcAft>
            </a:pPr>
            <a:r>
              <a:rPr sz="1250" b="1" i="0">
                <a:solidFill>
                  <a:srgbClr val="14243E"/>
                </a:solidFill>
                <a:latin typeface="Segoe UI"/>
              </a:rPr>
              <a:t>The editor became the host</a:t>
            </a:r>
          </a:p>
          <a:p>
            <a:pPr algn="l">
              <a:lnSpc>
                <a:spcPct val="122000"/>
              </a:lnSpc>
              <a:spcBef>
                <a:spcPts val="0"/>
              </a:spcBef>
              <a:spcAft>
                <a:spcPts val="0"/>
              </a:spcAft>
            </a:pPr>
            <a:r>
              <a:rPr sz="1050" b="0" i="0">
                <a:solidFill>
                  <a:srgbClr val="605E5C"/>
                </a:solidFill>
                <a:latin typeface="Segoe UI"/>
              </a:rPr>
              <a:t>Agent Host runs Claude Code and Codex as sessions inside VS Code, alongside Copilot.</a:t>
            </a:r>
          </a:p>
        </p:txBody>
      </p:sp>
      <p:sp>
        <p:nvSpPr>
          <p:cNvPr id="13" name="Rectangle 12"/>
          <p:cNvSpPr/>
          <p:nvPr/>
        </p:nvSpPr>
        <p:spPr>
          <a:xfrm>
            <a:off x="658368" y="2944368"/>
            <a:ext cx="2615184" cy="50292"/>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3415284" y="2944368"/>
            <a:ext cx="2615184" cy="1920240"/>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219456"/>
          <a:lstStyle/>
          <a:p>
            <a:pPr algn="l">
              <a:lnSpc>
                <a:spcPct val="114000"/>
              </a:lnSpc>
              <a:spcBef>
                <a:spcPts val="0"/>
              </a:spcBef>
              <a:spcAft>
                <a:spcPts val="700"/>
              </a:spcAft>
            </a:pPr>
            <a:r>
              <a:rPr sz="1250" b="1" i="0">
                <a:solidFill>
                  <a:srgbClr val="14243E"/>
                </a:solidFill>
                <a:latin typeface="Segoe UI"/>
              </a:rPr>
              <a:t>VS Code is already in the path</a:t>
            </a:r>
          </a:p>
          <a:p>
            <a:pPr algn="l">
              <a:lnSpc>
                <a:spcPct val="122000"/>
              </a:lnSpc>
              <a:spcBef>
                <a:spcPts val="0"/>
              </a:spcBef>
              <a:spcAft>
                <a:spcPts val="0"/>
              </a:spcAft>
            </a:pPr>
            <a:r>
              <a:rPr sz="1050" b="0" i="0">
                <a:solidFill>
                  <a:srgbClr val="605E5C"/>
                </a:solidFill>
                <a:latin typeface="Segoe UI"/>
              </a:rPr>
              <a:t>The host routes their telemetry and stamps its own conversation id onto it.</a:t>
            </a:r>
          </a:p>
        </p:txBody>
      </p:sp>
      <p:sp>
        <p:nvSpPr>
          <p:cNvPr id="15" name="Rectangle 14"/>
          <p:cNvSpPr/>
          <p:nvPr/>
        </p:nvSpPr>
        <p:spPr>
          <a:xfrm>
            <a:off x="3415284" y="2944368"/>
            <a:ext cx="2615184" cy="50292"/>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6172200" y="2944368"/>
            <a:ext cx="2615184" cy="1920240"/>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219456"/>
          <a:lstStyle/>
          <a:p>
            <a:pPr algn="l">
              <a:lnSpc>
                <a:spcPct val="114000"/>
              </a:lnSpc>
              <a:spcBef>
                <a:spcPts val="0"/>
              </a:spcBef>
              <a:spcAft>
                <a:spcPts val="700"/>
              </a:spcAft>
            </a:pPr>
            <a:r>
              <a:rPr sz="1250" b="1" i="0">
                <a:solidFill>
                  <a:srgbClr val="14243E"/>
                </a:solidFill>
                <a:latin typeface="Segoe UI"/>
              </a:rPr>
              <a:t>Agent cost became a real concern</a:t>
            </a:r>
          </a:p>
          <a:p>
            <a:pPr algn="l">
              <a:lnSpc>
                <a:spcPct val="122000"/>
              </a:lnSpc>
              <a:spcBef>
                <a:spcPts val="0"/>
              </a:spcBef>
              <a:spcAft>
                <a:spcPts val="0"/>
              </a:spcAft>
            </a:pPr>
            <a:r>
              <a:rPr sz="1050" b="0" i="0">
                <a:solidFill>
                  <a:srgbClr val="605E5C"/>
                </a:solidFill>
                <a:latin typeface="Segoe UI"/>
              </a:rPr>
              <a:t>Tokens, cache hit rate and failed runs are day-to-day questions now — including for this team.</a:t>
            </a:r>
          </a:p>
        </p:txBody>
      </p:sp>
      <p:sp>
        <p:nvSpPr>
          <p:cNvPr id="17" name="Rectangle 16"/>
          <p:cNvSpPr/>
          <p:nvPr/>
        </p:nvSpPr>
        <p:spPr>
          <a:xfrm>
            <a:off x="6172200" y="2944368"/>
            <a:ext cx="2615184" cy="50292"/>
          </a:xfrm>
          <a:prstGeom prst="rect">
            <a:avLst/>
          </a:prstGeom>
          <a:solidFill>
            <a:srgbClr val="E87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8929116" y="2944368"/>
            <a:ext cx="2615184" cy="1920240"/>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219456"/>
          <a:lstStyle/>
          <a:p>
            <a:pPr algn="l">
              <a:lnSpc>
                <a:spcPct val="114000"/>
              </a:lnSpc>
              <a:spcBef>
                <a:spcPts val="0"/>
              </a:spcBef>
              <a:spcAft>
                <a:spcPts val="700"/>
              </a:spcAft>
            </a:pPr>
            <a:r>
              <a:rPr sz="1250" b="1" i="0">
                <a:solidFill>
                  <a:srgbClr val="14243E"/>
                </a:solidFill>
                <a:latin typeface="Segoe UI"/>
              </a:rPr>
              <a:t>It has to stay local</a:t>
            </a:r>
          </a:p>
          <a:p>
            <a:pPr algn="l">
              <a:lnSpc>
                <a:spcPct val="122000"/>
              </a:lnSpc>
              <a:spcBef>
                <a:spcPts val="0"/>
              </a:spcBef>
              <a:spcAft>
                <a:spcPts val="0"/>
              </a:spcAft>
            </a:pPr>
            <a:r>
              <a:rPr sz="1050" b="0" i="0">
                <a:solidFill>
                  <a:srgbClr val="605E5C"/>
                </a:solidFill>
                <a:latin typeface="Segoe UI"/>
              </a:rPr>
              <a:t>Prompts, model replies, tool arguments, source code. Exactly what you cannot send to a shared collector.</a:t>
            </a:r>
          </a:p>
        </p:txBody>
      </p:sp>
      <p:sp>
        <p:nvSpPr>
          <p:cNvPr id="19" name="Rectangle 18"/>
          <p:cNvSpPr/>
          <p:nvPr/>
        </p:nvSpPr>
        <p:spPr>
          <a:xfrm>
            <a:off x="8929116" y="2944368"/>
            <a:ext cx="2615184" cy="50292"/>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658368" y="5358384"/>
            <a:ext cx="10872216" cy="731520"/>
          </a:xfrm>
          <a:prstGeom prst="roundRect">
            <a:avLst>
              <a:gd name="adj" fmla="val 4500"/>
            </a:avLst>
          </a:prstGeom>
          <a:solidFill>
            <a:srgbClr val="F0F3F9"/>
          </a:solidFill>
          <a:ln w="12700">
            <a:solidFill>
              <a:srgbClr val="F0F3F9"/>
            </a:solid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310896"/>
          <a:lstStyle/>
          <a:p>
            <a:pPr algn="l">
              <a:lnSpc>
                <a:spcPct val="122000"/>
              </a:lnSpc>
              <a:spcBef>
                <a:spcPts val="0"/>
              </a:spcBef>
              <a:spcAft>
                <a:spcPts val="0"/>
              </a:spcAft>
            </a:pPr>
            <a:r>
              <a:rPr sz="1300" b="1" i="0">
                <a:solidFill>
                  <a:srgbClr val="0078D4"/>
                </a:solidFill>
                <a:latin typeface="Segoe UI"/>
              </a:rPr>
              <a:t>So the observability has to live in the editor too. </a:t>
            </a:r>
            <a:r>
              <a:rPr sz="1300" b="0" i="0">
                <a:solidFill>
                  <a:srgbClr val="14243E"/>
                </a:solidFill>
                <a:latin typeface="Segoe UI"/>
              </a:rPr>
              <a:t>Not in a cloud dashboard, not in a separate app — next to the thing it describes, on your own machine.</a:t>
            </a:r>
          </a:p>
        </p:txBody>
      </p:sp>
      <p:sp>
        <p:nvSpPr>
          <p:cNvPr id="21" name="TextBox 20"/>
          <p:cNvSpPr txBox="1"/>
          <p:nvPr/>
        </p:nvSpPr>
        <p:spPr>
          <a:xfrm>
            <a:off x="658368" y="6382512"/>
            <a:ext cx="8686800" cy="237744"/>
          </a:xfrm>
          <a:prstGeom prst="rect">
            <a:avLst/>
          </a:prstGeom>
          <a:noFill/>
        </p:spPr>
        <p:txBody>
          <a:bodyPr wrap="square" lIns="0" rIns="0" tIns="0" bIns="0" anchor="t">
            <a:spAutoFit/>
          </a:bodyPr>
          <a:lstStyle/>
          <a:p>
            <a:pPr algn="l">
              <a:spcBef>
                <a:spcPts val="0"/>
              </a:spcBef>
              <a:spcAft>
                <a:spcPts val="0"/>
              </a:spcAft>
            </a:pPr>
            <a:r>
              <a:rPr sz="900" b="0" i="0">
                <a:solidFill>
                  <a:srgbClr val="8A8886"/>
                </a:solidFill>
                <a:latin typeface="Segoe UI"/>
              </a:rPr>
              <a:t>Microsoft  ·  Agent Insights</a:t>
            </a:r>
          </a:p>
        </p:txBody>
      </p:sp>
      <p:sp>
        <p:nvSpPr>
          <p:cNvPr id="22" name="TextBox 21"/>
          <p:cNvSpPr txBox="1"/>
          <p:nvPr/>
        </p:nvSpPr>
        <p:spPr>
          <a:xfrm>
            <a:off x="10835640" y="6382512"/>
            <a:ext cx="694944" cy="237744"/>
          </a:xfrm>
          <a:prstGeom prst="rect">
            <a:avLst/>
          </a:prstGeom>
          <a:noFill/>
        </p:spPr>
        <p:txBody>
          <a:bodyPr wrap="square" lIns="0" rIns="0" tIns="0" bIns="0" anchor="t">
            <a:spAutoFit/>
          </a:bodyPr>
          <a:lstStyle/>
          <a:p>
            <a:pPr algn="r">
              <a:spcBef>
                <a:spcPts val="0"/>
              </a:spcBef>
              <a:spcAft>
                <a:spcPts val="0"/>
              </a:spcAft>
            </a:pPr>
            <a:r>
              <a:rPr sz="900" b="0" i="0">
                <a:solidFill>
                  <a:srgbClr val="8A8886"/>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47925" cy="685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47923" y="0"/>
            <a:ext cx="3047925" cy="68580"/>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6095847" y="0"/>
            <a:ext cx="3047925" cy="6858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143771" y="0"/>
            <a:ext cx="3047925" cy="68580"/>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384048"/>
            <a:ext cx="10872216" cy="237744"/>
          </a:xfrm>
          <a:prstGeom prst="rect">
            <a:avLst/>
          </a:prstGeom>
          <a:noFill/>
        </p:spPr>
        <p:txBody>
          <a:bodyPr wrap="square" lIns="0" rIns="0" tIns="0" bIns="0" anchor="t">
            <a:spAutoFit/>
          </a:bodyPr>
          <a:lstStyle/>
          <a:p>
            <a:pPr algn="l">
              <a:spcBef>
                <a:spcPts val="0"/>
              </a:spcBef>
              <a:spcAft>
                <a:spcPts val="0"/>
              </a:spcAft>
            </a:pPr>
            <a:r>
              <a:rPr sz="1050" b="1" i="0">
                <a:solidFill>
                  <a:srgbClr val="0078D4"/>
                </a:solidFill>
                <a:latin typeface="Segoe UI Semibold"/>
              </a:rPr>
              <a:t>01  PROBLEM · THE STANDARD</a:t>
            </a:r>
          </a:p>
        </p:txBody>
      </p:sp>
      <p:sp>
        <p:nvSpPr>
          <p:cNvPr id="7" name="TextBox 6"/>
          <p:cNvSpPr txBox="1"/>
          <p:nvPr/>
        </p:nvSpPr>
        <p:spPr>
          <a:xfrm>
            <a:off x="658368" y="658368"/>
            <a:ext cx="10872216" cy="502920"/>
          </a:xfrm>
          <a:prstGeom prst="rect">
            <a:avLst/>
          </a:prstGeom>
          <a:noFill/>
        </p:spPr>
        <p:txBody>
          <a:bodyPr wrap="square" lIns="0" rIns="0" tIns="0" bIns="0" anchor="t">
            <a:spAutoFit/>
          </a:bodyPr>
          <a:lstStyle/>
          <a:p>
            <a:pPr algn="l">
              <a:spcBef>
                <a:spcPts val="0"/>
              </a:spcBef>
              <a:spcAft>
                <a:spcPts val="0"/>
              </a:spcAft>
            </a:pPr>
            <a:r>
              <a:rPr sz="2900" b="0" i="0">
                <a:solidFill>
                  <a:srgbClr val="14243E"/>
                </a:solidFill>
                <a:latin typeface="Segoe UI Light"/>
              </a:rPr>
              <a:t>OpenTelemetry, in thirty seconds</a:t>
            </a:r>
          </a:p>
        </p:txBody>
      </p:sp>
      <p:sp>
        <p:nvSpPr>
          <p:cNvPr id="8" name="TextBox 7"/>
          <p:cNvSpPr txBox="1"/>
          <p:nvPr/>
        </p:nvSpPr>
        <p:spPr>
          <a:xfrm>
            <a:off x="658368" y="1207008"/>
            <a:ext cx="10872216" cy="329184"/>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605E5C"/>
                </a:solidFill>
                <a:latin typeface="Segoe UI"/>
              </a:rPr>
              <a:t>An open standard for recording what a program did while it ran — and all three agents already speak it.</a:t>
            </a:r>
          </a:p>
        </p:txBody>
      </p:sp>
      <p:sp>
        <p:nvSpPr>
          <p:cNvPr id="9" name="Rectangle 8"/>
          <p:cNvSpPr/>
          <p:nvPr/>
        </p:nvSpPr>
        <p:spPr>
          <a:xfrm>
            <a:off x="658368" y="1591056"/>
            <a:ext cx="960120" cy="320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58368" y="1773936"/>
            <a:ext cx="6400800" cy="4041648"/>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58368" y="1773936"/>
            <a:ext cx="6400800" cy="50292"/>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32688" y="1975104"/>
            <a:ext cx="5852160" cy="274320"/>
          </a:xfrm>
          <a:prstGeom prst="rect">
            <a:avLst/>
          </a:prstGeom>
          <a:noFill/>
        </p:spPr>
        <p:txBody>
          <a:bodyPr wrap="square" lIns="0" rIns="0" tIns="0" bIns="0" anchor="t">
            <a:spAutoFit/>
          </a:bodyPr>
          <a:lstStyle/>
          <a:p>
            <a:pPr algn="l">
              <a:spcBef>
                <a:spcPts val="0"/>
              </a:spcBef>
              <a:spcAft>
                <a:spcPts val="0"/>
              </a:spcAft>
            </a:pPr>
            <a:r>
              <a:rPr sz="1050" b="1" i="0">
                <a:solidFill>
                  <a:srgbClr val="0078D4"/>
                </a:solidFill>
                <a:latin typeface="Segoe UI Semibold"/>
              </a:rPr>
              <a:t>A TRACE IS A TREE OF SPANS</a:t>
            </a:r>
          </a:p>
        </p:txBody>
      </p:sp>
      <p:sp>
        <p:nvSpPr>
          <p:cNvPr id="13" name="TextBox 12"/>
          <p:cNvSpPr txBox="1"/>
          <p:nvPr/>
        </p:nvSpPr>
        <p:spPr>
          <a:xfrm>
            <a:off x="969264" y="2395728"/>
            <a:ext cx="2743200" cy="256032"/>
          </a:xfrm>
          <a:prstGeom prst="rect">
            <a:avLst/>
          </a:prstGeom>
          <a:noFill/>
        </p:spPr>
        <p:txBody>
          <a:bodyPr wrap="square" lIns="0" rIns="0" tIns="0" bIns="0" anchor="t">
            <a:spAutoFit/>
          </a:bodyPr>
          <a:lstStyle/>
          <a:p>
            <a:pPr algn="l">
              <a:spcBef>
                <a:spcPts val="0"/>
              </a:spcBef>
              <a:spcAft>
                <a:spcPts val="0"/>
              </a:spcAft>
            </a:pPr>
            <a:r>
              <a:rPr sz="1050" b="1" i="0">
                <a:solidFill>
                  <a:srgbClr val="14243E"/>
                </a:solidFill>
                <a:latin typeface="Consolas"/>
              </a:rPr>
              <a:t>chat turn</a:t>
            </a:r>
          </a:p>
        </p:txBody>
      </p:sp>
      <p:sp>
        <p:nvSpPr>
          <p:cNvPr id="14" name="Rounded Rectangle 13"/>
          <p:cNvSpPr/>
          <p:nvPr/>
        </p:nvSpPr>
        <p:spPr>
          <a:xfrm>
            <a:off x="3785616" y="2436876"/>
            <a:ext cx="2377440" cy="173736"/>
          </a:xfrm>
          <a:prstGeom prst="roundRect">
            <a:avLst>
              <a:gd name="adj" fmla="val 3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272784" y="2395728"/>
            <a:ext cx="822960" cy="256032"/>
          </a:xfrm>
          <a:prstGeom prst="rect">
            <a:avLst/>
          </a:prstGeom>
          <a:noFill/>
        </p:spPr>
        <p:txBody>
          <a:bodyPr wrap="square" lIns="0" rIns="0" tIns="0" bIns="0" anchor="t">
            <a:spAutoFit/>
          </a:bodyPr>
          <a:lstStyle/>
          <a:p>
            <a:pPr algn="l">
              <a:spcBef>
                <a:spcPts val="0"/>
              </a:spcBef>
              <a:spcAft>
                <a:spcPts val="0"/>
              </a:spcAft>
            </a:pPr>
            <a:r>
              <a:rPr sz="950" b="0" i="0">
                <a:solidFill>
                  <a:srgbClr val="8A8886"/>
                </a:solidFill>
                <a:latin typeface="Consolas"/>
              </a:rPr>
              <a:t>2.40 s</a:t>
            </a:r>
          </a:p>
        </p:txBody>
      </p:sp>
      <p:sp>
        <p:nvSpPr>
          <p:cNvPr id="16" name="TextBox 15"/>
          <p:cNvSpPr txBox="1"/>
          <p:nvPr/>
        </p:nvSpPr>
        <p:spPr>
          <a:xfrm>
            <a:off x="1207008" y="2779776"/>
            <a:ext cx="2743200" cy="256032"/>
          </a:xfrm>
          <a:prstGeom prst="rect">
            <a:avLst/>
          </a:prstGeom>
          <a:noFill/>
        </p:spPr>
        <p:txBody>
          <a:bodyPr wrap="square" lIns="0" rIns="0" tIns="0" bIns="0" anchor="t">
            <a:spAutoFit/>
          </a:bodyPr>
          <a:lstStyle/>
          <a:p>
            <a:pPr algn="l">
              <a:spcBef>
                <a:spcPts val="0"/>
              </a:spcBef>
              <a:spcAft>
                <a:spcPts val="0"/>
              </a:spcAft>
            </a:pPr>
            <a:r>
              <a:rPr sz="1050" b="0" i="0">
                <a:solidFill>
                  <a:srgbClr val="605E5C"/>
                </a:solidFill>
                <a:latin typeface="Consolas"/>
              </a:rPr>
              <a:t>model call</a:t>
            </a:r>
          </a:p>
        </p:txBody>
      </p:sp>
      <p:sp>
        <p:nvSpPr>
          <p:cNvPr id="17" name="Rounded Rectangle 16"/>
          <p:cNvSpPr/>
          <p:nvPr/>
        </p:nvSpPr>
        <p:spPr>
          <a:xfrm>
            <a:off x="3825240" y="2820924"/>
            <a:ext cx="1882140" cy="173736"/>
          </a:xfrm>
          <a:prstGeom prst="roundRect">
            <a:avLst>
              <a:gd name="adj" fmla="val 30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272784" y="2779776"/>
            <a:ext cx="822960" cy="256032"/>
          </a:xfrm>
          <a:prstGeom prst="rect">
            <a:avLst/>
          </a:prstGeom>
          <a:noFill/>
        </p:spPr>
        <p:txBody>
          <a:bodyPr wrap="square" lIns="0" rIns="0" tIns="0" bIns="0" anchor="t">
            <a:spAutoFit/>
          </a:bodyPr>
          <a:lstStyle/>
          <a:p>
            <a:pPr algn="l">
              <a:spcBef>
                <a:spcPts val="0"/>
              </a:spcBef>
              <a:spcAft>
                <a:spcPts val="0"/>
              </a:spcAft>
            </a:pPr>
            <a:r>
              <a:rPr sz="950" b="0" i="0">
                <a:solidFill>
                  <a:srgbClr val="8A8886"/>
                </a:solidFill>
                <a:latin typeface="Consolas"/>
              </a:rPr>
              <a:t>1.90 s</a:t>
            </a:r>
          </a:p>
        </p:txBody>
      </p:sp>
      <p:sp>
        <p:nvSpPr>
          <p:cNvPr id="19" name="TextBox 18"/>
          <p:cNvSpPr txBox="1"/>
          <p:nvPr/>
        </p:nvSpPr>
        <p:spPr>
          <a:xfrm>
            <a:off x="1444752" y="3163824"/>
            <a:ext cx="2743200" cy="256032"/>
          </a:xfrm>
          <a:prstGeom prst="rect">
            <a:avLst/>
          </a:prstGeom>
          <a:noFill/>
        </p:spPr>
        <p:txBody>
          <a:bodyPr wrap="square" lIns="0" rIns="0" tIns="0" bIns="0" anchor="t">
            <a:spAutoFit/>
          </a:bodyPr>
          <a:lstStyle/>
          <a:p>
            <a:pPr algn="l">
              <a:spcBef>
                <a:spcPts val="0"/>
              </a:spcBef>
              <a:spcAft>
                <a:spcPts val="0"/>
              </a:spcAft>
            </a:pPr>
            <a:r>
              <a:rPr sz="1050" b="0" i="0">
                <a:solidFill>
                  <a:srgbClr val="605E5C"/>
                </a:solidFill>
                <a:latin typeface="Consolas"/>
              </a:rPr>
              <a:t>http POST /messages</a:t>
            </a:r>
          </a:p>
        </p:txBody>
      </p:sp>
      <p:sp>
        <p:nvSpPr>
          <p:cNvPr id="20" name="Rounded Rectangle 19"/>
          <p:cNvSpPr/>
          <p:nvPr/>
        </p:nvSpPr>
        <p:spPr>
          <a:xfrm>
            <a:off x="3884676" y="3204972"/>
            <a:ext cx="1684020" cy="173736"/>
          </a:xfrm>
          <a:prstGeom prst="roundRect">
            <a:avLst>
              <a:gd name="adj" fmla="val 30000"/>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272784" y="3163824"/>
            <a:ext cx="822960" cy="256032"/>
          </a:xfrm>
          <a:prstGeom prst="rect">
            <a:avLst/>
          </a:prstGeom>
          <a:noFill/>
        </p:spPr>
        <p:txBody>
          <a:bodyPr wrap="square" lIns="0" rIns="0" tIns="0" bIns="0" anchor="t">
            <a:spAutoFit/>
          </a:bodyPr>
          <a:lstStyle/>
          <a:p>
            <a:pPr algn="l">
              <a:spcBef>
                <a:spcPts val="0"/>
              </a:spcBef>
              <a:spcAft>
                <a:spcPts val="0"/>
              </a:spcAft>
            </a:pPr>
            <a:r>
              <a:rPr sz="950" b="0" i="0">
                <a:solidFill>
                  <a:srgbClr val="8A8886"/>
                </a:solidFill>
                <a:latin typeface="Consolas"/>
              </a:rPr>
              <a:t>1.70 s</a:t>
            </a:r>
          </a:p>
        </p:txBody>
      </p:sp>
      <p:sp>
        <p:nvSpPr>
          <p:cNvPr id="22" name="TextBox 21"/>
          <p:cNvSpPr txBox="1"/>
          <p:nvPr/>
        </p:nvSpPr>
        <p:spPr>
          <a:xfrm>
            <a:off x="1207008" y="3547872"/>
            <a:ext cx="2743200" cy="256032"/>
          </a:xfrm>
          <a:prstGeom prst="rect">
            <a:avLst/>
          </a:prstGeom>
          <a:noFill/>
        </p:spPr>
        <p:txBody>
          <a:bodyPr wrap="square" lIns="0" rIns="0" tIns="0" bIns="0" anchor="t">
            <a:spAutoFit/>
          </a:bodyPr>
          <a:lstStyle/>
          <a:p>
            <a:pPr algn="l">
              <a:spcBef>
                <a:spcPts val="0"/>
              </a:spcBef>
              <a:spcAft>
                <a:spcPts val="0"/>
              </a:spcAft>
            </a:pPr>
            <a:r>
              <a:rPr sz="1050" b="0" i="0">
                <a:solidFill>
                  <a:srgbClr val="605E5C"/>
                </a:solidFill>
                <a:latin typeface="Consolas"/>
              </a:rPr>
              <a:t>tool call · read_file</a:t>
            </a:r>
          </a:p>
        </p:txBody>
      </p:sp>
      <p:sp>
        <p:nvSpPr>
          <p:cNvPr id="23" name="Rounded Rectangle 22"/>
          <p:cNvSpPr/>
          <p:nvPr/>
        </p:nvSpPr>
        <p:spPr>
          <a:xfrm>
            <a:off x="5727192" y="3589020"/>
            <a:ext cx="257556" cy="173736"/>
          </a:xfrm>
          <a:prstGeom prst="roundRect">
            <a:avLst>
              <a:gd name="adj" fmla="val 30000"/>
            </a:avLst>
          </a:prstGeom>
          <a:solidFill>
            <a:srgbClr val="E87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272784" y="3547872"/>
            <a:ext cx="822960" cy="256032"/>
          </a:xfrm>
          <a:prstGeom prst="rect">
            <a:avLst/>
          </a:prstGeom>
          <a:noFill/>
        </p:spPr>
        <p:txBody>
          <a:bodyPr wrap="square" lIns="0" rIns="0" tIns="0" bIns="0" anchor="t">
            <a:spAutoFit/>
          </a:bodyPr>
          <a:lstStyle/>
          <a:p>
            <a:pPr algn="l">
              <a:spcBef>
                <a:spcPts val="0"/>
              </a:spcBef>
              <a:spcAft>
                <a:spcPts val="0"/>
              </a:spcAft>
            </a:pPr>
            <a:r>
              <a:rPr sz="950" b="0" i="0">
                <a:solidFill>
                  <a:srgbClr val="8A8886"/>
                </a:solidFill>
                <a:latin typeface="Consolas"/>
              </a:rPr>
              <a:t>0.26 s</a:t>
            </a:r>
          </a:p>
        </p:txBody>
      </p:sp>
      <p:sp>
        <p:nvSpPr>
          <p:cNvPr id="25" name="TextBox 24"/>
          <p:cNvSpPr txBox="1"/>
          <p:nvPr/>
        </p:nvSpPr>
        <p:spPr>
          <a:xfrm>
            <a:off x="1207008" y="3931920"/>
            <a:ext cx="2743200" cy="256032"/>
          </a:xfrm>
          <a:prstGeom prst="rect">
            <a:avLst/>
          </a:prstGeom>
          <a:noFill/>
        </p:spPr>
        <p:txBody>
          <a:bodyPr wrap="square" lIns="0" rIns="0" tIns="0" bIns="0" anchor="t">
            <a:spAutoFit/>
          </a:bodyPr>
          <a:lstStyle/>
          <a:p>
            <a:pPr algn="l">
              <a:spcBef>
                <a:spcPts val="0"/>
              </a:spcBef>
              <a:spcAft>
                <a:spcPts val="0"/>
              </a:spcAft>
            </a:pPr>
            <a:r>
              <a:rPr sz="1050" b="0" i="0">
                <a:solidFill>
                  <a:srgbClr val="605E5C"/>
                </a:solidFill>
                <a:latin typeface="Consolas"/>
              </a:rPr>
              <a:t>tool call · edit_file</a:t>
            </a:r>
          </a:p>
        </p:txBody>
      </p:sp>
      <p:sp>
        <p:nvSpPr>
          <p:cNvPr id="26" name="Rounded Rectangle 25"/>
          <p:cNvSpPr/>
          <p:nvPr/>
        </p:nvSpPr>
        <p:spPr>
          <a:xfrm>
            <a:off x="5984748" y="3973068"/>
            <a:ext cx="178308" cy="173736"/>
          </a:xfrm>
          <a:prstGeom prst="roundRect">
            <a:avLst>
              <a:gd name="adj" fmla="val 30000"/>
            </a:avLst>
          </a:prstGeom>
          <a:solidFill>
            <a:srgbClr val="E87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272784" y="3931920"/>
            <a:ext cx="822960" cy="256032"/>
          </a:xfrm>
          <a:prstGeom prst="rect">
            <a:avLst/>
          </a:prstGeom>
          <a:noFill/>
        </p:spPr>
        <p:txBody>
          <a:bodyPr wrap="square" lIns="0" rIns="0" tIns="0" bIns="0" anchor="t">
            <a:spAutoFit/>
          </a:bodyPr>
          <a:lstStyle/>
          <a:p>
            <a:pPr algn="l">
              <a:spcBef>
                <a:spcPts val="0"/>
              </a:spcBef>
              <a:spcAft>
                <a:spcPts val="0"/>
              </a:spcAft>
            </a:pPr>
            <a:r>
              <a:rPr sz="950" b="0" i="0">
                <a:solidFill>
                  <a:srgbClr val="8A8886"/>
                </a:solidFill>
                <a:latin typeface="Consolas"/>
              </a:rPr>
              <a:t>0.18 s</a:t>
            </a:r>
          </a:p>
        </p:txBody>
      </p:sp>
      <p:sp>
        <p:nvSpPr>
          <p:cNvPr id="28" name="Rounded Rectangle 27"/>
          <p:cNvSpPr/>
          <p:nvPr/>
        </p:nvSpPr>
        <p:spPr>
          <a:xfrm>
            <a:off x="969264" y="4462272"/>
            <a:ext cx="5779008" cy="1170432"/>
          </a:xfrm>
          <a:prstGeom prst="roundRect">
            <a:avLst>
              <a:gd name="adj" fmla="val 4500"/>
            </a:avLst>
          </a:prstGeom>
          <a:solidFill>
            <a:srgbClr val="F0F3F9"/>
          </a:solidFill>
          <a:ln w="12700">
            <a:solidFill>
              <a:srgbClr val="F0F3F9"/>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237744"/>
          <a:lstStyle/>
          <a:p>
            <a:pPr algn="l">
              <a:lnSpc>
                <a:spcPct val="122000"/>
              </a:lnSpc>
              <a:spcBef>
                <a:spcPts val="0"/>
              </a:spcBef>
              <a:spcAft>
                <a:spcPts val="600"/>
              </a:spcAft>
            </a:pPr>
            <a:r>
              <a:rPr sz="1150" b="1" i="0">
                <a:solidFill>
                  <a:srgbClr val="0078D4"/>
                </a:solidFill>
                <a:latin typeface="Segoe UI"/>
              </a:rPr>
              <a:t>One span </a:t>
            </a:r>
            <a:r>
              <a:rPr sz="1150" b="0" i="0">
                <a:solidFill>
                  <a:srgbClr val="14243E"/>
                </a:solidFill>
                <a:latin typeface="Segoe UI"/>
              </a:rPr>
              <a:t>= one unit of work, with a name, a start time, a duration, a parent, and a bag of attributes.</a:t>
            </a:r>
          </a:p>
          <a:p>
            <a:pPr algn="l">
              <a:lnSpc>
                <a:spcPct val="122000"/>
              </a:lnSpc>
              <a:spcBef>
                <a:spcPts val="0"/>
              </a:spcBef>
              <a:spcAft>
                <a:spcPts val="0"/>
              </a:spcAft>
            </a:pPr>
            <a:r>
              <a:rPr sz="1150" b="1" i="0">
                <a:solidFill>
                  <a:srgbClr val="0078D4"/>
                </a:solidFill>
                <a:latin typeface="Segoe UI"/>
              </a:rPr>
              <a:t>One trace </a:t>
            </a:r>
            <a:r>
              <a:rPr sz="1150" b="0" i="0">
                <a:solidFill>
                  <a:srgbClr val="14243E"/>
                </a:solidFill>
                <a:latin typeface="Segoe UI"/>
              </a:rPr>
              <a:t>= every span that shares a trace id. That is the whole data model.</a:t>
            </a:r>
          </a:p>
        </p:txBody>
      </p:sp>
      <p:sp>
        <p:nvSpPr>
          <p:cNvPr id="29" name="Rounded Rectangle 28"/>
          <p:cNvSpPr/>
          <p:nvPr/>
        </p:nvSpPr>
        <p:spPr>
          <a:xfrm>
            <a:off x="7269480" y="1773936"/>
            <a:ext cx="4261104" cy="841248"/>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7269480" y="1773936"/>
            <a:ext cx="54864" cy="841248"/>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543800" y="1892808"/>
            <a:ext cx="3803904" cy="274320"/>
          </a:xfrm>
          <a:prstGeom prst="rect">
            <a:avLst/>
          </a:prstGeom>
          <a:noFill/>
        </p:spPr>
        <p:txBody>
          <a:bodyPr wrap="square" lIns="0" rIns="0" tIns="0" bIns="0" anchor="t">
            <a:spAutoFit/>
          </a:bodyPr>
          <a:lstStyle/>
          <a:p>
            <a:pPr algn="l">
              <a:spcBef>
                <a:spcPts val="0"/>
              </a:spcBef>
              <a:spcAft>
                <a:spcPts val="200"/>
              </a:spcAft>
            </a:pPr>
            <a:r>
              <a:rPr sz="1250" b="1" i="0">
                <a:solidFill>
                  <a:srgbClr val="14243E"/>
                </a:solidFill>
                <a:latin typeface="Segoe UI"/>
              </a:rPr>
              <a:t>Traces</a:t>
            </a:r>
          </a:p>
          <a:p>
            <a:pPr algn="l">
              <a:lnSpc>
                <a:spcPct val="118000"/>
              </a:lnSpc>
              <a:spcBef>
                <a:spcPts val="0"/>
              </a:spcBef>
              <a:spcAft>
                <a:spcPts val="0"/>
              </a:spcAft>
            </a:pPr>
            <a:r>
              <a:rPr sz="1050" b="0" i="0">
                <a:solidFill>
                  <a:srgbClr val="605E5C"/>
                </a:solidFill>
                <a:latin typeface="Segoe UI"/>
              </a:rPr>
              <a:t>What happened, in what order, and how long each part took</a:t>
            </a:r>
          </a:p>
        </p:txBody>
      </p:sp>
      <p:sp>
        <p:nvSpPr>
          <p:cNvPr id="32" name="Rounded Rectangle 31"/>
          <p:cNvSpPr/>
          <p:nvPr/>
        </p:nvSpPr>
        <p:spPr>
          <a:xfrm>
            <a:off x="7269480" y="2706624"/>
            <a:ext cx="4261104" cy="841248"/>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7269480" y="2706624"/>
            <a:ext cx="54864" cy="841248"/>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7543800" y="2825496"/>
            <a:ext cx="3803904" cy="274320"/>
          </a:xfrm>
          <a:prstGeom prst="rect">
            <a:avLst/>
          </a:prstGeom>
          <a:noFill/>
        </p:spPr>
        <p:txBody>
          <a:bodyPr wrap="square" lIns="0" rIns="0" tIns="0" bIns="0" anchor="t">
            <a:spAutoFit/>
          </a:bodyPr>
          <a:lstStyle/>
          <a:p>
            <a:pPr algn="l">
              <a:spcBef>
                <a:spcPts val="0"/>
              </a:spcBef>
              <a:spcAft>
                <a:spcPts val="200"/>
              </a:spcAft>
            </a:pPr>
            <a:r>
              <a:rPr sz="1250" b="1" i="0">
                <a:solidFill>
                  <a:srgbClr val="14243E"/>
                </a:solidFill>
                <a:latin typeface="Segoe UI"/>
              </a:rPr>
              <a:t>Metrics</a:t>
            </a:r>
          </a:p>
          <a:p>
            <a:pPr algn="l">
              <a:lnSpc>
                <a:spcPct val="118000"/>
              </a:lnSpc>
              <a:spcBef>
                <a:spcPts val="0"/>
              </a:spcBef>
              <a:spcAft>
                <a:spcPts val="0"/>
              </a:spcAft>
            </a:pPr>
            <a:r>
              <a:rPr sz="1050" b="0" i="0">
                <a:solidFill>
                  <a:srgbClr val="605E5C"/>
                </a:solidFill>
                <a:latin typeface="Segoe UI"/>
              </a:rPr>
              <a:t>Counters and histograms sampled over time</a:t>
            </a:r>
          </a:p>
        </p:txBody>
      </p:sp>
      <p:sp>
        <p:nvSpPr>
          <p:cNvPr id="35" name="Rounded Rectangle 34"/>
          <p:cNvSpPr/>
          <p:nvPr/>
        </p:nvSpPr>
        <p:spPr>
          <a:xfrm>
            <a:off x="7269480" y="3639312"/>
            <a:ext cx="4261104" cy="841248"/>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7269480" y="3639312"/>
            <a:ext cx="54864" cy="841248"/>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7543800" y="3758184"/>
            <a:ext cx="3803904" cy="274320"/>
          </a:xfrm>
          <a:prstGeom prst="rect">
            <a:avLst/>
          </a:prstGeom>
          <a:noFill/>
        </p:spPr>
        <p:txBody>
          <a:bodyPr wrap="square" lIns="0" rIns="0" tIns="0" bIns="0" anchor="t">
            <a:spAutoFit/>
          </a:bodyPr>
          <a:lstStyle/>
          <a:p>
            <a:pPr algn="l">
              <a:spcBef>
                <a:spcPts val="0"/>
              </a:spcBef>
              <a:spcAft>
                <a:spcPts val="200"/>
              </a:spcAft>
            </a:pPr>
            <a:r>
              <a:rPr sz="1250" b="1" i="0">
                <a:solidFill>
                  <a:srgbClr val="14243E"/>
                </a:solidFill>
                <a:latin typeface="Segoe UI"/>
              </a:rPr>
              <a:t>Logs</a:t>
            </a:r>
          </a:p>
          <a:p>
            <a:pPr algn="l">
              <a:lnSpc>
                <a:spcPct val="118000"/>
              </a:lnSpc>
              <a:spcBef>
                <a:spcPts val="0"/>
              </a:spcBef>
              <a:spcAft>
                <a:spcPts val="0"/>
              </a:spcAft>
            </a:pPr>
            <a:r>
              <a:rPr sz="1050" b="0" i="0">
                <a:solidFill>
                  <a:srgbClr val="605E5C"/>
                </a:solidFill>
                <a:latin typeface="Segoe UI"/>
              </a:rPr>
              <a:t>Timestamped events, attachable to a span</a:t>
            </a:r>
          </a:p>
        </p:txBody>
      </p:sp>
      <p:sp>
        <p:nvSpPr>
          <p:cNvPr id="38" name="Rounded Rectangle 37"/>
          <p:cNvSpPr/>
          <p:nvPr/>
        </p:nvSpPr>
        <p:spPr>
          <a:xfrm>
            <a:off x="7269480" y="4681728"/>
            <a:ext cx="4261104" cy="1207008"/>
          </a:xfrm>
          <a:prstGeom prst="roundRect">
            <a:avLst>
              <a:gd name="adj" fmla="val 4500"/>
            </a:avLst>
          </a:prstGeom>
          <a:solidFill>
            <a:srgbClr val="14243E"/>
          </a:solidFill>
          <a:ln w="12700">
            <a:solidFill>
              <a:srgbClr val="14243E"/>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a:lstStyle/>
          <a:p>
            <a:pPr algn="l">
              <a:spcBef>
                <a:spcPts val="0"/>
              </a:spcBef>
              <a:spcAft>
                <a:spcPts val="600"/>
              </a:spcAft>
            </a:pPr>
            <a:r>
              <a:rPr sz="950" b="1" i="0">
                <a:solidFill>
                  <a:srgbClr val="E3008C"/>
                </a:solidFill>
                <a:latin typeface="Segoe UI Semibold"/>
              </a:rPr>
              <a:t>SEMANTIC CONVENTIONS</a:t>
            </a:r>
          </a:p>
          <a:p>
            <a:pPr algn="l">
              <a:lnSpc>
                <a:spcPct val="122000"/>
              </a:lnSpc>
              <a:spcBef>
                <a:spcPts val="0"/>
              </a:spcBef>
              <a:spcAft>
                <a:spcPts val="0"/>
              </a:spcAft>
            </a:pPr>
            <a:r>
              <a:rPr sz="1100" b="1" i="0">
                <a:solidFill>
                  <a:srgbClr val="FFFFFF"/>
                </a:solidFill>
                <a:latin typeface="Consolas"/>
              </a:rPr>
              <a:t>gen_ai.*</a:t>
            </a:r>
            <a:r>
              <a:rPr sz="1100" b="0" i="0">
                <a:solidFill>
                  <a:srgbClr val="B9C8E0"/>
                </a:solidFill>
                <a:latin typeface="Segoe UI"/>
              </a:rPr>
              <a:t>  — agreed names so “which model” and “how many tokens” mean the same thing everywhere.</a:t>
            </a:r>
          </a:p>
        </p:txBody>
      </p:sp>
      <p:sp>
        <p:nvSpPr>
          <p:cNvPr id="39" name="Rectangle 38"/>
          <p:cNvSpPr/>
          <p:nvPr/>
        </p:nvSpPr>
        <p:spPr>
          <a:xfrm>
            <a:off x="7269480" y="4681728"/>
            <a:ext cx="4261104" cy="50292"/>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58368" y="6382512"/>
            <a:ext cx="8686800" cy="237744"/>
          </a:xfrm>
          <a:prstGeom prst="rect">
            <a:avLst/>
          </a:prstGeom>
          <a:noFill/>
        </p:spPr>
        <p:txBody>
          <a:bodyPr wrap="square" lIns="0" rIns="0" tIns="0" bIns="0" anchor="t">
            <a:spAutoFit/>
          </a:bodyPr>
          <a:lstStyle/>
          <a:p>
            <a:pPr algn="l">
              <a:spcBef>
                <a:spcPts val="0"/>
              </a:spcBef>
              <a:spcAft>
                <a:spcPts val="0"/>
              </a:spcAft>
            </a:pPr>
            <a:r>
              <a:rPr sz="900" b="0" i="0">
                <a:solidFill>
                  <a:srgbClr val="8A8886"/>
                </a:solidFill>
                <a:latin typeface="Segoe UI"/>
              </a:rPr>
              <a:t>Microsoft  ·  Agent Insights</a:t>
            </a:r>
          </a:p>
        </p:txBody>
      </p:sp>
      <p:sp>
        <p:nvSpPr>
          <p:cNvPr id="41" name="TextBox 40"/>
          <p:cNvSpPr txBox="1"/>
          <p:nvPr/>
        </p:nvSpPr>
        <p:spPr>
          <a:xfrm>
            <a:off x="10835640" y="6382512"/>
            <a:ext cx="694944" cy="237744"/>
          </a:xfrm>
          <a:prstGeom prst="rect">
            <a:avLst/>
          </a:prstGeom>
          <a:noFill/>
        </p:spPr>
        <p:txBody>
          <a:bodyPr wrap="square" lIns="0" rIns="0" tIns="0" bIns="0" anchor="t">
            <a:spAutoFit/>
          </a:bodyPr>
          <a:lstStyle/>
          <a:p>
            <a:pPr algn="r">
              <a:spcBef>
                <a:spcPts val="0"/>
              </a:spcBef>
              <a:spcAft>
                <a:spcPts val="0"/>
              </a:spcAft>
            </a:pPr>
            <a:r>
              <a:rPr sz="900" b="0" i="0">
                <a:solidFill>
                  <a:srgbClr val="8A8886"/>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47925" cy="685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47923" y="0"/>
            <a:ext cx="3047925" cy="68580"/>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6095847" y="0"/>
            <a:ext cx="3047925" cy="6858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143771" y="0"/>
            <a:ext cx="3047925" cy="68580"/>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384048"/>
            <a:ext cx="10872216" cy="237744"/>
          </a:xfrm>
          <a:prstGeom prst="rect">
            <a:avLst/>
          </a:prstGeom>
          <a:noFill/>
        </p:spPr>
        <p:txBody>
          <a:bodyPr wrap="square" lIns="0" rIns="0" tIns="0" bIns="0" anchor="t">
            <a:spAutoFit/>
          </a:bodyPr>
          <a:lstStyle/>
          <a:p>
            <a:pPr algn="l">
              <a:spcBef>
                <a:spcPts val="0"/>
              </a:spcBef>
              <a:spcAft>
                <a:spcPts val="0"/>
              </a:spcAft>
            </a:pPr>
            <a:r>
              <a:rPr sz="1050" b="1" i="0">
                <a:solidFill>
                  <a:srgbClr val="0078D4"/>
                </a:solidFill>
                <a:latin typeface="Segoe UI Semibold"/>
              </a:rPr>
              <a:t>01  PROBLEM · THE USER</a:t>
            </a:r>
          </a:p>
        </p:txBody>
      </p:sp>
      <p:sp>
        <p:nvSpPr>
          <p:cNvPr id="7" name="TextBox 6"/>
          <p:cNvSpPr txBox="1"/>
          <p:nvPr/>
        </p:nvSpPr>
        <p:spPr>
          <a:xfrm>
            <a:off x="658368" y="658368"/>
            <a:ext cx="10872216" cy="502920"/>
          </a:xfrm>
          <a:prstGeom prst="rect">
            <a:avLst/>
          </a:prstGeom>
          <a:noFill/>
        </p:spPr>
        <p:txBody>
          <a:bodyPr wrap="square" lIns="0" rIns="0" tIns="0" bIns="0" anchor="t">
            <a:spAutoFit/>
          </a:bodyPr>
          <a:lstStyle/>
          <a:p>
            <a:pPr algn="l">
              <a:spcBef>
                <a:spcPts val="0"/>
              </a:spcBef>
              <a:spcAft>
                <a:spcPts val="0"/>
              </a:spcAft>
            </a:pPr>
            <a:r>
              <a:rPr sz="2900" b="0" i="0">
                <a:solidFill>
                  <a:srgbClr val="14243E"/>
                </a:solidFill>
                <a:latin typeface="Segoe UI Light"/>
              </a:rPr>
              <a:t>Five questions you cannot answer about your own agent runs</a:t>
            </a:r>
          </a:p>
        </p:txBody>
      </p:sp>
      <p:sp>
        <p:nvSpPr>
          <p:cNvPr id="8" name="Rectangle 7"/>
          <p:cNvSpPr/>
          <p:nvPr/>
        </p:nvSpPr>
        <p:spPr>
          <a:xfrm>
            <a:off x="658368" y="1152144"/>
            <a:ext cx="960120" cy="320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658368" y="1344168"/>
            <a:ext cx="3502152" cy="1298448"/>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lIns="219456" rIns="219456"/>
          <a:lstStyle/>
          <a:p>
            <a:pPr algn="l">
              <a:lnSpc>
                <a:spcPct val="115000"/>
              </a:lnSpc>
              <a:spcBef>
                <a:spcPts val="0"/>
              </a:spcBef>
              <a:spcAft>
                <a:spcPts val="600"/>
              </a:spcAft>
            </a:pPr>
            <a:r>
              <a:rPr sz="1400" b="1" i="0">
                <a:solidFill>
                  <a:srgbClr val="14243E"/>
                </a:solidFill>
                <a:latin typeface="Segoe UI"/>
              </a:rPr>
              <a:t>“What did I even ask it to do?”</a:t>
            </a:r>
          </a:p>
          <a:p>
            <a:pPr algn="l">
              <a:lnSpc>
                <a:spcPct val="124000"/>
              </a:lnSpc>
              <a:spcBef>
                <a:spcPts val="0"/>
              </a:spcBef>
              <a:spcAft>
                <a:spcPts val="0"/>
              </a:spcAft>
            </a:pPr>
            <a:r>
              <a:rPr sz="1150" b="0" i="0">
                <a:solidFill>
                  <a:srgbClr val="605E5C"/>
                </a:solidFill>
                <a:latin typeface="Segoe UI"/>
              </a:rPr>
              <a:t>Six sessions, two harnesses, one morning.</a:t>
            </a:r>
          </a:p>
        </p:txBody>
      </p:sp>
      <p:sp>
        <p:nvSpPr>
          <p:cNvPr id="10" name="Rectangle 9"/>
          <p:cNvSpPr/>
          <p:nvPr/>
        </p:nvSpPr>
        <p:spPr>
          <a:xfrm>
            <a:off x="658368" y="1344168"/>
            <a:ext cx="3502152" cy="50292"/>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4343400" y="1344168"/>
            <a:ext cx="3502152" cy="1298448"/>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lIns="219456" rIns="219456"/>
          <a:lstStyle/>
          <a:p>
            <a:pPr algn="l">
              <a:lnSpc>
                <a:spcPct val="115000"/>
              </a:lnSpc>
              <a:spcBef>
                <a:spcPts val="0"/>
              </a:spcBef>
              <a:spcAft>
                <a:spcPts val="600"/>
              </a:spcAft>
            </a:pPr>
            <a:r>
              <a:rPr sz="1400" b="1" i="0">
                <a:solidFill>
                  <a:srgbClr val="14243E"/>
                </a:solidFill>
                <a:latin typeface="Segoe UI"/>
              </a:rPr>
              <a:t>“Why did that take four minutes?”</a:t>
            </a:r>
          </a:p>
          <a:p>
            <a:pPr algn="l">
              <a:lnSpc>
                <a:spcPct val="124000"/>
              </a:lnSpc>
              <a:spcBef>
                <a:spcPts val="0"/>
              </a:spcBef>
              <a:spcAft>
                <a:spcPts val="0"/>
              </a:spcAft>
            </a:pPr>
            <a:r>
              <a:rPr sz="1150" b="0" i="0">
                <a:solidFill>
                  <a:srgbClr val="605E5C"/>
                </a:solidFill>
                <a:latin typeface="Segoe UI"/>
              </a:rPr>
              <a:t>Model? Tool call? Permission prompt? Retry?</a:t>
            </a:r>
          </a:p>
        </p:txBody>
      </p:sp>
      <p:sp>
        <p:nvSpPr>
          <p:cNvPr id="12" name="Rectangle 11"/>
          <p:cNvSpPr/>
          <p:nvPr/>
        </p:nvSpPr>
        <p:spPr>
          <a:xfrm>
            <a:off x="4343400" y="1344168"/>
            <a:ext cx="3502152" cy="50292"/>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8028432" y="1344168"/>
            <a:ext cx="3502152" cy="1298448"/>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lIns="219456" rIns="219456"/>
          <a:lstStyle/>
          <a:p>
            <a:pPr algn="l">
              <a:lnSpc>
                <a:spcPct val="115000"/>
              </a:lnSpc>
              <a:spcBef>
                <a:spcPts val="0"/>
              </a:spcBef>
              <a:spcAft>
                <a:spcPts val="600"/>
              </a:spcAft>
            </a:pPr>
            <a:r>
              <a:rPr sz="1400" b="1" i="0">
                <a:solidFill>
                  <a:srgbClr val="14243E"/>
                </a:solidFill>
                <a:latin typeface="Segoe UI"/>
              </a:rPr>
              <a:t>“Why did it go wrong?”</a:t>
            </a:r>
          </a:p>
          <a:p>
            <a:pPr algn="l">
              <a:lnSpc>
                <a:spcPct val="124000"/>
              </a:lnSpc>
              <a:spcBef>
                <a:spcPts val="0"/>
              </a:spcBef>
              <a:spcAft>
                <a:spcPts val="0"/>
              </a:spcAft>
            </a:pPr>
            <a:r>
              <a:rPr sz="1150" b="0" i="0">
                <a:solidFill>
                  <a:srgbClr val="605E5C"/>
                </a:solidFill>
                <a:latin typeface="Segoe UI"/>
              </a:rPr>
              <a:t>Agents rarely fail loudly. They misread you quietly.</a:t>
            </a:r>
          </a:p>
        </p:txBody>
      </p:sp>
      <p:sp>
        <p:nvSpPr>
          <p:cNvPr id="14" name="Rectangle 13"/>
          <p:cNvSpPr/>
          <p:nvPr/>
        </p:nvSpPr>
        <p:spPr>
          <a:xfrm>
            <a:off x="8028432" y="1344168"/>
            <a:ext cx="3502152" cy="50292"/>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58368" y="2779776"/>
            <a:ext cx="3502152" cy="1298448"/>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lIns="219456" rIns="219456"/>
          <a:lstStyle/>
          <a:p>
            <a:pPr algn="l">
              <a:lnSpc>
                <a:spcPct val="115000"/>
              </a:lnSpc>
              <a:spcBef>
                <a:spcPts val="0"/>
              </a:spcBef>
              <a:spcAft>
                <a:spcPts val="600"/>
              </a:spcAft>
            </a:pPr>
            <a:r>
              <a:rPr sz="1400" b="1" i="0">
                <a:solidFill>
                  <a:srgbClr val="14243E"/>
                </a:solidFill>
                <a:latin typeface="Segoe UI"/>
              </a:rPr>
              <a:t>“What is this costing me?”</a:t>
            </a:r>
          </a:p>
          <a:p>
            <a:pPr algn="l">
              <a:lnSpc>
                <a:spcPct val="124000"/>
              </a:lnSpc>
              <a:spcBef>
                <a:spcPts val="0"/>
              </a:spcBef>
              <a:spcAft>
                <a:spcPts val="0"/>
              </a:spcAft>
            </a:pPr>
            <a:r>
              <a:rPr sz="1150" b="0" i="0">
                <a:solidFill>
                  <a:srgbClr val="605E5C"/>
                </a:solidFill>
                <a:latin typeface="Segoe UI"/>
              </a:rPr>
              <a:t>Tokens, cache reads, cache writes, subagents.</a:t>
            </a:r>
          </a:p>
        </p:txBody>
      </p:sp>
      <p:sp>
        <p:nvSpPr>
          <p:cNvPr id="16" name="Rectangle 15"/>
          <p:cNvSpPr/>
          <p:nvPr/>
        </p:nvSpPr>
        <p:spPr>
          <a:xfrm>
            <a:off x="658368" y="2779776"/>
            <a:ext cx="3502152" cy="50292"/>
          </a:xfrm>
          <a:prstGeom prst="rect">
            <a:avLst/>
          </a:prstGeom>
          <a:solidFill>
            <a:srgbClr val="E87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4343400" y="2779776"/>
            <a:ext cx="3502152" cy="1298448"/>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lIns="219456" rIns="219456"/>
          <a:lstStyle/>
          <a:p>
            <a:pPr algn="l">
              <a:lnSpc>
                <a:spcPct val="115000"/>
              </a:lnSpc>
              <a:spcBef>
                <a:spcPts val="0"/>
              </a:spcBef>
              <a:spcAft>
                <a:spcPts val="600"/>
              </a:spcAft>
            </a:pPr>
            <a:r>
              <a:rPr sz="1400" b="1" i="0">
                <a:solidFill>
                  <a:srgbClr val="14243E"/>
                </a:solidFill>
                <a:latin typeface="Segoe UI"/>
              </a:rPr>
              <a:t>“Was Claude better than Copilot here?”</a:t>
            </a:r>
          </a:p>
          <a:p>
            <a:pPr algn="l">
              <a:lnSpc>
                <a:spcPct val="124000"/>
              </a:lnSpc>
              <a:spcBef>
                <a:spcPts val="0"/>
              </a:spcBef>
              <a:spcAft>
                <a:spcPts val="0"/>
              </a:spcAft>
            </a:pPr>
            <a:r>
              <a:rPr sz="1150" b="0" i="0">
                <a:solidFill>
                  <a:srgbClr val="605E5C"/>
                </a:solidFill>
                <a:latin typeface="Segoe UI"/>
              </a:rPr>
              <a:t>A gut feeling, and zero evidence.</a:t>
            </a:r>
          </a:p>
        </p:txBody>
      </p:sp>
      <p:sp>
        <p:nvSpPr>
          <p:cNvPr id="18" name="Rectangle 17"/>
          <p:cNvSpPr/>
          <p:nvPr/>
        </p:nvSpPr>
        <p:spPr>
          <a:xfrm>
            <a:off x="4343400" y="2779776"/>
            <a:ext cx="3502152" cy="50292"/>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8028432" y="2779776"/>
            <a:ext cx="3502152" cy="1298448"/>
          </a:xfrm>
          <a:prstGeom prst="roundRect">
            <a:avLst>
              <a:gd name="adj" fmla="val 4500"/>
            </a:avLst>
          </a:prstGeom>
          <a:solidFill>
            <a:srgbClr val="14243E"/>
          </a:solidFill>
          <a:ln w="12700">
            <a:solidFill>
              <a:srgbClr val="14243E"/>
            </a:solidFill>
          </a:ln>
          <a:effectLst/>
        </p:spPr>
        <p:style>
          <a:lnRef idx="1">
            <a:schemeClr val="accent1"/>
          </a:lnRef>
          <a:fillRef idx="3">
            <a:schemeClr val="accent1"/>
          </a:fillRef>
          <a:effectRef idx="2">
            <a:schemeClr val="accent1"/>
          </a:effectRef>
          <a:fontRef idx="minor">
            <a:schemeClr val="lt1"/>
          </a:fontRef>
        </p:style>
        <p:txBody>
          <a:bodyPr rtlCol="0" anchor="ctr" wrap="square" lIns="219456" rIns="219456"/>
          <a:lstStyle/>
          <a:p>
            <a:pPr algn="l">
              <a:lnSpc>
                <a:spcPct val="115000"/>
              </a:lnSpc>
              <a:spcBef>
                <a:spcPts val="0"/>
              </a:spcBef>
              <a:spcAft>
                <a:spcPts val="600"/>
              </a:spcAft>
            </a:pPr>
            <a:r>
              <a:rPr sz="1350" b="1" i="0">
                <a:solidFill>
                  <a:srgbClr val="50E6FF"/>
                </a:solidFill>
                <a:latin typeface="Segoe UI"/>
              </a:rPr>
              <a:t>And the loop that should exist doesn’t.</a:t>
            </a:r>
          </a:p>
          <a:p>
            <a:pPr algn="l">
              <a:lnSpc>
                <a:spcPct val="124000"/>
              </a:lnSpc>
              <a:spcBef>
                <a:spcPts val="0"/>
              </a:spcBef>
              <a:spcAft>
                <a:spcPts val="0"/>
              </a:spcAft>
            </a:pPr>
            <a:r>
              <a:rPr sz="1150" b="0" i="0">
                <a:solidFill>
                  <a:srgbClr val="B9C8E0"/>
                </a:solidFill>
                <a:latin typeface="Segoe UI"/>
              </a:rPr>
              <a:t>The agent in your editor reads structured data all day — and has no access to its own history.</a:t>
            </a:r>
          </a:p>
        </p:txBody>
      </p:sp>
      <p:sp>
        <p:nvSpPr>
          <p:cNvPr id="20" name="Rounded Rectangle 19"/>
          <p:cNvSpPr/>
          <p:nvPr/>
        </p:nvSpPr>
        <p:spPr>
          <a:xfrm>
            <a:off x="658368" y="5175504"/>
            <a:ext cx="10872216" cy="914400"/>
          </a:xfrm>
          <a:prstGeom prst="roundRect">
            <a:avLst>
              <a:gd name="adj" fmla="val 4500"/>
            </a:avLst>
          </a:prstGeom>
          <a:solidFill>
            <a:srgbClr val="DEECF9"/>
          </a:solidFill>
          <a:ln w="12700">
            <a:solidFill>
              <a:srgbClr val="DEECF9"/>
            </a:solidFill>
          </a:ln>
          <a:effectLst/>
        </p:spPr>
        <p:style>
          <a:lnRef idx="1">
            <a:schemeClr val="accent1"/>
          </a:lnRef>
          <a:fillRef idx="3">
            <a:schemeClr val="accent1"/>
          </a:fillRef>
          <a:effectRef idx="2">
            <a:schemeClr val="accent1"/>
          </a:effectRef>
          <a:fontRef idx="minor">
            <a:schemeClr val="lt1"/>
          </a:fontRef>
        </p:style>
        <p:txBody>
          <a:bodyPr rtlCol="0" anchor="ctr" wrap="square" lIns="329184" rIns="329184"/>
          <a:lstStyle/>
          <a:p>
            <a:pPr algn="l">
              <a:lnSpc>
                <a:spcPct val="120000"/>
              </a:lnSpc>
              <a:spcBef>
                <a:spcPts val="0"/>
              </a:spcBef>
              <a:spcAft>
                <a:spcPts val="0"/>
              </a:spcAft>
            </a:pPr>
            <a:r>
              <a:rPr sz="1700" b="0" i="0">
                <a:solidFill>
                  <a:srgbClr val="14243E"/>
                </a:solidFill>
                <a:latin typeface="Segoe UI"/>
              </a:rPr>
              <a:t>An agent session is the most expensive thing a developer runs all day, and the </a:t>
            </a:r>
            <a:r>
              <a:rPr sz="1700" b="1" i="0">
                <a:solidFill>
                  <a:srgbClr val="0078D4"/>
                </a:solidFill>
                <a:latin typeface="Segoe UI"/>
              </a:rPr>
              <a:t>least observable thing on their machine.</a:t>
            </a:r>
          </a:p>
        </p:txBody>
      </p:sp>
      <p:sp>
        <p:nvSpPr>
          <p:cNvPr id="21" name="TextBox 20"/>
          <p:cNvSpPr txBox="1"/>
          <p:nvPr/>
        </p:nvSpPr>
        <p:spPr>
          <a:xfrm>
            <a:off x="658368" y="6382512"/>
            <a:ext cx="8686800" cy="237744"/>
          </a:xfrm>
          <a:prstGeom prst="rect">
            <a:avLst/>
          </a:prstGeom>
          <a:noFill/>
        </p:spPr>
        <p:txBody>
          <a:bodyPr wrap="square" lIns="0" rIns="0" tIns="0" bIns="0" anchor="t">
            <a:spAutoFit/>
          </a:bodyPr>
          <a:lstStyle/>
          <a:p>
            <a:pPr algn="l">
              <a:spcBef>
                <a:spcPts val="0"/>
              </a:spcBef>
              <a:spcAft>
                <a:spcPts val="0"/>
              </a:spcAft>
            </a:pPr>
            <a:r>
              <a:rPr sz="900" b="0" i="0">
                <a:solidFill>
                  <a:srgbClr val="8A8886"/>
                </a:solidFill>
                <a:latin typeface="Segoe UI"/>
              </a:rPr>
              <a:t>Microsoft  ·  Agent Insights</a:t>
            </a:r>
          </a:p>
        </p:txBody>
      </p:sp>
      <p:sp>
        <p:nvSpPr>
          <p:cNvPr id="22" name="TextBox 21"/>
          <p:cNvSpPr txBox="1"/>
          <p:nvPr/>
        </p:nvSpPr>
        <p:spPr>
          <a:xfrm>
            <a:off x="10835640" y="6382512"/>
            <a:ext cx="694944" cy="237744"/>
          </a:xfrm>
          <a:prstGeom prst="rect">
            <a:avLst/>
          </a:prstGeom>
          <a:noFill/>
        </p:spPr>
        <p:txBody>
          <a:bodyPr wrap="square" lIns="0" rIns="0" tIns="0" bIns="0" anchor="t">
            <a:spAutoFit/>
          </a:bodyPr>
          <a:lstStyle/>
          <a:p>
            <a:pPr algn="r">
              <a:spcBef>
                <a:spcPts val="0"/>
              </a:spcBef>
              <a:spcAft>
                <a:spcPts val="0"/>
              </a:spcAft>
            </a:pPr>
            <a:r>
              <a:rPr sz="900" b="0" i="0">
                <a:solidFill>
                  <a:srgbClr val="8A8886"/>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47925" cy="685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47923" y="0"/>
            <a:ext cx="3047925" cy="68580"/>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6095847" y="0"/>
            <a:ext cx="3047925" cy="6858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143771" y="0"/>
            <a:ext cx="3047925" cy="68580"/>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384048"/>
            <a:ext cx="10872216" cy="237744"/>
          </a:xfrm>
          <a:prstGeom prst="rect">
            <a:avLst/>
          </a:prstGeom>
          <a:noFill/>
        </p:spPr>
        <p:txBody>
          <a:bodyPr wrap="square" lIns="0" rIns="0" tIns="0" bIns="0" anchor="t">
            <a:spAutoFit/>
          </a:bodyPr>
          <a:lstStyle/>
          <a:p>
            <a:pPr algn="l">
              <a:spcBef>
                <a:spcPts val="0"/>
              </a:spcBef>
              <a:spcAft>
                <a:spcPts val="0"/>
              </a:spcAft>
            </a:pPr>
            <a:r>
              <a:rPr sz="1050" b="1" i="0">
                <a:solidFill>
                  <a:srgbClr val="0078D4"/>
                </a:solidFill>
                <a:latin typeface="Segoe UI Semibold"/>
              </a:rPr>
              <a:t>01  PROBLEM · WHY NOT JUST READ THE LOGS</a:t>
            </a:r>
          </a:p>
        </p:txBody>
      </p:sp>
      <p:sp>
        <p:nvSpPr>
          <p:cNvPr id="7" name="TextBox 6"/>
          <p:cNvSpPr txBox="1"/>
          <p:nvPr/>
        </p:nvSpPr>
        <p:spPr>
          <a:xfrm>
            <a:off x="658368" y="658368"/>
            <a:ext cx="10872216" cy="502920"/>
          </a:xfrm>
          <a:prstGeom prst="rect">
            <a:avLst/>
          </a:prstGeom>
          <a:noFill/>
        </p:spPr>
        <p:txBody>
          <a:bodyPr wrap="square" lIns="0" rIns="0" tIns="0" bIns="0" anchor="t">
            <a:spAutoFit/>
          </a:bodyPr>
          <a:lstStyle/>
          <a:p>
            <a:pPr algn="l">
              <a:spcBef>
                <a:spcPts val="0"/>
              </a:spcBef>
              <a:spcAft>
                <a:spcPts val="0"/>
              </a:spcAft>
            </a:pPr>
            <a:r>
              <a:rPr sz="2900" b="0" i="0">
                <a:solidFill>
                  <a:srgbClr val="14243E"/>
                </a:solidFill>
                <a:latin typeface="Segoe UI Light"/>
              </a:rPr>
              <a:t>Four reasons the data that already exists doesn’t answer any of that</a:t>
            </a:r>
          </a:p>
        </p:txBody>
      </p:sp>
      <p:sp>
        <p:nvSpPr>
          <p:cNvPr id="8" name="TextBox 7"/>
          <p:cNvSpPr txBox="1"/>
          <p:nvPr/>
        </p:nvSpPr>
        <p:spPr>
          <a:xfrm>
            <a:off x="658368" y="1207008"/>
            <a:ext cx="10872216" cy="329184"/>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605E5C"/>
                </a:solidFill>
                <a:latin typeface="Segoe UI"/>
              </a:rPr>
              <a:t>Every item below is something the codebase had to work around.</a:t>
            </a:r>
          </a:p>
        </p:txBody>
      </p:sp>
      <p:sp>
        <p:nvSpPr>
          <p:cNvPr id="9" name="Rectangle 8"/>
          <p:cNvSpPr/>
          <p:nvPr/>
        </p:nvSpPr>
        <p:spPr>
          <a:xfrm>
            <a:off x="658368" y="1591056"/>
            <a:ext cx="960120" cy="320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58368" y="1792224"/>
            <a:ext cx="10872216" cy="969264"/>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58368" y="1792224"/>
            <a:ext cx="64008" cy="96926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932688" y="2057400"/>
            <a:ext cx="438912" cy="438912"/>
          </a:xfrm>
          <a:prstGeom prst="roundRect">
            <a:avLst>
              <a:gd name="adj" fmla="val 50000"/>
            </a:avLst>
          </a:prstGeom>
          <a:solidFill>
            <a:srgbClr val="0078D4"/>
          </a:solidFill>
          <a:ln w="127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500" b="1" i="0">
                <a:solidFill>
                  <a:srgbClr val="FFFFFF"/>
                </a:solidFill>
                <a:latin typeface="Segoe UI"/>
              </a:rPr>
              <a:t>1</a:t>
            </a:r>
          </a:p>
        </p:txBody>
      </p:sp>
      <p:sp>
        <p:nvSpPr>
          <p:cNvPr id="13" name="TextBox 12"/>
          <p:cNvSpPr txBox="1"/>
          <p:nvPr/>
        </p:nvSpPr>
        <p:spPr>
          <a:xfrm>
            <a:off x="1572768" y="1938528"/>
            <a:ext cx="9692640" cy="777240"/>
          </a:xfrm>
          <a:prstGeom prst="rect">
            <a:avLst/>
          </a:prstGeom>
          <a:noFill/>
        </p:spPr>
        <p:txBody>
          <a:bodyPr wrap="square" lIns="0" rIns="0" tIns="0" bIns="0" anchor="t">
            <a:spAutoFit/>
          </a:bodyPr>
          <a:lstStyle/>
          <a:p>
            <a:pPr algn="l">
              <a:spcBef>
                <a:spcPts val="0"/>
              </a:spcBef>
              <a:spcAft>
                <a:spcPts val="400"/>
              </a:spcAft>
            </a:pPr>
            <a:r>
              <a:rPr sz="1450" b="1" i="0">
                <a:solidFill>
                  <a:srgbClr val="14243E"/>
                </a:solidFill>
                <a:latin typeface="Segoe UI"/>
              </a:rPr>
              <a:t>The in-box view has gaps under Agent Host</a:t>
            </a:r>
          </a:p>
          <a:p>
            <a:pPr algn="l">
              <a:lnSpc>
                <a:spcPct val="122000"/>
              </a:lnSpc>
              <a:spcBef>
                <a:spcPts val="0"/>
              </a:spcBef>
              <a:spcAft>
                <a:spcPts val="0"/>
              </a:spcAft>
            </a:pPr>
            <a:r>
              <a:rPr sz="1150" b="0" i="0">
                <a:solidFill>
                  <a:srgbClr val="605E5C"/>
                </a:solidFill>
                <a:latin typeface="Segoe UI"/>
              </a:rPr>
              <a:t>VS Code ships Agent Debug Logs — agent-host sessions don’t reliably appear in it.</a:t>
            </a:r>
          </a:p>
        </p:txBody>
      </p:sp>
      <p:sp>
        <p:nvSpPr>
          <p:cNvPr id="14" name="Rounded Rectangle 13"/>
          <p:cNvSpPr/>
          <p:nvPr/>
        </p:nvSpPr>
        <p:spPr>
          <a:xfrm>
            <a:off x="658368" y="2898648"/>
            <a:ext cx="10872216" cy="969264"/>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58368" y="2898648"/>
            <a:ext cx="64008" cy="969264"/>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932688" y="3163824"/>
            <a:ext cx="438912" cy="438912"/>
          </a:xfrm>
          <a:prstGeom prst="roundRect">
            <a:avLst>
              <a:gd name="adj" fmla="val 50000"/>
            </a:avLst>
          </a:prstGeom>
          <a:solidFill>
            <a:srgbClr val="8661C5"/>
          </a:solidFill>
          <a:ln w="12700">
            <a:solidFill>
              <a:srgbClr val="8661C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500" b="1" i="0">
                <a:solidFill>
                  <a:srgbClr val="FFFFFF"/>
                </a:solidFill>
                <a:latin typeface="Segoe UI"/>
              </a:rPr>
              <a:t>2</a:t>
            </a:r>
          </a:p>
        </p:txBody>
      </p:sp>
      <p:sp>
        <p:nvSpPr>
          <p:cNvPr id="17" name="TextBox 16"/>
          <p:cNvSpPr txBox="1"/>
          <p:nvPr/>
        </p:nvSpPr>
        <p:spPr>
          <a:xfrm>
            <a:off x="1572768" y="3044952"/>
            <a:ext cx="9692640" cy="777240"/>
          </a:xfrm>
          <a:prstGeom prst="rect">
            <a:avLst/>
          </a:prstGeom>
          <a:noFill/>
        </p:spPr>
        <p:txBody>
          <a:bodyPr wrap="square" lIns="0" rIns="0" tIns="0" bIns="0" anchor="t">
            <a:spAutoFit/>
          </a:bodyPr>
          <a:lstStyle/>
          <a:p>
            <a:pPr algn="l">
              <a:spcBef>
                <a:spcPts val="0"/>
              </a:spcBef>
              <a:spcAft>
                <a:spcPts val="400"/>
              </a:spcAft>
            </a:pPr>
            <a:r>
              <a:rPr sz="1450" b="1" i="0">
                <a:solidFill>
                  <a:srgbClr val="14243E"/>
                </a:solidFill>
                <a:latin typeface="Segoe UI"/>
              </a:rPr>
              <a:t>Append-only text, not a queryable model</a:t>
            </a:r>
          </a:p>
          <a:p>
            <a:pPr algn="l">
              <a:lnSpc>
                <a:spcPct val="122000"/>
              </a:lnSpc>
              <a:spcBef>
                <a:spcPts val="0"/>
              </a:spcBef>
              <a:spcAft>
                <a:spcPts val="0"/>
              </a:spcAft>
            </a:pPr>
            <a:r>
              <a:rPr sz="1150" b="0" i="0">
                <a:solidFill>
                  <a:srgbClr val="605E5C"/>
                </a:solidFill>
                <a:latin typeface="Segoe UI"/>
              </a:rPr>
              <a:t>A transcript says what was said. Duration and causality are what a log throws away.</a:t>
            </a:r>
          </a:p>
        </p:txBody>
      </p:sp>
      <p:sp>
        <p:nvSpPr>
          <p:cNvPr id="18" name="Rounded Rectangle 17"/>
          <p:cNvSpPr/>
          <p:nvPr/>
        </p:nvSpPr>
        <p:spPr>
          <a:xfrm>
            <a:off x="658368" y="4005072"/>
            <a:ext cx="10872216" cy="969264"/>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58368" y="4005072"/>
            <a:ext cx="64008" cy="969264"/>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932688" y="4270248"/>
            <a:ext cx="438912" cy="438912"/>
          </a:xfrm>
          <a:prstGeom prst="roundRect">
            <a:avLst>
              <a:gd name="adj" fmla="val 50000"/>
            </a:avLst>
          </a:prstGeom>
          <a:solidFill>
            <a:srgbClr val="E3008C"/>
          </a:solidFill>
          <a:ln w="12700">
            <a:solidFill>
              <a:srgbClr val="E3008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500" b="1" i="0">
                <a:solidFill>
                  <a:srgbClr val="FFFFFF"/>
                </a:solidFill>
                <a:latin typeface="Segoe UI"/>
              </a:rPr>
              <a:t>3</a:t>
            </a:r>
          </a:p>
        </p:txBody>
      </p:sp>
      <p:sp>
        <p:nvSpPr>
          <p:cNvPr id="21" name="TextBox 20"/>
          <p:cNvSpPr txBox="1"/>
          <p:nvPr/>
        </p:nvSpPr>
        <p:spPr>
          <a:xfrm>
            <a:off x="1572768" y="4151376"/>
            <a:ext cx="9692640" cy="777240"/>
          </a:xfrm>
          <a:prstGeom prst="rect">
            <a:avLst/>
          </a:prstGeom>
          <a:noFill/>
        </p:spPr>
        <p:txBody>
          <a:bodyPr wrap="square" lIns="0" rIns="0" tIns="0" bIns="0" anchor="t">
            <a:spAutoFit/>
          </a:bodyPr>
          <a:lstStyle/>
          <a:p>
            <a:pPr algn="l">
              <a:spcBef>
                <a:spcPts val="0"/>
              </a:spcBef>
              <a:spcAft>
                <a:spcPts val="400"/>
              </a:spcAft>
            </a:pPr>
            <a:r>
              <a:rPr sz="1450" b="1" i="0">
                <a:solidFill>
                  <a:srgbClr val="14243E"/>
                </a:solidFill>
                <a:latin typeface="Segoe UI"/>
              </a:rPr>
              <a:t>OTel exists — and nothing consumes it</a:t>
            </a:r>
          </a:p>
          <a:p>
            <a:pPr algn="l">
              <a:lnSpc>
                <a:spcPct val="122000"/>
              </a:lnSpc>
              <a:spcBef>
                <a:spcPts val="0"/>
              </a:spcBef>
              <a:spcAft>
                <a:spcPts val="0"/>
              </a:spcAft>
            </a:pPr>
            <a:r>
              <a:rPr sz="1150" b="0" i="0">
                <a:solidFill>
                  <a:srgbClr val="605E5C"/>
                </a:solidFill>
                <a:latin typeface="Segoe UI"/>
              </a:rPr>
              <a:t>Turn it on and you need an endpoint. A collector plus Jaeger, or nothing.</a:t>
            </a:r>
          </a:p>
        </p:txBody>
      </p:sp>
      <p:sp>
        <p:nvSpPr>
          <p:cNvPr id="22" name="Rounded Rectangle 21"/>
          <p:cNvSpPr/>
          <p:nvPr/>
        </p:nvSpPr>
        <p:spPr>
          <a:xfrm>
            <a:off x="658368" y="5111496"/>
            <a:ext cx="10872216" cy="969264"/>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658368" y="5111496"/>
            <a:ext cx="64008" cy="969264"/>
          </a:xfrm>
          <a:prstGeom prst="rect">
            <a:avLst/>
          </a:prstGeom>
          <a:solidFill>
            <a:srgbClr val="E87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932688" y="5376672"/>
            <a:ext cx="438912" cy="438912"/>
          </a:xfrm>
          <a:prstGeom prst="roundRect">
            <a:avLst>
              <a:gd name="adj" fmla="val 50000"/>
            </a:avLst>
          </a:prstGeom>
          <a:solidFill>
            <a:srgbClr val="E87C00"/>
          </a:solidFill>
          <a:ln w="12700">
            <a:solidFill>
              <a:srgbClr val="E87C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500" b="1" i="0">
                <a:solidFill>
                  <a:srgbClr val="FFFFFF"/>
                </a:solidFill>
                <a:latin typeface="Segoe UI"/>
              </a:rPr>
              <a:t>4</a:t>
            </a:r>
          </a:p>
        </p:txBody>
      </p:sp>
      <p:sp>
        <p:nvSpPr>
          <p:cNvPr id="25" name="TextBox 24"/>
          <p:cNvSpPr txBox="1"/>
          <p:nvPr/>
        </p:nvSpPr>
        <p:spPr>
          <a:xfrm>
            <a:off x="1572768" y="5257800"/>
            <a:ext cx="9692640" cy="777240"/>
          </a:xfrm>
          <a:prstGeom prst="rect">
            <a:avLst/>
          </a:prstGeom>
          <a:noFill/>
        </p:spPr>
        <p:txBody>
          <a:bodyPr wrap="square" lIns="0" rIns="0" tIns="0" bIns="0" anchor="t">
            <a:spAutoFit/>
          </a:bodyPr>
          <a:lstStyle/>
          <a:p>
            <a:pPr algn="l">
              <a:spcBef>
                <a:spcPts val="0"/>
              </a:spcBef>
              <a:spcAft>
                <a:spcPts val="400"/>
              </a:spcAft>
            </a:pPr>
            <a:r>
              <a:rPr sz="1450" b="1" i="0">
                <a:solidFill>
                  <a:srgbClr val="14243E"/>
                </a:solidFill>
                <a:latin typeface="Segoe UI"/>
              </a:rPr>
              <a:t>Generic viewers show spans; humans think in conversations</a:t>
            </a:r>
          </a:p>
          <a:p>
            <a:pPr algn="l">
              <a:lnSpc>
                <a:spcPct val="122000"/>
              </a:lnSpc>
              <a:spcBef>
                <a:spcPts val="0"/>
              </a:spcBef>
              <a:spcAft>
                <a:spcPts val="0"/>
              </a:spcAft>
            </a:pPr>
            <a:r>
              <a:rPr sz="1150" b="0" i="0">
                <a:solidFill>
                  <a:srgbClr val="605E5C"/>
                </a:solidFill>
                <a:latin typeface="Segoe UI"/>
              </a:rPr>
              <a:t>Jaeger has never heard of a “turn”. It will show you 261 traces and name none of them.</a:t>
            </a:r>
          </a:p>
        </p:txBody>
      </p:sp>
      <p:sp>
        <p:nvSpPr>
          <p:cNvPr id="26" name="TextBox 25"/>
          <p:cNvSpPr txBox="1"/>
          <p:nvPr/>
        </p:nvSpPr>
        <p:spPr>
          <a:xfrm>
            <a:off x="658368" y="6382512"/>
            <a:ext cx="8686800" cy="237744"/>
          </a:xfrm>
          <a:prstGeom prst="rect">
            <a:avLst/>
          </a:prstGeom>
          <a:noFill/>
        </p:spPr>
        <p:txBody>
          <a:bodyPr wrap="square" lIns="0" rIns="0" tIns="0" bIns="0" anchor="t">
            <a:spAutoFit/>
          </a:bodyPr>
          <a:lstStyle/>
          <a:p>
            <a:pPr algn="l">
              <a:spcBef>
                <a:spcPts val="0"/>
              </a:spcBef>
              <a:spcAft>
                <a:spcPts val="0"/>
              </a:spcAft>
            </a:pPr>
            <a:r>
              <a:rPr sz="900" b="0" i="0">
                <a:solidFill>
                  <a:srgbClr val="8A8886"/>
                </a:solidFill>
                <a:latin typeface="Segoe UI"/>
              </a:rPr>
              <a:t>Microsoft  ·  Agent Insights</a:t>
            </a:r>
          </a:p>
        </p:txBody>
      </p:sp>
      <p:sp>
        <p:nvSpPr>
          <p:cNvPr id="27" name="TextBox 26"/>
          <p:cNvSpPr txBox="1"/>
          <p:nvPr/>
        </p:nvSpPr>
        <p:spPr>
          <a:xfrm>
            <a:off x="10835640" y="6382512"/>
            <a:ext cx="694944" cy="237744"/>
          </a:xfrm>
          <a:prstGeom prst="rect">
            <a:avLst/>
          </a:prstGeom>
          <a:noFill/>
        </p:spPr>
        <p:txBody>
          <a:bodyPr wrap="square" lIns="0" rIns="0" tIns="0" bIns="0" anchor="t">
            <a:spAutoFit/>
          </a:bodyPr>
          <a:lstStyle/>
          <a:p>
            <a:pPr algn="r">
              <a:spcBef>
                <a:spcPts val="0"/>
              </a:spcBef>
              <a:spcAft>
                <a:spcPts val="0"/>
              </a:spcAft>
            </a:pPr>
            <a:r>
              <a:rPr sz="900" b="0" i="0">
                <a:solidFill>
                  <a:srgbClr val="8A8886"/>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47925" cy="685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47923" y="0"/>
            <a:ext cx="3047925" cy="68580"/>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6095847" y="0"/>
            <a:ext cx="3047925" cy="6858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143771" y="0"/>
            <a:ext cx="3047925" cy="68580"/>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384048"/>
            <a:ext cx="10872216" cy="237744"/>
          </a:xfrm>
          <a:prstGeom prst="rect">
            <a:avLst/>
          </a:prstGeom>
          <a:noFill/>
        </p:spPr>
        <p:txBody>
          <a:bodyPr wrap="square" lIns="0" rIns="0" tIns="0" bIns="0" anchor="t">
            <a:spAutoFit/>
          </a:bodyPr>
          <a:lstStyle/>
          <a:p>
            <a:pPr algn="l">
              <a:spcBef>
                <a:spcPts val="0"/>
              </a:spcBef>
              <a:spcAft>
                <a:spcPts val="0"/>
              </a:spcAft>
            </a:pPr>
            <a:r>
              <a:rPr sz="1050" b="1" i="0">
                <a:solidFill>
                  <a:srgbClr val="0078D4"/>
                </a:solidFill>
                <a:latin typeface="Segoe UI Semibold"/>
              </a:rPr>
              <a:t>01  PROBLEM · THE CRUX</a:t>
            </a:r>
          </a:p>
        </p:txBody>
      </p:sp>
      <p:sp>
        <p:nvSpPr>
          <p:cNvPr id="7" name="TextBox 6"/>
          <p:cNvSpPr txBox="1"/>
          <p:nvPr/>
        </p:nvSpPr>
        <p:spPr>
          <a:xfrm>
            <a:off x="658368" y="658368"/>
            <a:ext cx="10872216" cy="502920"/>
          </a:xfrm>
          <a:prstGeom prst="rect">
            <a:avLst/>
          </a:prstGeom>
          <a:noFill/>
        </p:spPr>
        <p:txBody>
          <a:bodyPr wrap="square" lIns="0" rIns="0" tIns="0" bIns="0" anchor="t">
            <a:spAutoFit/>
          </a:bodyPr>
          <a:lstStyle/>
          <a:p>
            <a:pPr algn="l">
              <a:spcBef>
                <a:spcPts val="0"/>
              </a:spcBef>
              <a:spcAft>
                <a:spcPts val="0"/>
              </a:spcAft>
            </a:pPr>
            <a:r>
              <a:rPr sz="2900" b="0" i="0">
                <a:solidFill>
                  <a:srgbClr val="14243E"/>
                </a:solidFill>
                <a:latin typeface="Segoe UI Light"/>
              </a:rPr>
              <a:t>The gap between a span and a turn is the entire product</a:t>
            </a:r>
          </a:p>
        </p:txBody>
      </p:sp>
      <p:sp>
        <p:nvSpPr>
          <p:cNvPr id="8" name="TextBox 7"/>
          <p:cNvSpPr txBox="1"/>
          <p:nvPr/>
        </p:nvSpPr>
        <p:spPr>
          <a:xfrm>
            <a:off x="658368" y="1207008"/>
            <a:ext cx="10872216" cy="329184"/>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605E5C"/>
                </a:solidFill>
                <a:latin typeface="Segoe UI"/>
              </a:rPr>
              <a:t>Two ways the raw signal refuses to line up with how a person thinks.</a:t>
            </a:r>
          </a:p>
        </p:txBody>
      </p:sp>
      <p:sp>
        <p:nvSpPr>
          <p:cNvPr id="9" name="Rectangle 8"/>
          <p:cNvSpPr/>
          <p:nvPr/>
        </p:nvSpPr>
        <p:spPr>
          <a:xfrm>
            <a:off x="658368" y="1591056"/>
            <a:ext cx="960120" cy="320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58368" y="1755648"/>
            <a:ext cx="6035040" cy="274320"/>
          </a:xfrm>
          <a:prstGeom prst="rect">
            <a:avLst/>
          </a:prstGeom>
          <a:noFill/>
        </p:spPr>
        <p:txBody>
          <a:bodyPr wrap="square" lIns="0" rIns="0" tIns="0" bIns="0" anchor="t">
            <a:spAutoFit/>
          </a:bodyPr>
          <a:lstStyle/>
          <a:p>
            <a:pPr algn="l">
              <a:spcBef>
                <a:spcPts val="0"/>
              </a:spcBef>
              <a:spcAft>
                <a:spcPts val="0"/>
              </a:spcAft>
            </a:pPr>
            <a:r>
              <a:rPr sz="1050" b="1" i="0">
                <a:solidFill>
                  <a:srgbClr val="E3008C"/>
                </a:solidFill>
                <a:latin typeface="Segoe UI Semibold"/>
              </a:rPr>
              <a:t>ONE CODEX MODEL CALL, AS OTEL SEES IT</a:t>
            </a:r>
          </a:p>
        </p:txBody>
      </p:sp>
      <p:sp>
        <p:nvSpPr>
          <p:cNvPr id="11" name="Rounded Rectangle 10"/>
          <p:cNvSpPr/>
          <p:nvPr/>
        </p:nvSpPr>
        <p:spPr>
          <a:xfrm>
            <a:off x="658368" y="2121408"/>
            <a:ext cx="5394960" cy="329184"/>
          </a:xfrm>
          <a:prstGeom prst="roundRect">
            <a:avLst>
              <a:gd name="adj" fmla="val 12000"/>
            </a:avLst>
          </a:prstGeom>
          <a:solidFill>
            <a:srgbClr val="E3008C"/>
          </a:solidFill>
          <a:ln w="12700">
            <a:solidFill>
              <a:srgbClr val="E3008C"/>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l">
              <a:spcBef>
                <a:spcPts val="0"/>
              </a:spcBef>
              <a:spcAft>
                <a:spcPts val="0"/>
              </a:spcAft>
            </a:pPr>
            <a:r>
              <a:rPr sz="1100" b="1" i="0">
                <a:solidFill>
                  <a:srgbClr val="FFFFFF"/>
                </a:solidFill>
                <a:latin typeface="Consolas"/>
              </a:rPr>
              <a:t>run_sampling_request</a:t>
            </a:r>
          </a:p>
        </p:txBody>
      </p:sp>
      <p:sp>
        <p:nvSpPr>
          <p:cNvPr id="12" name="Rounded Rectangle 11"/>
          <p:cNvSpPr/>
          <p:nvPr/>
        </p:nvSpPr>
        <p:spPr>
          <a:xfrm>
            <a:off x="969264" y="2542032"/>
            <a:ext cx="5084064" cy="329184"/>
          </a:xfrm>
          <a:prstGeom prst="roundRect">
            <a:avLst>
              <a:gd name="adj" fmla="val 12000"/>
            </a:avLst>
          </a:prstGeom>
          <a:solidFill>
            <a:srgbClr val="E9E7E6"/>
          </a:solidFill>
          <a:ln w="12700">
            <a:solidFill>
              <a:srgbClr val="E9E7E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l">
              <a:spcBef>
                <a:spcPts val="0"/>
              </a:spcBef>
              <a:spcAft>
                <a:spcPts val="0"/>
              </a:spcAft>
            </a:pPr>
            <a:r>
              <a:rPr sz="1100" b="0" i="0">
                <a:solidFill>
                  <a:srgbClr val="605E5C"/>
                </a:solidFill>
                <a:latin typeface="Consolas"/>
              </a:rPr>
              <a:t>try_run_sampling_request</a:t>
            </a:r>
          </a:p>
        </p:txBody>
      </p:sp>
      <p:sp>
        <p:nvSpPr>
          <p:cNvPr id="13" name="Rounded Rectangle 12"/>
          <p:cNvSpPr/>
          <p:nvPr/>
        </p:nvSpPr>
        <p:spPr>
          <a:xfrm>
            <a:off x="1280160" y="2962656"/>
            <a:ext cx="4773168" cy="329184"/>
          </a:xfrm>
          <a:prstGeom prst="roundRect">
            <a:avLst>
              <a:gd name="adj" fmla="val 12000"/>
            </a:avLst>
          </a:prstGeom>
          <a:solidFill>
            <a:srgbClr val="E9E7E6"/>
          </a:solidFill>
          <a:ln w="12700">
            <a:solidFill>
              <a:srgbClr val="E9E7E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l">
              <a:spcBef>
                <a:spcPts val="0"/>
              </a:spcBef>
              <a:spcAft>
                <a:spcPts val="0"/>
              </a:spcAft>
            </a:pPr>
            <a:r>
              <a:rPr sz="1100" b="0" i="0">
                <a:solidFill>
                  <a:srgbClr val="605E5C"/>
                </a:solidFill>
                <a:latin typeface="Consolas"/>
              </a:rPr>
              <a:t>stream_request</a:t>
            </a:r>
          </a:p>
        </p:txBody>
      </p:sp>
      <p:sp>
        <p:nvSpPr>
          <p:cNvPr id="14" name="Rounded Rectangle 13"/>
          <p:cNvSpPr/>
          <p:nvPr/>
        </p:nvSpPr>
        <p:spPr>
          <a:xfrm>
            <a:off x="1591056" y="3383280"/>
            <a:ext cx="4462272" cy="329184"/>
          </a:xfrm>
          <a:prstGeom prst="roundRect">
            <a:avLst>
              <a:gd name="adj" fmla="val 12000"/>
            </a:avLst>
          </a:prstGeom>
          <a:solidFill>
            <a:srgbClr val="E9E7E6"/>
          </a:solidFill>
          <a:ln w="12700">
            <a:solidFill>
              <a:srgbClr val="E9E7E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l">
              <a:spcBef>
                <a:spcPts val="0"/>
              </a:spcBef>
              <a:spcAft>
                <a:spcPts val="0"/>
              </a:spcAft>
            </a:pPr>
            <a:r>
              <a:rPr sz="1100" b="0" i="0">
                <a:solidFill>
                  <a:srgbClr val="605E5C"/>
                </a:solidFill>
                <a:latin typeface="Consolas"/>
              </a:rPr>
              <a:t>model_client.stream_responses_api</a:t>
            </a:r>
          </a:p>
        </p:txBody>
      </p:sp>
      <p:sp>
        <p:nvSpPr>
          <p:cNvPr id="15" name="Rounded Rectangle 14"/>
          <p:cNvSpPr/>
          <p:nvPr/>
        </p:nvSpPr>
        <p:spPr>
          <a:xfrm>
            <a:off x="1901952" y="3803904"/>
            <a:ext cx="4151376" cy="329184"/>
          </a:xfrm>
          <a:prstGeom prst="roundRect">
            <a:avLst>
              <a:gd name="adj" fmla="val 12000"/>
            </a:avLst>
          </a:prstGeom>
          <a:solidFill>
            <a:srgbClr val="E9E7E6"/>
          </a:solidFill>
          <a:ln w="12700">
            <a:solidFill>
              <a:srgbClr val="E9E7E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l">
              <a:spcBef>
                <a:spcPts val="0"/>
              </a:spcBef>
              <a:spcAft>
                <a:spcPts val="0"/>
              </a:spcAft>
            </a:pPr>
            <a:r>
              <a:rPr sz="1100" b="0" i="0">
                <a:solidFill>
                  <a:srgbClr val="605E5C"/>
                </a:solidFill>
                <a:latin typeface="Consolas"/>
              </a:rPr>
              <a:t>responses.stream_request</a:t>
            </a:r>
          </a:p>
        </p:txBody>
      </p:sp>
      <p:sp>
        <p:nvSpPr>
          <p:cNvPr id="16" name="TextBox 15"/>
          <p:cNvSpPr txBox="1"/>
          <p:nvPr/>
        </p:nvSpPr>
        <p:spPr>
          <a:xfrm>
            <a:off x="658368" y="4334256"/>
            <a:ext cx="5760720" cy="457200"/>
          </a:xfrm>
          <a:prstGeom prst="rect">
            <a:avLst/>
          </a:prstGeom>
          <a:noFill/>
        </p:spPr>
        <p:txBody>
          <a:bodyPr wrap="square" lIns="0" rIns="0" tIns="0" bIns="0" anchor="t">
            <a:spAutoFit/>
          </a:bodyPr>
          <a:lstStyle/>
          <a:p>
            <a:pPr algn="l">
              <a:lnSpc>
                <a:spcPct val="125000"/>
              </a:lnSpc>
              <a:spcBef>
                <a:spcPts val="0"/>
              </a:spcBef>
              <a:spcAft>
                <a:spcPts val="0"/>
              </a:spcAft>
            </a:pPr>
            <a:r>
              <a:rPr sz="1200" b="1" i="0">
                <a:solidFill>
                  <a:srgbClr val="14243E"/>
                </a:solidFill>
                <a:latin typeface="Segoe UI"/>
              </a:rPr>
              <a:t>5 spans. </a:t>
            </a:r>
            <a:r>
              <a:rPr sz="1200" b="0" i="0">
                <a:solidFill>
                  <a:srgbClr val="605E5C"/>
                </a:solidFill>
                <a:latin typeface="Segoe UI"/>
              </a:rPr>
              <a:t>1 model call. All five report the same token count. A generic viewer calls that five operations.</a:t>
            </a:r>
          </a:p>
        </p:txBody>
      </p:sp>
      <p:sp>
        <p:nvSpPr>
          <p:cNvPr id="17" name="TextBox 16"/>
          <p:cNvSpPr txBox="1"/>
          <p:nvPr/>
        </p:nvSpPr>
        <p:spPr>
          <a:xfrm>
            <a:off x="6967728" y="1755648"/>
            <a:ext cx="4572000" cy="274320"/>
          </a:xfrm>
          <a:prstGeom prst="rect">
            <a:avLst/>
          </a:prstGeom>
          <a:noFill/>
        </p:spPr>
        <p:txBody>
          <a:bodyPr wrap="square" lIns="0" rIns="0" tIns="0" bIns="0" anchor="t">
            <a:spAutoFit/>
          </a:bodyPr>
          <a:lstStyle/>
          <a:p>
            <a:pPr algn="l">
              <a:spcBef>
                <a:spcPts val="0"/>
              </a:spcBef>
              <a:spcAft>
                <a:spcPts val="0"/>
              </a:spcAft>
            </a:pPr>
            <a:r>
              <a:rPr sz="1050" b="1" i="0">
                <a:solidFill>
                  <a:srgbClr val="E87C00"/>
                </a:solidFill>
                <a:latin typeface="Segoe UI Semibold"/>
              </a:rPr>
              <a:t>AND NOBODY AGREES ON THE NAMES</a:t>
            </a:r>
          </a:p>
        </p:txBody>
      </p:sp>
      <p:sp>
        <p:nvSpPr>
          <p:cNvPr id="18" name="Rounded Rectangle 17"/>
          <p:cNvSpPr/>
          <p:nvPr/>
        </p:nvSpPr>
        <p:spPr>
          <a:xfrm>
            <a:off x="6967728" y="2121408"/>
            <a:ext cx="4562856" cy="2066543"/>
          </a:xfrm>
          <a:prstGeom prst="roundRect">
            <a:avLst>
              <a:gd name="adj" fmla="val 3000"/>
            </a:avLst>
          </a:prstGeom>
          <a:solidFill>
            <a:srgbClr val="14243E"/>
          </a:solidFill>
          <a:ln w="12700">
            <a:solidFill>
              <a:srgbClr val="14243E"/>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lnSpc>
                <a:spcPct val="116000"/>
              </a:lnSpc>
              <a:spcBef>
                <a:spcPts val="0"/>
              </a:spcBef>
              <a:spcAft>
                <a:spcPts val="100"/>
              </a:spcAft>
            </a:pPr>
            <a:r>
              <a:rPr sz="1100" b="0" i="0">
                <a:solidFill>
                  <a:srgbClr val="7A93B8"/>
                </a:solidFill>
                <a:latin typeface="Consolas"/>
              </a:rPr>
              <a:t>// “input tokens”, three ways</a:t>
            </a:r>
          </a:p>
          <a:p>
            <a:pPr algn="l">
              <a:lnSpc>
                <a:spcPct val="116000"/>
              </a:lnSpc>
              <a:spcBef>
                <a:spcPts val="0"/>
              </a:spcBef>
              <a:spcAft>
                <a:spcPts val="100"/>
              </a:spcAft>
            </a:pPr>
            <a:r>
              <a:rPr sz="1100" b="0" i="0">
                <a:solidFill>
                  <a:srgbClr val="50E6FF"/>
                </a:solidFill>
                <a:latin typeface="Consolas"/>
              </a:rPr>
              <a:t>gen_ai.usage.input_tokens</a:t>
            </a:r>
            <a:r>
              <a:rPr sz="1100" b="0" i="0">
                <a:solidFill>
                  <a:srgbClr val="7A93B8"/>
                </a:solidFill>
                <a:latin typeface="Consolas"/>
              </a:rPr>
              <a:t>      OTel semconv</a:t>
            </a:r>
          </a:p>
          <a:p>
            <a:pPr algn="l">
              <a:lnSpc>
                <a:spcPct val="116000"/>
              </a:lnSpc>
              <a:spcBef>
                <a:spcPts val="0"/>
              </a:spcBef>
              <a:spcAft>
                <a:spcPts val="100"/>
              </a:spcAft>
            </a:pPr>
            <a:r>
              <a:rPr sz="1100" b="0" i="0">
                <a:solidFill>
                  <a:srgbClr val="50E6FF"/>
                </a:solidFill>
                <a:latin typeface="Consolas"/>
              </a:rPr>
              <a:t>llm.usage.prompt_tokens</a:t>
            </a:r>
            <a:r>
              <a:rPr sz="1100" b="0" i="0">
                <a:solidFill>
                  <a:srgbClr val="7A93B8"/>
                </a:solidFill>
                <a:latin typeface="Consolas"/>
              </a:rPr>
              <a:t>        Copilot legacy</a:t>
            </a:r>
          </a:p>
          <a:p>
            <a:pPr algn="l">
              <a:lnSpc>
                <a:spcPct val="116000"/>
              </a:lnSpc>
              <a:spcBef>
                <a:spcPts val="0"/>
              </a:spcBef>
              <a:spcAft>
                <a:spcPts val="100"/>
              </a:spcAft>
            </a:pPr>
            <a:r>
              <a:rPr sz="1100" b="0" i="0">
                <a:solidFill>
                  <a:srgbClr val="50E6FF"/>
                </a:solidFill>
                <a:latin typeface="Consolas"/>
              </a:rPr>
              <a:t>input_tokens</a:t>
            </a:r>
            <a:r>
              <a:rPr sz="1100" b="0" i="0">
                <a:solidFill>
                  <a:srgbClr val="7A93B8"/>
                </a:solidFill>
                <a:latin typeface="Consolas"/>
              </a:rPr>
              <a:t>                   Claude Code</a:t>
            </a:r>
          </a:p>
          <a:p>
            <a:pPr algn="l">
              <a:lnSpc>
                <a:spcPct val="116000"/>
              </a:lnSpc>
              <a:spcBef>
                <a:spcPts val="0"/>
              </a:spcBef>
              <a:spcAft>
                <a:spcPts val="100"/>
              </a:spcAft>
            </a:pPr>
            <a:r>
              <a:rPr sz="1100" b="0" i="0">
                <a:solidFill>
                  <a:srgbClr val="E8EEF7"/>
                </a:solidFill>
                <a:latin typeface="Consolas"/>
              </a:rPr>
              <a:t/>
            </a:r>
          </a:p>
          <a:p>
            <a:pPr algn="l">
              <a:lnSpc>
                <a:spcPct val="116000"/>
              </a:lnSpc>
              <a:spcBef>
                <a:spcPts val="0"/>
              </a:spcBef>
              <a:spcAft>
                <a:spcPts val="100"/>
              </a:spcAft>
            </a:pPr>
            <a:r>
              <a:rPr sz="1100" b="0" i="0">
                <a:solidFill>
                  <a:srgbClr val="7A93B8"/>
                </a:solidFill>
                <a:latin typeface="Consolas"/>
              </a:rPr>
              <a:t>// “model”, four ways</a:t>
            </a:r>
          </a:p>
          <a:p>
            <a:pPr algn="l">
              <a:lnSpc>
                <a:spcPct val="116000"/>
              </a:lnSpc>
              <a:spcBef>
                <a:spcPts val="0"/>
              </a:spcBef>
              <a:spcAft>
                <a:spcPts val="100"/>
              </a:spcAft>
            </a:pPr>
            <a:r>
              <a:rPr sz="1100" b="0" i="0">
                <a:solidFill>
                  <a:srgbClr val="50E6FF"/>
                </a:solidFill>
                <a:latin typeface="Consolas"/>
              </a:rPr>
              <a:t>gen_ai.request.model  gen_ai.response.model</a:t>
            </a:r>
          </a:p>
          <a:p>
            <a:pPr algn="l">
              <a:lnSpc>
                <a:spcPct val="116000"/>
              </a:lnSpc>
              <a:spcBef>
                <a:spcPts val="0"/>
              </a:spcBef>
              <a:spcAft>
                <a:spcPts val="100"/>
              </a:spcAft>
            </a:pPr>
            <a:r>
              <a:rPr sz="1100" b="0" i="0">
                <a:solidFill>
                  <a:srgbClr val="50E6FF"/>
                </a:solidFill>
                <a:latin typeface="Consolas"/>
              </a:rPr>
              <a:t>llm.model             model</a:t>
            </a:r>
          </a:p>
        </p:txBody>
      </p:sp>
      <p:sp>
        <p:nvSpPr>
          <p:cNvPr id="19" name="TextBox 18"/>
          <p:cNvSpPr txBox="1"/>
          <p:nvPr/>
        </p:nvSpPr>
        <p:spPr>
          <a:xfrm>
            <a:off x="6967728" y="4315968"/>
            <a:ext cx="4480560" cy="457200"/>
          </a:xfrm>
          <a:prstGeom prst="rect">
            <a:avLst/>
          </a:prstGeom>
          <a:noFill/>
        </p:spPr>
        <p:txBody>
          <a:bodyPr wrap="square" lIns="0" rIns="0" tIns="0" bIns="0" anchor="t">
            <a:spAutoFit/>
          </a:bodyPr>
          <a:lstStyle/>
          <a:p>
            <a:pPr algn="l">
              <a:lnSpc>
                <a:spcPct val="125000"/>
              </a:lnSpc>
              <a:spcBef>
                <a:spcPts val="0"/>
              </a:spcBef>
              <a:spcAft>
                <a:spcPts val="0"/>
              </a:spcAft>
            </a:pPr>
            <a:r>
              <a:rPr sz="1200" b="0" i="0">
                <a:solidFill>
                  <a:srgbClr val="605E5C"/>
                </a:solidFill>
                <a:latin typeface="Segoe UI"/>
              </a:rPr>
              <a:t>Ask a generic viewer “how many tokens today?” and it answers with whichever third of your data happened to use the key it knows.</a:t>
            </a:r>
          </a:p>
        </p:txBody>
      </p:sp>
      <p:sp>
        <p:nvSpPr>
          <p:cNvPr id="20" name="Rounded Rectangle 19"/>
          <p:cNvSpPr/>
          <p:nvPr/>
        </p:nvSpPr>
        <p:spPr>
          <a:xfrm>
            <a:off x="658368" y="5230368"/>
            <a:ext cx="10872216" cy="841248"/>
          </a:xfrm>
          <a:prstGeom prst="roundRect">
            <a:avLst>
              <a:gd name="adj" fmla="val 4500"/>
            </a:avLst>
          </a:prstGeom>
          <a:solidFill>
            <a:srgbClr val="14243E"/>
          </a:solidFill>
          <a:ln w="12700">
            <a:solidFill>
              <a:srgbClr val="14243E"/>
            </a:solidFill>
          </a:ln>
          <a:effectLst/>
        </p:spPr>
        <p:style>
          <a:lnRef idx="1">
            <a:schemeClr val="accent1"/>
          </a:lnRef>
          <a:fillRef idx="3">
            <a:schemeClr val="accent1"/>
          </a:fillRef>
          <a:effectRef idx="2">
            <a:schemeClr val="accent1"/>
          </a:effectRef>
          <a:fontRef idx="minor">
            <a:schemeClr val="lt1"/>
          </a:fontRef>
        </p:style>
        <p:txBody>
          <a:bodyPr rtlCol="0" anchor="ctr" wrap="square" lIns="329184" rIns="329184"/>
          <a:lstStyle/>
          <a:p>
            <a:pPr algn="l">
              <a:lnSpc>
                <a:spcPct val="124000"/>
              </a:lnSpc>
              <a:spcBef>
                <a:spcPts val="0"/>
              </a:spcBef>
              <a:spcAft>
                <a:spcPts val="0"/>
              </a:spcAft>
            </a:pPr>
            <a:r>
              <a:rPr sz="1300" b="1" i="0">
                <a:solidFill>
                  <a:srgbClr val="50E6FF"/>
                </a:solidFill>
                <a:latin typeface="Segoe UI"/>
              </a:rPr>
              <a:t>Worse: some of the conversation isn’t in the traces at all. </a:t>
            </a:r>
            <a:r>
              <a:rPr sz="1300" b="0" i="0">
                <a:solidFill>
                  <a:srgbClr val="C3D1E6"/>
                </a:solidFill>
                <a:latin typeface="Segoe UI"/>
              </a:rPr>
              <a:t>Claude puts your prompt on a span and the model’s reply in a log record. Codex reports content only as logs — and strips the payload out of every assistant message, so it never exports the model’s words at all.</a:t>
            </a:r>
          </a:p>
        </p:txBody>
      </p:sp>
      <p:sp>
        <p:nvSpPr>
          <p:cNvPr id="21" name="TextBox 20"/>
          <p:cNvSpPr txBox="1"/>
          <p:nvPr/>
        </p:nvSpPr>
        <p:spPr>
          <a:xfrm>
            <a:off x="658368" y="6382512"/>
            <a:ext cx="8686800" cy="237744"/>
          </a:xfrm>
          <a:prstGeom prst="rect">
            <a:avLst/>
          </a:prstGeom>
          <a:noFill/>
        </p:spPr>
        <p:txBody>
          <a:bodyPr wrap="square" lIns="0" rIns="0" tIns="0" bIns="0" anchor="t">
            <a:spAutoFit/>
          </a:bodyPr>
          <a:lstStyle/>
          <a:p>
            <a:pPr algn="l">
              <a:spcBef>
                <a:spcPts val="0"/>
              </a:spcBef>
              <a:spcAft>
                <a:spcPts val="0"/>
              </a:spcAft>
            </a:pPr>
            <a:r>
              <a:rPr sz="900" b="0" i="0">
                <a:solidFill>
                  <a:srgbClr val="8A8886"/>
                </a:solidFill>
                <a:latin typeface="Segoe UI"/>
              </a:rPr>
              <a:t>Microsoft  ·  Agent Insights</a:t>
            </a:r>
          </a:p>
        </p:txBody>
      </p:sp>
      <p:sp>
        <p:nvSpPr>
          <p:cNvPr id="22" name="TextBox 21"/>
          <p:cNvSpPr txBox="1"/>
          <p:nvPr/>
        </p:nvSpPr>
        <p:spPr>
          <a:xfrm>
            <a:off x="10835640" y="6382512"/>
            <a:ext cx="694944" cy="237744"/>
          </a:xfrm>
          <a:prstGeom prst="rect">
            <a:avLst/>
          </a:prstGeom>
          <a:noFill/>
        </p:spPr>
        <p:txBody>
          <a:bodyPr wrap="square" lIns="0" rIns="0" tIns="0" bIns="0" anchor="t">
            <a:spAutoFit/>
          </a:bodyPr>
          <a:lstStyle/>
          <a:p>
            <a:pPr algn="r">
              <a:spcBef>
                <a:spcPts val="0"/>
              </a:spcBef>
              <a:spcAft>
                <a:spcPts val="0"/>
              </a:spcAft>
            </a:pPr>
            <a:r>
              <a:rPr sz="900" b="0" i="0">
                <a:solidFill>
                  <a:srgbClr val="8A8886"/>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47925" cy="685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47923" y="0"/>
            <a:ext cx="3047925" cy="68580"/>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6095847" y="0"/>
            <a:ext cx="3047925" cy="6858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143771" y="0"/>
            <a:ext cx="3047925" cy="68580"/>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384048"/>
            <a:ext cx="10872216" cy="237744"/>
          </a:xfrm>
          <a:prstGeom prst="rect">
            <a:avLst/>
          </a:prstGeom>
          <a:noFill/>
        </p:spPr>
        <p:txBody>
          <a:bodyPr wrap="square" lIns="0" rIns="0" tIns="0" bIns="0" anchor="t">
            <a:spAutoFit/>
          </a:bodyPr>
          <a:lstStyle/>
          <a:p>
            <a:pPr algn="l">
              <a:spcBef>
                <a:spcPts val="0"/>
              </a:spcBef>
              <a:spcAft>
                <a:spcPts val="0"/>
              </a:spcAft>
            </a:pPr>
            <a:r>
              <a:rPr sz="1050" b="1" i="0">
                <a:solidFill>
                  <a:srgbClr val="0078D4"/>
                </a:solidFill>
                <a:latin typeface="Segoe UI Semibold"/>
              </a:rPr>
              <a:t>01  PROBLEM · THE BRIEF</a:t>
            </a:r>
          </a:p>
        </p:txBody>
      </p:sp>
      <p:sp>
        <p:nvSpPr>
          <p:cNvPr id="7" name="TextBox 6"/>
          <p:cNvSpPr txBox="1"/>
          <p:nvPr/>
        </p:nvSpPr>
        <p:spPr>
          <a:xfrm>
            <a:off x="658368" y="658368"/>
            <a:ext cx="10872216" cy="502920"/>
          </a:xfrm>
          <a:prstGeom prst="rect">
            <a:avLst/>
          </a:prstGeom>
          <a:noFill/>
        </p:spPr>
        <p:txBody>
          <a:bodyPr wrap="square" lIns="0" rIns="0" tIns="0" bIns="0" anchor="t">
            <a:spAutoFit/>
          </a:bodyPr>
          <a:lstStyle/>
          <a:p>
            <a:pPr algn="l">
              <a:spcBef>
                <a:spcPts val="0"/>
              </a:spcBef>
              <a:spcAft>
                <a:spcPts val="0"/>
              </a:spcAft>
            </a:pPr>
            <a:r>
              <a:rPr sz="2900" b="0" i="0">
                <a:solidFill>
                  <a:srgbClr val="14243E"/>
                </a:solidFill>
                <a:latin typeface="Segoe UI Light"/>
              </a:rPr>
              <a:t>What I set out to build</a:t>
            </a:r>
          </a:p>
        </p:txBody>
      </p:sp>
      <p:sp>
        <p:nvSpPr>
          <p:cNvPr id="8" name="TextBox 7"/>
          <p:cNvSpPr txBox="1"/>
          <p:nvPr/>
        </p:nvSpPr>
        <p:spPr>
          <a:xfrm>
            <a:off x="658368" y="1207008"/>
            <a:ext cx="10872216" cy="329184"/>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605E5C"/>
                </a:solidFill>
                <a:latin typeface="Segoe UI"/>
              </a:rPr>
              <a:t>One extension that makes agent telemetry readable — without sending any of it off your machine.</a:t>
            </a:r>
          </a:p>
        </p:txBody>
      </p:sp>
      <p:sp>
        <p:nvSpPr>
          <p:cNvPr id="9" name="Rectangle 8"/>
          <p:cNvSpPr/>
          <p:nvPr/>
        </p:nvSpPr>
        <p:spPr>
          <a:xfrm>
            <a:off x="658368" y="1591056"/>
            <a:ext cx="960120" cy="320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58368" y="1737360"/>
            <a:ext cx="10872216" cy="1060704"/>
          </a:xfrm>
          <a:prstGeom prst="roundRect">
            <a:avLst>
              <a:gd name="adj" fmla="val 4500"/>
            </a:avLst>
          </a:prstGeom>
          <a:solidFill>
            <a:srgbClr val="14243E"/>
          </a:solidFill>
          <a:ln w="12700">
            <a:solidFill>
              <a:srgbClr val="14243E"/>
            </a:solidFill>
          </a:ln>
          <a:effectLst/>
        </p:spPr>
        <p:style>
          <a:lnRef idx="1">
            <a:schemeClr val="accent1"/>
          </a:lnRef>
          <a:fillRef idx="3">
            <a:schemeClr val="accent1"/>
          </a:fillRef>
          <a:effectRef idx="2">
            <a:schemeClr val="accent1"/>
          </a:effectRef>
          <a:fontRef idx="minor">
            <a:schemeClr val="lt1"/>
          </a:fontRef>
        </p:style>
        <p:txBody>
          <a:bodyPr rtlCol="0" anchor="ctr" wrap="square" lIns="384048" rIns="329184"/>
          <a:lstStyle/>
          <a:p>
            <a:pPr algn="l">
              <a:spcBef>
                <a:spcPts val="0"/>
              </a:spcBef>
              <a:spcAft>
                <a:spcPts val="700"/>
              </a:spcAft>
            </a:pPr>
            <a:r>
              <a:rPr sz="1000" b="1" i="0">
                <a:solidFill>
                  <a:srgbClr val="50E6FF"/>
                </a:solidFill>
                <a:latin typeface="Segoe UI Semibold"/>
              </a:rPr>
              <a:t>THE GOAL</a:t>
            </a:r>
          </a:p>
          <a:p>
            <a:pPr algn="l">
              <a:lnSpc>
                <a:spcPct val="125000"/>
              </a:lnSpc>
              <a:spcBef>
                <a:spcPts val="0"/>
              </a:spcBef>
              <a:spcAft>
                <a:spcPts val="0"/>
              </a:spcAft>
            </a:pPr>
            <a:r>
              <a:rPr sz="1600" b="0" i="0">
                <a:solidFill>
                  <a:srgbClr val="FFFFFF"/>
                </a:solidFill>
                <a:latin typeface="Segoe UI"/>
              </a:rPr>
              <a:t>Close the gap </a:t>
            </a:r>
            <a:r>
              <a:rPr sz="1600" b="1" i="1">
                <a:solidFill>
                  <a:srgbClr val="50E6FF"/>
                </a:solidFill>
                <a:latin typeface="Segoe UI"/>
              </a:rPr>
              <a:t>after</a:t>
            </a:r>
            <a:r>
              <a:rPr sz="1600" b="0" i="0">
                <a:solidFill>
                  <a:srgbClr val="FFFFFF"/>
                </a:solidFill>
                <a:latin typeface="Segoe UI"/>
              </a:rPr>
              <a:t> you turn OpenTelemetry on — give humans and agents inside VS Code a way to actually consume the telemetry their agent runs already emit.</a:t>
            </a:r>
          </a:p>
        </p:txBody>
      </p:sp>
      <p:sp>
        <p:nvSpPr>
          <p:cNvPr id="11" name="Rectangle 10"/>
          <p:cNvSpPr/>
          <p:nvPr/>
        </p:nvSpPr>
        <p:spPr>
          <a:xfrm>
            <a:off x="658368" y="1737360"/>
            <a:ext cx="68580" cy="10607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58368" y="3035808"/>
            <a:ext cx="2615184" cy="1773936"/>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58368" y="3035808"/>
            <a:ext cx="2615184" cy="50292"/>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877824" y="3310128"/>
            <a:ext cx="329184" cy="329184"/>
          </a:xfrm>
          <a:prstGeom prst="roundRect">
            <a:avLst>
              <a:gd name="adj" fmla="val 50000"/>
            </a:avLst>
          </a:prstGeom>
          <a:solidFill>
            <a:srgbClr val="0078D4"/>
          </a:solidFill>
          <a:ln w="127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150" b="1" i="0">
                <a:solidFill>
                  <a:srgbClr val="FFFFFF"/>
                </a:solidFill>
                <a:latin typeface="Segoe UI"/>
              </a:rPr>
              <a:t>1</a:t>
            </a:r>
          </a:p>
        </p:txBody>
      </p:sp>
      <p:sp>
        <p:nvSpPr>
          <p:cNvPr id="15" name="TextBox 14"/>
          <p:cNvSpPr txBox="1"/>
          <p:nvPr/>
        </p:nvSpPr>
        <p:spPr>
          <a:xfrm>
            <a:off x="1298448" y="3319272"/>
            <a:ext cx="1755648" cy="329184"/>
          </a:xfrm>
          <a:prstGeom prst="rect">
            <a:avLst/>
          </a:prstGeom>
          <a:noFill/>
        </p:spPr>
        <p:txBody>
          <a:bodyPr wrap="square" lIns="0" rIns="0" tIns="0" bIns="0" anchor="t">
            <a:spAutoFit/>
          </a:bodyPr>
          <a:lstStyle/>
          <a:p>
            <a:pPr algn="l">
              <a:spcBef>
                <a:spcPts val="0"/>
              </a:spcBef>
              <a:spcAft>
                <a:spcPts val="0"/>
              </a:spcAft>
            </a:pPr>
            <a:r>
              <a:rPr sz="1350" b="1" i="0">
                <a:solidFill>
                  <a:srgbClr val="14243E"/>
                </a:solidFill>
                <a:latin typeface="Segoe UI"/>
              </a:rPr>
              <a:t>Collect</a:t>
            </a:r>
          </a:p>
        </p:txBody>
      </p:sp>
      <p:sp>
        <p:nvSpPr>
          <p:cNvPr id="16" name="TextBox 15"/>
          <p:cNvSpPr txBox="1"/>
          <p:nvPr/>
        </p:nvSpPr>
        <p:spPr>
          <a:xfrm>
            <a:off x="877824" y="3785616"/>
            <a:ext cx="2176272" cy="914400"/>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605E5C"/>
                </a:solidFill>
                <a:latin typeface="Segoe UI"/>
              </a:rPr>
              <a:t>Receive OTLP from every agent on the machine — without any of it leaving the machine</a:t>
            </a:r>
          </a:p>
        </p:txBody>
      </p:sp>
      <p:sp>
        <p:nvSpPr>
          <p:cNvPr id="17" name="Rounded Rectangle 16"/>
          <p:cNvSpPr/>
          <p:nvPr/>
        </p:nvSpPr>
        <p:spPr>
          <a:xfrm>
            <a:off x="3415284" y="3035808"/>
            <a:ext cx="2615184" cy="1773936"/>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3415284" y="3035808"/>
            <a:ext cx="2615184" cy="50292"/>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3634740" y="3310128"/>
            <a:ext cx="329184" cy="329184"/>
          </a:xfrm>
          <a:prstGeom prst="roundRect">
            <a:avLst>
              <a:gd name="adj" fmla="val 50000"/>
            </a:avLst>
          </a:prstGeom>
          <a:solidFill>
            <a:srgbClr val="00B7C3"/>
          </a:solidFill>
          <a:ln w="12700">
            <a:solidFill>
              <a:srgbClr val="00B7C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150" b="1" i="0">
                <a:solidFill>
                  <a:srgbClr val="FFFFFF"/>
                </a:solidFill>
                <a:latin typeface="Segoe UI"/>
              </a:rPr>
              <a:t>2</a:t>
            </a:r>
          </a:p>
        </p:txBody>
      </p:sp>
      <p:sp>
        <p:nvSpPr>
          <p:cNvPr id="20" name="TextBox 19"/>
          <p:cNvSpPr txBox="1"/>
          <p:nvPr/>
        </p:nvSpPr>
        <p:spPr>
          <a:xfrm>
            <a:off x="4055364" y="3319272"/>
            <a:ext cx="1755648" cy="329184"/>
          </a:xfrm>
          <a:prstGeom prst="rect">
            <a:avLst/>
          </a:prstGeom>
          <a:noFill/>
        </p:spPr>
        <p:txBody>
          <a:bodyPr wrap="square" lIns="0" rIns="0" tIns="0" bIns="0" anchor="t">
            <a:spAutoFit/>
          </a:bodyPr>
          <a:lstStyle/>
          <a:p>
            <a:pPr algn="l">
              <a:spcBef>
                <a:spcPts val="0"/>
              </a:spcBef>
              <a:spcAft>
                <a:spcPts val="0"/>
              </a:spcAft>
            </a:pPr>
            <a:r>
              <a:rPr sz="1350" b="1" i="0">
                <a:solidFill>
                  <a:srgbClr val="14243E"/>
                </a:solidFill>
                <a:latin typeface="Segoe UI"/>
              </a:rPr>
              <a:t>Store</a:t>
            </a:r>
          </a:p>
        </p:txBody>
      </p:sp>
      <p:sp>
        <p:nvSpPr>
          <p:cNvPr id="21" name="TextBox 20"/>
          <p:cNvSpPr txBox="1"/>
          <p:nvPr/>
        </p:nvSpPr>
        <p:spPr>
          <a:xfrm>
            <a:off x="3634740" y="3785616"/>
            <a:ext cx="2176272" cy="914400"/>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605E5C"/>
                </a:solidFill>
                <a:latin typeface="Segoe UI"/>
              </a:rPr>
              <a:t>Keep it locally, queryable, and small enough to live inside an editor</a:t>
            </a:r>
          </a:p>
        </p:txBody>
      </p:sp>
      <p:sp>
        <p:nvSpPr>
          <p:cNvPr id="22" name="Rounded Rectangle 21"/>
          <p:cNvSpPr/>
          <p:nvPr/>
        </p:nvSpPr>
        <p:spPr>
          <a:xfrm>
            <a:off x="6172200" y="3035808"/>
            <a:ext cx="2615184" cy="1773936"/>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6172200" y="3035808"/>
            <a:ext cx="2615184" cy="50292"/>
          </a:xfrm>
          <a:prstGeom prst="rect">
            <a:avLst/>
          </a:prstGeom>
          <a:solidFill>
            <a:srgbClr val="E87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6391656" y="3310128"/>
            <a:ext cx="329184" cy="329184"/>
          </a:xfrm>
          <a:prstGeom prst="roundRect">
            <a:avLst>
              <a:gd name="adj" fmla="val 50000"/>
            </a:avLst>
          </a:prstGeom>
          <a:solidFill>
            <a:srgbClr val="E87C00"/>
          </a:solidFill>
          <a:ln w="12700">
            <a:solidFill>
              <a:srgbClr val="E87C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150" b="1" i="0">
                <a:solidFill>
                  <a:srgbClr val="FFFFFF"/>
                </a:solidFill>
                <a:latin typeface="Segoe UI"/>
              </a:rPr>
              <a:t>3</a:t>
            </a:r>
          </a:p>
        </p:txBody>
      </p:sp>
      <p:sp>
        <p:nvSpPr>
          <p:cNvPr id="25" name="TextBox 24"/>
          <p:cNvSpPr txBox="1"/>
          <p:nvPr/>
        </p:nvSpPr>
        <p:spPr>
          <a:xfrm>
            <a:off x="6812280" y="3319272"/>
            <a:ext cx="1755648" cy="329184"/>
          </a:xfrm>
          <a:prstGeom prst="rect">
            <a:avLst/>
          </a:prstGeom>
          <a:noFill/>
        </p:spPr>
        <p:txBody>
          <a:bodyPr wrap="square" lIns="0" rIns="0" tIns="0" bIns="0" anchor="t">
            <a:spAutoFit/>
          </a:bodyPr>
          <a:lstStyle/>
          <a:p>
            <a:pPr algn="l">
              <a:spcBef>
                <a:spcPts val="0"/>
              </a:spcBef>
              <a:spcAft>
                <a:spcPts val="0"/>
              </a:spcAft>
            </a:pPr>
            <a:r>
              <a:rPr sz="1350" b="1" i="0">
                <a:solidFill>
                  <a:srgbClr val="14243E"/>
                </a:solidFill>
                <a:latin typeface="Segoe UI"/>
              </a:rPr>
              <a:t>Show a person</a:t>
            </a:r>
          </a:p>
        </p:txBody>
      </p:sp>
      <p:sp>
        <p:nvSpPr>
          <p:cNvPr id="26" name="TextBox 25"/>
          <p:cNvSpPr txBox="1"/>
          <p:nvPr/>
        </p:nvSpPr>
        <p:spPr>
          <a:xfrm>
            <a:off x="6391656" y="3785616"/>
            <a:ext cx="2176272" cy="914400"/>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605E5C"/>
                </a:solidFill>
                <a:latin typeface="Segoe UI"/>
              </a:rPr>
              <a:t>Explorers for traces, logs and metrics — and a view of an agent session as a session</a:t>
            </a:r>
          </a:p>
        </p:txBody>
      </p:sp>
      <p:sp>
        <p:nvSpPr>
          <p:cNvPr id="27" name="Rounded Rectangle 26"/>
          <p:cNvSpPr/>
          <p:nvPr/>
        </p:nvSpPr>
        <p:spPr>
          <a:xfrm>
            <a:off x="8929116" y="3035808"/>
            <a:ext cx="2615184" cy="1773936"/>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8929116" y="3035808"/>
            <a:ext cx="2615184" cy="50292"/>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9148572" y="3310128"/>
            <a:ext cx="329184" cy="329184"/>
          </a:xfrm>
          <a:prstGeom prst="roundRect">
            <a:avLst>
              <a:gd name="adj" fmla="val 50000"/>
            </a:avLst>
          </a:prstGeom>
          <a:solidFill>
            <a:srgbClr val="8661C5"/>
          </a:solidFill>
          <a:ln w="12700">
            <a:solidFill>
              <a:srgbClr val="8661C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150" b="1" i="0">
                <a:solidFill>
                  <a:srgbClr val="FFFFFF"/>
                </a:solidFill>
                <a:latin typeface="Segoe UI"/>
              </a:rPr>
              <a:t>4</a:t>
            </a:r>
          </a:p>
        </p:txBody>
      </p:sp>
      <p:sp>
        <p:nvSpPr>
          <p:cNvPr id="30" name="TextBox 29"/>
          <p:cNvSpPr txBox="1"/>
          <p:nvPr/>
        </p:nvSpPr>
        <p:spPr>
          <a:xfrm>
            <a:off x="9569196" y="3319272"/>
            <a:ext cx="1755648" cy="329184"/>
          </a:xfrm>
          <a:prstGeom prst="rect">
            <a:avLst/>
          </a:prstGeom>
          <a:noFill/>
        </p:spPr>
        <p:txBody>
          <a:bodyPr wrap="square" lIns="0" rIns="0" tIns="0" bIns="0" anchor="t">
            <a:spAutoFit/>
          </a:bodyPr>
          <a:lstStyle/>
          <a:p>
            <a:pPr algn="l">
              <a:spcBef>
                <a:spcPts val="0"/>
              </a:spcBef>
              <a:spcAft>
                <a:spcPts val="0"/>
              </a:spcAft>
            </a:pPr>
            <a:r>
              <a:rPr sz="1350" b="1" i="0">
                <a:solidFill>
                  <a:srgbClr val="14243E"/>
                </a:solidFill>
                <a:latin typeface="Segoe UI"/>
              </a:rPr>
              <a:t>Answer an agent</a:t>
            </a:r>
          </a:p>
        </p:txBody>
      </p:sp>
      <p:sp>
        <p:nvSpPr>
          <p:cNvPr id="31" name="TextBox 30"/>
          <p:cNvSpPr txBox="1"/>
          <p:nvPr/>
        </p:nvSpPr>
        <p:spPr>
          <a:xfrm>
            <a:off x="9148572" y="3785616"/>
            <a:ext cx="2176272" cy="914400"/>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605E5C"/>
                </a:solidFill>
                <a:latin typeface="Segoe UI"/>
              </a:rPr>
              <a:t>A tool surface Copilot can call, so the answer comes back in chat with a link into the panel</a:t>
            </a:r>
          </a:p>
        </p:txBody>
      </p:sp>
      <p:sp>
        <p:nvSpPr>
          <p:cNvPr id="32" name="Rounded Rectangle 31"/>
          <p:cNvSpPr/>
          <p:nvPr/>
        </p:nvSpPr>
        <p:spPr>
          <a:xfrm>
            <a:off x="658368" y="5358384"/>
            <a:ext cx="10872216" cy="731520"/>
          </a:xfrm>
          <a:prstGeom prst="roundRect">
            <a:avLst>
              <a:gd name="adj" fmla="val 4500"/>
            </a:avLst>
          </a:prstGeom>
          <a:solidFill>
            <a:srgbClr val="DEECF9"/>
          </a:solidFill>
          <a:ln w="12700">
            <a:solidFill>
              <a:srgbClr val="DEECF9"/>
            </a:solid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310896"/>
          <a:lstStyle/>
          <a:p>
            <a:pPr algn="l">
              <a:lnSpc>
                <a:spcPct val="122000"/>
              </a:lnSpc>
              <a:spcBef>
                <a:spcPts val="0"/>
              </a:spcBef>
              <a:spcAft>
                <a:spcPts val="0"/>
              </a:spcAft>
            </a:pPr>
            <a:r>
              <a:rPr sz="1300" b="1" i="0">
                <a:solidFill>
                  <a:srgbClr val="0078D4"/>
                </a:solidFill>
                <a:latin typeface="Segoe UI"/>
              </a:rPr>
              <a:t>Four verbs, one extension, one machine. </a:t>
            </a:r>
            <a:r>
              <a:rPr sz="1300" b="0" i="0">
                <a:solidFill>
                  <a:srgbClr val="14243E"/>
                </a:solidFill>
                <a:latin typeface="Segoe UI"/>
              </a:rPr>
              <a:t>The hard part turned out to be a fifth step nobody puts on the list — deciding what the data actually means.</a:t>
            </a:r>
          </a:p>
        </p:txBody>
      </p:sp>
      <p:sp>
        <p:nvSpPr>
          <p:cNvPr id="33" name="TextBox 32"/>
          <p:cNvSpPr txBox="1"/>
          <p:nvPr/>
        </p:nvSpPr>
        <p:spPr>
          <a:xfrm>
            <a:off x="658368" y="6382512"/>
            <a:ext cx="8686800" cy="237744"/>
          </a:xfrm>
          <a:prstGeom prst="rect">
            <a:avLst/>
          </a:prstGeom>
          <a:noFill/>
        </p:spPr>
        <p:txBody>
          <a:bodyPr wrap="square" lIns="0" rIns="0" tIns="0" bIns="0" anchor="t">
            <a:spAutoFit/>
          </a:bodyPr>
          <a:lstStyle/>
          <a:p>
            <a:pPr algn="l">
              <a:spcBef>
                <a:spcPts val="0"/>
              </a:spcBef>
              <a:spcAft>
                <a:spcPts val="0"/>
              </a:spcAft>
            </a:pPr>
            <a:r>
              <a:rPr sz="900" b="0" i="0">
                <a:solidFill>
                  <a:srgbClr val="8A8886"/>
                </a:solidFill>
                <a:latin typeface="Segoe UI"/>
              </a:rPr>
              <a:t>Microsoft  ·  Agent Insights</a:t>
            </a:r>
          </a:p>
        </p:txBody>
      </p:sp>
      <p:sp>
        <p:nvSpPr>
          <p:cNvPr id="34" name="TextBox 33"/>
          <p:cNvSpPr txBox="1"/>
          <p:nvPr/>
        </p:nvSpPr>
        <p:spPr>
          <a:xfrm>
            <a:off x="10835640" y="6382512"/>
            <a:ext cx="694944" cy="237744"/>
          </a:xfrm>
          <a:prstGeom prst="rect">
            <a:avLst/>
          </a:prstGeom>
          <a:noFill/>
        </p:spPr>
        <p:txBody>
          <a:bodyPr wrap="square" lIns="0" rIns="0" tIns="0" bIns="0" anchor="t">
            <a:spAutoFit/>
          </a:bodyPr>
          <a:lstStyle/>
          <a:p>
            <a:pPr algn="r">
              <a:spcBef>
                <a:spcPts val="0"/>
              </a:spcBef>
              <a:spcAft>
                <a:spcPts val="0"/>
              </a:spcAft>
            </a:pPr>
            <a:r>
              <a:rPr sz="900" b="0" i="0">
                <a:solidFill>
                  <a:srgbClr val="8A8886"/>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4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64592" cy="6858000"/>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51560" y="2121408"/>
            <a:ext cx="1828800" cy="1280160"/>
          </a:xfrm>
          <a:prstGeom prst="rect">
            <a:avLst/>
          </a:prstGeom>
          <a:noFill/>
        </p:spPr>
        <p:txBody>
          <a:bodyPr wrap="square" lIns="0" rIns="0" tIns="0" bIns="0" anchor="t">
            <a:spAutoFit/>
          </a:bodyPr>
          <a:lstStyle/>
          <a:p>
            <a:pPr algn="l">
              <a:spcBef>
                <a:spcPts val="0"/>
              </a:spcBef>
              <a:spcAft>
                <a:spcPts val="0"/>
              </a:spcAft>
            </a:pPr>
            <a:r>
              <a:rPr sz="8800" b="1" i="0">
                <a:solidFill>
                  <a:srgbClr val="E3008C"/>
                </a:solidFill>
                <a:latin typeface="Segoe UI Light"/>
              </a:rPr>
              <a:t>02</a:t>
            </a:r>
          </a:p>
        </p:txBody>
      </p:sp>
      <p:sp>
        <p:nvSpPr>
          <p:cNvPr id="5" name="Rectangle 4"/>
          <p:cNvSpPr/>
          <p:nvPr/>
        </p:nvSpPr>
        <p:spPr>
          <a:xfrm>
            <a:off x="2788920" y="2212848"/>
            <a:ext cx="27432" cy="1828800"/>
          </a:xfrm>
          <a:prstGeom prst="rect">
            <a:avLst/>
          </a:prstGeom>
          <a:solidFill>
            <a:srgbClr val="3A4E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3246120" y="2286000"/>
            <a:ext cx="7863840" cy="1737360"/>
          </a:xfrm>
          <a:prstGeom prst="rect">
            <a:avLst/>
          </a:prstGeom>
          <a:noFill/>
        </p:spPr>
        <p:txBody>
          <a:bodyPr wrap="square" lIns="0" rIns="0" tIns="0" bIns="0" anchor="t">
            <a:spAutoFit/>
          </a:bodyPr>
          <a:lstStyle/>
          <a:p>
            <a:pPr algn="l">
              <a:lnSpc>
                <a:spcPct val="110000"/>
              </a:lnSpc>
              <a:spcBef>
                <a:spcPts val="0"/>
              </a:spcBef>
              <a:spcAft>
                <a:spcPts val="1200"/>
              </a:spcAft>
            </a:pPr>
            <a:r>
              <a:rPr sz="4200" b="0" i="0">
                <a:solidFill>
                  <a:srgbClr val="FFFFFF"/>
                </a:solidFill>
                <a:latin typeface="Segoe UI Light"/>
              </a:rPr>
              <a:t>The twist</a:t>
            </a:r>
          </a:p>
          <a:p>
            <a:pPr algn="l">
              <a:lnSpc>
                <a:spcPct val="130000"/>
              </a:lnSpc>
              <a:spcBef>
                <a:spcPts val="0"/>
              </a:spcBef>
              <a:spcAft>
                <a:spcPts val="0"/>
              </a:spcAft>
            </a:pPr>
            <a:r>
              <a:rPr sz="1550" b="0" i="0">
                <a:solidFill>
                  <a:srgbClr val="93A6C4"/>
                </a:solidFill>
                <a:latin typeface="Segoe UI"/>
              </a:rPr>
              <a:t>Halfway through, VS Code shipped Agent Host — and
changed which problem I was solving.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47925" cy="685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47923" y="0"/>
            <a:ext cx="3047925" cy="68580"/>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6095847" y="0"/>
            <a:ext cx="3047925" cy="6858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143771" y="0"/>
            <a:ext cx="3047925" cy="68580"/>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384048"/>
            <a:ext cx="10872216" cy="237744"/>
          </a:xfrm>
          <a:prstGeom prst="rect">
            <a:avLst/>
          </a:prstGeom>
          <a:noFill/>
        </p:spPr>
        <p:txBody>
          <a:bodyPr wrap="square" lIns="0" rIns="0" tIns="0" bIns="0" anchor="t">
            <a:spAutoFit/>
          </a:bodyPr>
          <a:lstStyle/>
          <a:p>
            <a:pPr algn="l">
              <a:spcBef>
                <a:spcPts val="0"/>
              </a:spcBef>
              <a:spcAft>
                <a:spcPts val="0"/>
              </a:spcAft>
            </a:pPr>
            <a:r>
              <a:rPr sz="1050" b="1" i="0">
                <a:solidFill>
                  <a:srgbClr val="0078D4"/>
                </a:solidFill>
                <a:latin typeface="Segoe UI Semibold"/>
              </a:rPr>
              <a:t>02  THE TWIST · MID-PROJECT</a:t>
            </a:r>
          </a:p>
        </p:txBody>
      </p:sp>
      <p:sp>
        <p:nvSpPr>
          <p:cNvPr id="7" name="TextBox 6"/>
          <p:cNvSpPr txBox="1"/>
          <p:nvPr/>
        </p:nvSpPr>
        <p:spPr>
          <a:xfrm>
            <a:off x="658368" y="658368"/>
            <a:ext cx="10872216" cy="502920"/>
          </a:xfrm>
          <a:prstGeom prst="rect">
            <a:avLst/>
          </a:prstGeom>
          <a:noFill/>
        </p:spPr>
        <p:txBody>
          <a:bodyPr wrap="square" lIns="0" rIns="0" tIns="0" bIns="0" anchor="t">
            <a:spAutoFit/>
          </a:bodyPr>
          <a:lstStyle/>
          <a:p>
            <a:pPr algn="l">
              <a:spcBef>
                <a:spcPts val="0"/>
              </a:spcBef>
              <a:spcAft>
                <a:spcPts val="0"/>
              </a:spcAft>
            </a:pPr>
            <a:r>
              <a:rPr sz="2900" b="0" i="0">
                <a:solidFill>
                  <a:srgbClr val="14243E"/>
                </a:solidFill>
                <a:latin typeface="Segoe UI Light"/>
              </a:rPr>
              <a:t>VS Code shipped Agent Host — and moved the hard part</a:t>
            </a:r>
          </a:p>
        </p:txBody>
      </p:sp>
      <p:sp>
        <p:nvSpPr>
          <p:cNvPr id="8" name="TextBox 7"/>
          <p:cNvSpPr txBox="1"/>
          <p:nvPr/>
        </p:nvSpPr>
        <p:spPr>
          <a:xfrm>
            <a:off x="658368" y="1207008"/>
            <a:ext cx="10872216" cy="329184"/>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605E5C"/>
                </a:solidFill>
                <a:latin typeface="Segoe UI"/>
              </a:rPr>
              <a:t>Claude Code and Codex became native VS Code sessions. Collection got easier. Interpretation got harder.</a:t>
            </a:r>
          </a:p>
        </p:txBody>
      </p:sp>
      <p:sp>
        <p:nvSpPr>
          <p:cNvPr id="9" name="Rectangle 8"/>
          <p:cNvSpPr/>
          <p:nvPr/>
        </p:nvSpPr>
        <p:spPr>
          <a:xfrm>
            <a:off x="658368" y="1591056"/>
            <a:ext cx="960120" cy="320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58368" y="1773936"/>
            <a:ext cx="3986784" cy="2651760"/>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237744" tIns="201168"/>
          <a:lstStyle/>
          <a:p>
            <a:pPr algn="l">
              <a:spcBef>
                <a:spcPts val="0"/>
              </a:spcBef>
              <a:spcAft>
                <a:spcPts val="900"/>
              </a:spcAft>
            </a:pPr>
            <a:r>
              <a:rPr sz="1050" b="1" i="0">
                <a:solidFill>
                  <a:srgbClr val="0E700E"/>
                </a:solidFill>
                <a:latin typeface="Segoe UI Semibold"/>
              </a:rPr>
              <a:t>WHAT IT GAVE ME</a:t>
            </a:r>
          </a:p>
          <a:p>
            <a:pPr algn="l">
              <a:lnSpc>
                <a:spcPct val="122000"/>
              </a:lnSpc>
              <a:spcBef>
                <a:spcPts val="0"/>
              </a:spcBef>
              <a:spcAft>
                <a:spcPts val="700"/>
              </a:spcAft>
            </a:pPr>
            <a:r>
              <a:rPr sz="1150" b="1" i="0">
                <a:solidFill>
                  <a:srgbClr val="0E700E"/>
                </a:solidFill>
                <a:latin typeface="Segoe UI"/>
              </a:rPr>
              <a:t>✓  </a:t>
            </a:r>
            <a:r>
              <a:rPr sz="1150" b="0" i="0">
                <a:solidFill>
                  <a:srgbClr val="1B1A19"/>
                </a:solidFill>
                <a:latin typeface="Segoe UI"/>
              </a:rPr>
              <a:t>One setting to turn telemetry on</a:t>
            </a:r>
          </a:p>
          <a:p>
            <a:pPr algn="l">
              <a:lnSpc>
                <a:spcPct val="122000"/>
              </a:lnSpc>
              <a:spcBef>
                <a:spcPts val="0"/>
              </a:spcBef>
              <a:spcAft>
                <a:spcPts val="700"/>
              </a:spcAft>
            </a:pPr>
            <a:r>
              <a:rPr sz="1150" b="1" i="0">
                <a:solidFill>
                  <a:srgbClr val="0E700E"/>
                </a:solidFill>
                <a:latin typeface="Segoe UI"/>
              </a:rPr>
              <a:t>✓  </a:t>
            </a:r>
            <a:r>
              <a:rPr sz="1150" b="0" i="0">
                <a:solidFill>
                  <a:srgbClr val="1B1A19"/>
                </a:solidFill>
                <a:latin typeface="Segoe UI"/>
              </a:rPr>
              <a:t>An anchor span linking the host to the agent’s own trace</a:t>
            </a:r>
          </a:p>
          <a:p>
            <a:pPr algn="l">
              <a:lnSpc>
                <a:spcPct val="122000"/>
              </a:lnSpc>
              <a:spcBef>
                <a:spcPts val="0"/>
              </a:spcBef>
              <a:spcAft>
                <a:spcPts val="700"/>
              </a:spcAft>
            </a:pPr>
            <a:r>
              <a:rPr sz="1150" b="1" i="0">
                <a:solidFill>
                  <a:srgbClr val="0E700E"/>
                </a:solidFill>
                <a:latin typeface="Segoe UI"/>
              </a:rPr>
              <a:t>✓  </a:t>
            </a:r>
            <a:r>
              <a:rPr sz="1150" b="0" i="0">
                <a:solidFill>
                  <a:srgbClr val="1B1A19"/>
                </a:solidFill>
                <a:latin typeface="Segoe UI"/>
              </a:rPr>
              <a:t>A conversation id stamped onto that trace</a:t>
            </a:r>
          </a:p>
          <a:p>
            <a:pPr algn="l">
              <a:lnSpc>
                <a:spcPct val="122000"/>
              </a:lnSpc>
              <a:spcBef>
                <a:spcPts val="0"/>
              </a:spcBef>
              <a:spcAft>
                <a:spcPts val="700"/>
              </a:spcAft>
            </a:pPr>
            <a:r>
              <a:rPr sz="1150" b="1" i="0">
                <a:solidFill>
                  <a:srgbClr val="0E700E"/>
                </a:solidFill>
                <a:latin typeface="Segoe UI"/>
              </a:rPr>
              <a:t>✓  </a:t>
            </a:r>
            <a:r>
              <a:rPr sz="1150" b="0" i="0">
                <a:solidFill>
                  <a:srgbClr val="1B1A19"/>
                </a:solidFill>
                <a:latin typeface="Segoe UI"/>
              </a:rPr>
              <a:t>A session title, for free</a:t>
            </a:r>
          </a:p>
        </p:txBody>
      </p:sp>
      <p:sp>
        <p:nvSpPr>
          <p:cNvPr id="11" name="Rectangle 10"/>
          <p:cNvSpPr/>
          <p:nvPr/>
        </p:nvSpPr>
        <p:spPr>
          <a:xfrm>
            <a:off x="658368" y="1773936"/>
            <a:ext cx="3986784" cy="50292"/>
          </a:xfrm>
          <a:prstGeom prst="rect">
            <a:avLst/>
          </a:prstGeom>
          <a:solidFill>
            <a:srgbClr val="0E70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4882896" y="1773936"/>
            <a:ext cx="6647688" cy="2651760"/>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237744" tIns="201168"/>
          <a:lstStyle/>
          <a:p>
            <a:pPr algn="l">
              <a:spcBef>
                <a:spcPts val="0"/>
              </a:spcBef>
              <a:spcAft>
                <a:spcPts val="900"/>
              </a:spcAft>
            </a:pPr>
            <a:r>
              <a:rPr sz="1050" b="1" i="0">
                <a:solidFill>
                  <a:srgbClr val="E3008C"/>
                </a:solidFill>
                <a:latin typeface="Segoe UI Semibold"/>
              </a:rPr>
              <a:t>AND THE FOUR PROBLEMS IT CREATED</a:t>
            </a:r>
          </a:p>
          <a:p>
            <a:pPr algn="l">
              <a:lnSpc>
                <a:spcPct val="120000"/>
              </a:lnSpc>
              <a:spcBef>
                <a:spcPts val="0"/>
              </a:spcBef>
              <a:spcAft>
                <a:spcPts val="600"/>
              </a:spcAft>
            </a:pPr>
            <a:r>
              <a:rPr sz="1100" b="1" i="0">
                <a:solidFill>
                  <a:srgbClr val="E3008C"/>
                </a:solidFill>
                <a:latin typeface="Segoe UI"/>
              </a:rPr>
              <a:t>1  </a:t>
            </a:r>
            <a:r>
              <a:rPr sz="1100" b="1" i="0">
                <a:solidFill>
                  <a:srgbClr val="14243E"/>
                </a:solidFill>
                <a:latin typeface="Segoe UI"/>
              </a:rPr>
              <a:t>It relabels every session.</a:t>
            </a:r>
            <a:r>
              <a:rPr sz="1100" b="0" i="0">
                <a:solidFill>
                  <a:srgbClr val="605E5C"/>
                </a:solidFill>
                <a:latin typeface="Segoe UI"/>
              </a:rPr>
              <a:t>  MAX(service_name) returns vscode-agent-host — it just sorts last.</a:t>
            </a:r>
          </a:p>
          <a:p>
            <a:pPr algn="l">
              <a:lnSpc>
                <a:spcPct val="120000"/>
              </a:lnSpc>
              <a:spcBef>
                <a:spcPts val="0"/>
              </a:spcBef>
              <a:spcAft>
                <a:spcPts val="600"/>
              </a:spcAft>
            </a:pPr>
            <a:r>
              <a:rPr sz="1100" b="1" i="0">
                <a:solidFill>
                  <a:srgbClr val="E3008C"/>
                </a:solidFill>
                <a:latin typeface="Segoe UI"/>
              </a:rPr>
              <a:t>2  </a:t>
            </a:r>
            <a:r>
              <a:rPr sz="1100" b="1" i="0">
                <a:solidFill>
                  <a:srgbClr val="14243E"/>
                </a:solidFill>
                <a:latin typeface="Segoe UI"/>
              </a:rPr>
              <a:t>The in-box debug view hasn’t caught up.</a:t>
            </a:r>
            <a:r>
              <a:rPr sz="1100" b="0" i="0">
                <a:solidFill>
                  <a:srgbClr val="605E5C"/>
                </a:solidFill>
                <a:latin typeface="Segoe UI"/>
              </a:rPr>
              <a:t>  Agent Debug Logs don’t reliably show harness sessions.</a:t>
            </a:r>
          </a:p>
          <a:p>
            <a:pPr algn="l">
              <a:lnSpc>
                <a:spcPct val="120000"/>
              </a:lnSpc>
              <a:spcBef>
                <a:spcPts val="0"/>
              </a:spcBef>
              <a:spcAft>
                <a:spcPts val="600"/>
              </a:spcAft>
            </a:pPr>
            <a:r>
              <a:rPr sz="1100" b="1" i="0">
                <a:solidFill>
                  <a:srgbClr val="E3008C"/>
                </a:solidFill>
                <a:latin typeface="Segoe UI"/>
              </a:rPr>
              <a:t>3  </a:t>
            </a:r>
            <a:r>
              <a:rPr sz="1100" b="1" i="0">
                <a:solidFill>
                  <a:srgbClr val="14243E"/>
                </a:solidFill>
                <a:latin typeface="Segoe UI"/>
              </a:rPr>
              <a:t>The anchor only anchors the first trace.</a:t>
            </a:r>
            <a:r>
              <a:rPr sz="1100" b="0" i="0">
                <a:solidFill>
                  <a:srgbClr val="605E5C"/>
                </a:solidFill>
                <a:latin typeface="Segoe UI"/>
              </a:rPr>
              <a:t>  Later turns carry no conversation id at all.</a:t>
            </a:r>
          </a:p>
          <a:p>
            <a:pPr algn="l">
              <a:lnSpc>
                <a:spcPct val="120000"/>
              </a:lnSpc>
              <a:spcBef>
                <a:spcPts val="0"/>
              </a:spcBef>
              <a:spcAft>
                <a:spcPts val="600"/>
              </a:spcAft>
            </a:pPr>
            <a:r>
              <a:rPr sz="1100" b="1" i="0">
                <a:solidFill>
                  <a:srgbClr val="E3008C"/>
                </a:solidFill>
                <a:latin typeface="Segoe UI"/>
              </a:rPr>
              <a:t>4  </a:t>
            </a:r>
            <a:r>
              <a:rPr sz="1100" b="1" i="0">
                <a:solidFill>
                  <a:srgbClr val="14243E"/>
                </a:solidFill>
                <a:latin typeface="Segoe UI"/>
              </a:rPr>
              <a:t>A conversation id isn’t evidence of a conversation.</a:t>
            </a:r>
            <a:r>
              <a:rPr sz="1100" b="0" i="0">
                <a:solidFill>
                  <a:srgbClr val="605E5C"/>
                </a:solidFill>
                <a:latin typeface="Segoe UI"/>
              </a:rPr>
              <a:t>  The host mints one when a chat is created, not when it’s used.</a:t>
            </a:r>
          </a:p>
        </p:txBody>
      </p:sp>
      <p:sp>
        <p:nvSpPr>
          <p:cNvPr id="13" name="Rectangle 12"/>
          <p:cNvSpPr/>
          <p:nvPr/>
        </p:nvSpPr>
        <p:spPr>
          <a:xfrm>
            <a:off x="4882896" y="1773936"/>
            <a:ext cx="6647688" cy="50292"/>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658368" y="4681728"/>
            <a:ext cx="10872216" cy="1389888"/>
          </a:xfrm>
          <a:prstGeom prst="roundRect">
            <a:avLst>
              <a:gd name="adj" fmla="val 4500"/>
            </a:avLst>
          </a:prstGeom>
          <a:solidFill>
            <a:srgbClr val="14243E"/>
          </a:solidFill>
          <a:ln w="12700">
            <a:solidFill>
              <a:srgbClr val="1424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58368" y="4681728"/>
            <a:ext cx="68580" cy="1389888"/>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42416" y="4937760"/>
            <a:ext cx="3566160" cy="1005840"/>
          </a:xfrm>
          <a:prstGeom prst="rect">
            <a:avLst/>
          </a:prstGeom>
          <a:noFill/>
        </p:spPr>
        <p:txBody>
          <a:bodyPr wrap="square" lIns="0" rIns="0" tIns="0" bIns="0" anchor="t">
            <a:spAutoFit/>
          </a:bodyPr>
          <a:lstStyle/>
          <a:p>
            <a:pPr algn="l">
              <a:spcBef>
                <a:spcPts val="0"/>
              </a:spcBef>
              <a:spcAft>
                <a:spcPts val="200"/>
              </a:spcAft>
            </a:pPr>
            <a:r>
              <a:rPr sz="4400" b="1" i="0">
                <a:solidFill>
                  <a:srgbClr val="E3008C"/>
                </a:solidFill>
                <a:latin typeface="Segoe UI Light"/>
              </a:rPr>
              <a:t>261</a:t>
            </a:r>
            <a:r>
              <a:rPr sz="2000" b="0" i="0">
                <a:solidFill>
                  <a:srgbClr val="7A93B8"/>
                </a:solidFill>
                <a:latin typeface="Segoe UI"/>
              </a:rPr>
              <a:t>  vs  </a:t>
            </a:r>
            <a:r>
              <a:rPr sz="4400" b="1" i="0">
                <a:solidFill>
                  <a:srgbClr val="0E700E"/>
                </a:solidFill>
                <a:latin typeface="Segoe UI Light"/>
              </a:rPr>
              <a:t>6</a:t>
            </a:r>
          </a:p>
          <a:p>
            <a:pPr algn="l">
              <a:spcBef>
                <a:spcPts val="0"/>
              </a:spcBef>
              <a:spcAft>
                <a:spcPts val="0"/>
              </a:spcAft>
            </a:pPr>
            <a:r>
              <a:rPr sz="1150" b="0" i="0">
                <a:solidFill>
                  <a:srgbClr val="93A6C4"/>
                </a:solidFill>
                <a:latin typeface="Segoe UI"/>
              </a:rPr>
              <a:t>phantom sessions vs real ones, in one day of use</a:t>
            </a:r>
          </a:p>
        </p:txBody>
      </p:sp>
      <p:sp>
        <p:nvSpPr>
          <p:cNvPr id="17" name="TextBox 16"/>
          <p:cNvSpPr txBox="1"/>
          <p:nvPr/>
        </p:nvSpPr>
        <p:spPr>
          <a:xfrm>
            <a:off x="4882896" y="4937760"/>
            <a:ext cx="6547104" cy="914400"/>
          </a:xfrm>
          <a:prstGeom prst="rect">
            <a:avLst/>
          </a:prstGeom>
          <a:noFill/>
        </p:spPr>
        <p:txBody>
          <a:bodyPr wrap="square" lIns="0" rIns="0" tIns="0" bIns="0" anchor="ctr">
            <a:spAutoFit/>
          </a:bodyPr>
          <a:lstStyle/>
          <a:p>
            <a:pPr algn="l">
              <a:lnSpc>
                <a:spcPct val="122000"/>
              </a:lnSpc>
              <a:spcBef>
                <a:spcPts val="0"/>
              </a:spcBef>
              <a:spcAft>
                <a:spcPts val="600"/>
              </a:spcAft>
            </a:pPr>
            <a:r>
              <a:rPr sz="1250" b="0" i="0">
                <a:solidFill>
                  <a:srgbClr val="C3D1E6"/>
                </a:solidFill>
                <a:latin typeface="Segoe UI"/>
              </a:rPr>
              <a:t>Open a Codex thread and never type in it, and you still get a “session”. The real work disappears into the noise.</a:t>
            </a:r>
          </a:p>
          <a:p>
            <a:pPr algn="l">
              <a:lnSpc>
                <a:spcPct val="122000"/>
              </a:lnSpc>
              <a:spcBef>
                <a:spcPts val="0"/>
              </a:spcBef>
              <a:spcAft>
                <a:spcPts val="0"/>
              </a:spcAft>
            </a:pPr>
            <a:r>
              <a:rPr sz="1250" b="0" i="0">
                <a:solidFill>
                  <a:srgbClr val="93A6C4"/>
                </a:solidFill>
                <a:latin typeface="Segoe UI"/>
              </a:rPr>
              <a:t>The takeaway: the platform moving under me didn’t invalidate the project — it moved the hard part from </a:t>
            </a:r>
            <a:r>
              <a:rPr sz="1250" b="1" i="0">
                <a:solidFill>
                  <a:srgbClr val="FFFFFF"/>
                </a:solidFill>
                <a:latin typeface="Segoe UI"/>
              </a:rPr>
              <a:t>“collect the data”</a:t>
            </a:r>
            <a:r>
              <a:rPr sz="1250" b="0" i="0">
                <a:solidFill>
                  <a:srgbClr val="93A6C4"/>
                </a:solidFill>
                <a:latin typeface="Segoe UI"/>
              </a:rPr>
              <a:t> to </a:t>
            </a:r>
            <a:r>
              <a:rPr sz="1250" b="1" i="0">
                <a:solidFill>
                  <a:srgbClr val="FFFFFF"/>
                </a:solidFill>
                <a:latin typeface="Segoe UI"/>
              </a:rPr>
              <a:t>“decide what the data means”.</a:t>
            </a:r>
          </a:p>
        </p:txBody>
      </p:sp>
      <p:sp>
        <p:nvSpPr>
          <p:cNvPr id="18" name="TextBox 17"/>
          <p:cNvSpPr txBox="1"/>
          <p:nvPr/>
        </p:nvSpPr>
        <p:spPr>
          <a:xfrm>
            <a:off x="658368" y="6382512"/>
            <a:ext cx="8686800" cy="237744"/>
          </a:xfrm>
          <a:prstGeom prst="rect">
            <a:avLst/>
          </a:prstGeom>
          <a:noFill/>
        </p:spPr>
        <p:txBody>
          <a:bodyPr wrap="square" lIns="0" rIns="0" tIns="0" bIns="0" anchor="t">
            <a:spAutoFit/>
          </a:bodyPr>
          <a:lstStyle/>
          <a:p>
            <a:pPr algn="l">
              <a:spcBef>
                <a:spcPts val="0"/>
              </a:spcBef>
              <a:spcAft>
                <a:spcPts val="0"/>
              </a:spcAft>
            </a:pPr>
            <a:r>
              <a:rPr sz="900" b="0" i="0">
                <a:solidFill>
                  <a:srgbClr val="8A8886"/>
                </a:solidFill>
                <a:latin typeface="Segoe UI"/>
              </a:rPr>
              <a:t>Microsoft  ·  Agent Insights</a:t>
            </a:r>
          </a:p>
        </p:txBody>
      </p:sp>
      <p:sp>
        <p:nvSpPr>
          <p:cNvPr id="19" name="TextBox 18"/>
          <p:cNvSpPr txBox="1"/>
          <p:nvPr/>
        </p:nvSpPr>
        <p:spPr>
          <a:xfrm>
            <a:off x="10835640" y="6382512"/>
            <a:ext cx="694944" cy="237744"/>
          </a:xfrm>
          <a:prstGeom prst="rect">
            <a:avLst/>
          </a:prstGeom>
          <a:noFill/>
        </p:spPr>
        <p:txBody>
          <a:bodyPr wrap="square" lIns="0" rIns="0" tIns="0" bIns="0" anchor="t">
            <a:spAutoFit/>
          </a:bodyPr>
          <a:lstStyle/>
          <a:p>
            <a:pPr algn="r">
              <a:spcBef>
                <a:spcPts val="0"/>
              </a:spcBef>
              <a:spcAft>
                <a:spcPts val="0"/>
              </a:spcAft>
            </a:pPr>
            <a:r>
              <a:rPr sz="900" b="0" i="0">
                <a:solidFill>
                  <a:srgbClr val="8A8886"/>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47925" cy="685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47923" y="0"/>
            <a:ext cx="3047925" cy="68580"/>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6095847" y="0"/>
            <a:ext cx="3047925" cy="6858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143771" y="0"/>
            <a:ext cx="3047925" cy="68580"/>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384048"/>
            <a:ext cx="10872216" cy="237744"/>
          </a:xfrm>
          <a:prstGeom prst="rect">
            <a:avLst/>
          </a:prstGeom>
          <a:noFill/>
        </p:spPr>
        <p:txBody>
          <a:bodyPr wrap="square" lIns="0" rIns="0" tIns="0" bIns="0" anchor="t">
            <a:spAutoFit/>
          </a:bodyPr>
          <a:lstStyle/>
          <a:p>
            <a:pPr algn="l">
              <a:spcBef>
                <a:spcPts val="0"/>
              </a:spcBef>
              <a:spcAft>
                <a:spcPts val="0"/>
              </a:spcAft>
            </a:pPr>
            <a:r>
              <a:rPr sz="1050" b="1" i="0">
                <a:solidFill>
                  <a:srgbClr val="0078D4"/>
                </a:solidFill>
                <a:latin typeface="Segoe UI Semibold"/>
              </a:rPr>
              <a:t>02  THE TWIST · NOT JUST ME</a:t>
            </a:r>
          </a:p>
        </p:txBody>
      </p:sp>
      <p:sp>
        <p:nvSpPr>
          <p:cNvPr id="7" name="TextBox 6"/>
          <p:cNvSpPr txBox="1"/>
          <p:nvPr/>
        </p:nvSpPr>
        <p:spPr>
          <a:xfrm>
            <a:off x="658368" y="658368"/>
            <a:ext cx="10872216" cy="502920"/>
          </a:xfrm>
          <a:prstGeom prst="rect">
            <a:avLst/>
          </a:prstGeom>
          <a:noFill/>
        </p:spPr>
        <p:txBody>
          <a:bodyPr wrap="square" lIns="0" rIns="0" tIns="0" bIns="0" anchor="t">
            <a:spAutoFit/>
          </a:bodyPr>
          <a:lstStyle/>
          <a:p>
            <a:pPr algn="l">
              <a:spcBef>
                <a:spcPts val="0"/>
              </a:spcBef>
              <a:spcAft>
                <a:spcPts val="0"/>
              </a:spcAft>
            </a:pPr>
            <a:r>
              <a:rPr sz="2900" b="0" i="0">
                <a:solidFill>
                  <a:srgbClr val="14243E"/>
                </a:solidFill>
                <a:latin typeface="Segoe UI Light"/>
              </a:rPr>
              <a:t>This is a live need, not a hypothesis</a:t>
            </a:r>
          </a:p>
        </p:txBody>
      </p:sp>
      <p:sp>
        <p:nvSpPr>
          <p:cNvPr id="8" name="TextBox 7"/>
          <p:cNvSpPr txBox="1"/>
          <p:nvPr/>
        </p:nvSpPr>
        <p:spPr>
          <a:xfrm>
            <a:off x="658368" y="1207008"/>
            <a:ext cx="10872216" cy="329184"/>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605E5C"/>
                </a:solidFill>
                <a:latin typeface="Segoe UI"/>
              </a:rPr>
              <a:t>Three independent signals that people want to see what their agents are doing.</a:t>
            </a:r>
          </a:p>
        </p:txBody>
      </p:sp>
      <p:sp>
        <p:nvSpPr>
          <p:cNvPr id="9" name="Rectangle 8"/>
          <p:cNvSpPr/>
          <p:nvPr/>
        </p:nvSpPr>
        <p:spPr>
          <a:xfrm>
            <a:off x="658368" y="1591056"/>
            <a:ext cx="960120" cy="320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58368" y="1737360"/>
            <a:ext cx="5943600" cy="3310128"/>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58368" y="1737360"/>
            <a:ext cx="5943600" cy="50292"/>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14400" y="1956816"/>
            <a:ext cx="5431536" cy="310896"/>
          </a:xfrm>
          <a:prstGeom prst="rect">
            <a:avLst/>
          </a:prstGeom>
          <a:noFill/>
        </p:spPr>
        <p:txBody>
          <a:bodyPr wrap="square" lIns="0" rIns="0" tIns="0" bIns="0" anchor="t">
            <a:spAutoFit/>
          </a:bodyPr>
          <a:lstStyle/>
          <a:p>
            <a:pPr algn="l">
              <a:spcBef>
                <a:spcPts val="0"/>
              </a:spcBef>
              <a:spcAft>
                <a:spcPts val="0"/>
              </a:spcAft>
            </a:pPr>
            <a:r>
              <a:rPr sz="1250" b="1" i="0">
                <a:solidFill>
                  <a:srgbClr val="14243E"/>
                </a:solidFill>
                <a:latin typeface="Segoe UI"/>
              </a:rPr>
              <a:t>People are already filing this as a bug</a:t>
            </a:r>
          </a:p>
        </p:txBody>
      </p:sp>
      <p:sp>
        <p:nvSpPr>
          <p:cNvPr id="13" name="Rectangle 12"/>
          <p:cNvSpPr/>
          <p:nvPr/>
        </p:nvSpPr>
        <p:spPr>
          <a:xfrm>
            <a:off x="914400" y="2395728"/>
            <a:ext cx="5431536" cy="2468880"/>
          </a:xfrm>
          <a:prstGeom prst="rect">
            <a:avLst/>
          </a:prstGeom>
          <a:solidFill>
            <a:srgbClr val="F0F3F9"/>
          </a:solidFill>
          <a:ln w="15875">
            <a:solidFill>
              <a:srgbClr val="B3C4D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600"/>
              </a:spcAft>
            </a:pPr>
            <a:r>
              <a:rPr sz="2200" b="0" i="0">
                <a:solidFill>
                  <a:srgbClr val="B3C4DC"/>
                </a:solidFill>
                <a:latin typeface="Segoe UI"/>
              </a:rPr>
              <a:t>🖼</a:t>
            </a:r>
          </a:p>
          <a:p>
            <a:pPr algn="ctr">
              <a:lnSpc>
                <a:spcPct val="124000"/>
              </a:lnSpc>
              <a:spcBef>
                <a:spcPts val="0"/>
              </a:spcBef>
              <a:spcAft>
                <a:spcPts val="0"/>
              </a:spcAft>
            </a:pPr>
            <a:r>
              <a:rPr sz="1100" b="0" i="0">
                <a:solidFill>
                  <a:srgbClr val="8A8886"/>
                </a:solidFill>
                <a:latin typeface="Segoe UI"/>
              </a:rPr>
              <a:t>Screenshot the Agent Debug Logs issue — crop to the title and
“Actual: no Claude agent harness session logs found”</a:t>
            </a:r>
          </a:p>
        </p:txBody>
      </p:sp>
      <p:sp>
        <p:nvSpPr>
          <p:cNvPr id="14" name="Rounded Rectangle 13"/>
          <p:cNvSpPr/>
          <p:nvPr/>
        </p:nvSpPr>
        <p:spPr>
          <a:xfrm>
            <a:off x="6812280" y="1755648"/>
            <a:ext cx="4718304" cy="1042415"/>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19456"/>
          <a:lstStyle/>
          <a:p>
            <a:pPr algn="l">
              <a:lnSpc>
                <a:spcPct val="114000"/>
              </a:lnSpc>
              <a:spcBef>
                <a:spcPts val="0"/>
              </a:spcBef>
              <a:spcAft>
                <a:spcPts val="400"/>
              </a:spcAft>
            </a:pPr>
            <a:r>
              <a:rPr sz="1250" b="1" i="0">
                <a:solidFill>
                  <a:srgbClr val="14243E"/>
                </a:solidFill>
                <a:latin typeface="Segoe UI"/>
              </a:rPr>
              <a:t>The in-box view has gaps</a:t>
            </a:r>
          </a:p>
          <a:p>
            <a:pPr algn="l">
              <a:lnSpc>
                <a:spcPct val="120000"/>
              </a:lnSpc>
              <a:spcBef>
                <a:spcPts val="0"/>
              </a:spcBef>
              <a:spcAft>
                <a:spcPts val="0"/>
              </a:spcAft>
            </a:pPr>
            <a:r>
              <a:rPr sz="1050" b="0" i="0">
                <a:solidFill>
                  <a:srgbClr val="605E5C"/>
                </a:solidFill>
                <a:latin typeface="Segoe UI"/>
              </a:rPr>
              <a:t>Agent-host sessions don’t reliably appear in Agent Debug Logs — people are hitting it and reporting it.</a:t>
            </a:r>
          </a:p>
        </p:txBody>
      </p:sp>
      <p:sp>
        <p:nvSpPr>
          <p:cNvPr id="15" name="Rectangle 14"/>
          <p:cNvSpPr/>
          <p:nvPr/>
        </p:nvSpPr>
        <p:spPr>
          <a:xfrm>
            <a:off x="6812280" y="1755648"/>
            <a:ext cx="54864" cy="1042415"/>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6812280" y="2907792"/>
            <a:ext cx="4718304" cy="1042415"/>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19456"/>
          <a:lstStyle/>
          <a:p>
            <a:pPr algn="l">
              <a:lnSpc>
                <a:spcPct val="114000"/>
              </a:lnSpc>
              <a:spcBef>
                <a:spcPts val="0"/>
              </a:spcBef>
              <a:spcAft>
                <a:spcPts val="400"/>
              </a:spcAft>
            </a:pPr>
            <a:r>
              <a:rPr sz="1250" b="1" i="0">
                <a:solidFill>
                  <a:srgbClr val="14243E"/>
                </a:solidFill>
                <a:latin typeface="Segoe UI"/>
              </a:rPr>
              <a:t>Three vendors instrumented independently</a:t>
            </a:r>
          </a:p>
          <a:p>
            <a:pPr algn="l">
              <a:lnSpc>
                <a:spcPct val="120000"/>
              </a:lnSpc>
              <a:spcBef>
                <a:spcPts val="0"/>
              </a:spcBef>
              <a:spcAft>
                <a:spcPts val="0"/>
              </a:spcAft>
            </a:pPr>
            <a:r>
              <a:rPr sz="1050" b="0" i="0">
                <a:solidFill>
                  <a:srgbClr val="605E5C"/>
                </a:solidFill>
                <a:latin typeface="Segoe UI"/>
              </a:rPr>
              <a:t>Copilot, Claude Code and Codex each decided on their own that agent runs are worth emitting OpenTelemetry for.</a:t>
            </a:r>
          </a:p>
        </p:txBody>
      </p:sp>
      <p:sp>
        <p:nvSpPr>
          <p:cNvPr id="17" name="Rectangle 16"/>
          <p:cNvSpPr/>
          <p:nvPr/>
        </p:nvSpPr>
        <p:spPr>
          <a:xfrm>
            <a:off x="6812280" y="2907792"/>
            <a:ext cx="54864" cy="1042415"/>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6812280" y="4059936"/>
            <a:ext cx="4718304" cy="1042415"/>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19456"/>
          <a:lstStyle/>
          <a:p>
            <a:pPr algn="l">
              <a:lnSpc>
                <a:spcPct val="114000"/>
              </a:lnSpc>
              <a:spcBef>
                <a:spcPts val="0"/>
              </a:spcBef>
              <a:spcAft>
                <a:spcPts val="400"/>
              </a:spcAft>
            </a:pPr>
            <a:r>
              <a:rPr sz="1250" b="1" i="0">
                <a:solidFill>
                  <a:srgbClr val="14243E"/>
                </a:solidFill>
                <a:latin typeface="Segoe UI"/>
              </a:rPr>
              <a:t>And the host is still rolling out</a:t>
            </a:r>
          </a:p>
          <a:p>
            <a:pPr algn="l">
              <a:lnSpc>
                <a:spcPct val="120000"/>
              </a:lnSpc>
              <a:spcBef>
                <a:spcPts val="0"/>
              </a:spcBef>
              <a:spcAft>
                <a:spcPts val="0"/>
              </a:spcAft>
            </a:pPr>
            <a:r>
              <a:rPr sz="1050" b="0" i="0">
                <a:solidFill>
                  <a:srgbClr val="605E5C"/>
                </a:solidFill>
                <a:latin typeface="Segoe UI"/>
              </a:rPr>
              <a:t>More agents running inside the editor, on more machines, every week — with the same visibility gap.</a:t>
            </a:r>
          </a:p>
        </p:txBody>
      </p:sp>
      <p:sp>
        <p:nvSpPr>
          <p:cNvPr id="19" name="Rectangle 18"/>
          <p:cNvSpPr/>
          <p:nvPr/>
        </p:nvSpPr>
        <p:spPr>
          <a:xfrm>
            <a:off x="6812280" y="4059936"/>
            <a:ext cx="54864" cy="1042415"/>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658368" y="5230368"/>
            <a:ext cx="10872216" cy="859536"/>
          </a:xfrm>
          <a:prstGeom prst="roundRect">
            <a:avLst>
              <a:gd name="adj" fmla="val 4500"/>
            </a:avLst>
          </a:prstGeom>
          <a:solidFill>
            <a:srgbClr val="14243E"/>
          </a:solidFill>
          <a:ln w="12700">
            <a:solidFill>
              <a:srgbClr val="14243E"/>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l">
              <a:lnSpc>
                <a:spcPct val="124000"/>
              </a:lnSpc>
              <a:spcBef>
                <a:spcPts val="0"/>
              </a:spcBef>
              <a:spcAft>
                <a:spcPts val="0"/>
              </a:spcAft>
            </a:pPr>
            <a:r>
              <a:rPr sz="1300" b="1" i="0">
                <a:solidFill>
                  <a:srgbClr val="50E6FF"/>
                </a:solidFill>
                <a:latin typeface="Segoe UI"/>
              </a:rPr>
              <a:t>Nobody has to take my word for the gap. </a:t>
            </a:r>
            <a:r>
              <a:rPr sz="1300" b="0" i="0">
                <a:solidFill>
                  <a:srgbClr val="C3D1E6"/>
                </a:solidFill>
                <a:latin typeface="Segoe UI"/>
              </a:rPr>
              <a:t>And the question people ask is never “show me a span” — it is “what did it do?”, which is exactly the question the session model exists to answer.</a:t>
            </a:r>
          </a:p>
        </p:txBody>
      </p:sp>
      <p:sp>
        <p:nvSpPr>
          <p:cNvPr id="21" name="Rectangle 20"/>
          <p:cNvSpPr/>
          <p:nvPr/>
        </p:nvSpPr>
        <p:spPr>
          <a:xfrm>
            <a:off x="658368" y="5230368"/>
            <a:ext cx="68580" cy="859536"/>
          </a:xfrm>
          <a:prstGeom prst="rect">
            <a:avLst/>
          </a:prstGeom>
          <a:solidFill>
            <a:srgbClr val="0E70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58368" y="6382512"/>
            <a:ext cx="8686800" cy="237744"/>
          </a:xfrm>
          <a:prstGeom prst="rect">
            <a:avLst/>
          </a:prstGeom>
          <a:noFill/>
        </p:spPr>
        <p:txBody>
          <a:bodyPr wrap="square" lIns="0" rIns="0" tIns="0" bIns="0" anchor="t">
            <a:spAutoFit/>
          </a:bodyPr>
          <a:lstStyle/>
          <a:p>
            <a:pPr algn="l">
              <a:spcBef>
                <a:spcPts val="0"/>
              </a:spcBef>
              <a:spcAft>
                <a:spcPts val="0"/>
              </a:spcAft>
            </a:pPr>
            <a:r>
              <a:rPr sz="900" b="0" i="0">
                <a:solidFill>
                  <a:srgbClr val="8A8886"/>
                </a:solidFill>
                <a:latin typeface="Segoe UI"/>
              </a:rPr>
              <a:t>Microsoft  ·  Agent Insights</a:t>
            </a:r>
          </a:p>
        </p:txBody>
      </p:sp>
      <p:sp>
        <p:nvSpPr>
          <p:cNvPr id="23" name="TextBox 22"/>
          <p:cNvSpPr txBox="1"/>
          <p:nvPr/>
        </p:nvSpPr>
        <p:spPr>
          <a:xfrm>
            <a:off x="10835640" y="6382512"/>
            <a:ext cx="694944" cy="237744"/>
          </a:xfrm>
          <a:prstGeom prst="rect">
            <a:avLst/>
          </a:prstGeom>
          <a:noFill/>
        </p:spPr>
        <p:txBody>
          <a:bodyPr wrap="square" lIns="0" rIns="0" tIns="0" bIns="0" anchor="t">
            <a:spAutoFit/>
          </a:bodyPr>
          <a:lstStyle/>
          <a:p>
            <a:pPr algn="r">
              <a:spcBef>
                <a:spcPts val="0"/>
              </a:spcBef>
              <a:spcAft>
                <a:spcPts val="0"/>
              </a:spcAft>
            </a:pPr>
            <a:r>
              <a:rPr sz="900" b="0" i="0">
                <a:solidFill>
                  <a:srgbClr val="8A8886"/>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4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64592" cy="685800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51560" y="2121408"/>
            <a:ext cx="1828800" cy="1280160"/>
          </a:xfrm>
          <a:prstGeom prst="rect">
            <a:avLst/>
          </a:prstGeom>
          <a:noFill/>
        </p:spPr>
        <p:txBody>
          <a:bodyPr wrap="square" lIns="0" rIns="0" tIns="0" bIns="0" anchor="t">
            <a:spAutoFit/>
          </a:bodyPr>
          <a:lstStyle/>
          <a:p>
            <a:pPr algn="l">
              <a:spcBef>
                <a:spcPts val="0"/>
              </a:spcBef>
              <a:spcAft>
                <a:spcPts val="0"/>
              </a:spcAft>
            </a:pPr>
            <a:r>
              <a:rPr sz="8800" b="1" i="0">
                <a:solidFill>
                  <a:srgbClr val="8661C5"/>
                </a:solidFill>
                <a:latin typeface="Segoe UI Light"/>
              </a:rPr>
              <a:t>03</a:t>
            </a:r>
          </a:p>
        </p:txBody>
      </p:sp>
      <p:sp>
        <p:nvSpPr>
          <p:cNvPr id="5" name="Rectangle 4"/>
          <p:cNvSpPr/>
          <p:nvPr/>
        </p:nvSpPr>
        <p:spPr>
          <a:xfrm>
            <a:off x="2788920" y="2212848"/>
            <a:ext cx="27432" cy="1828800"/>
          </a:xfrm>
          <a:prstGeom prst="rect">
            <a:avLst/>
          </a:prstGeom>
          <a:solidFill>
            <a:srgbClr val="3A4E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3246120" y="2286000"/>
            <a:ext cx="7863840" cy="1737360"/>
          </a:xfrm>
          <a:prstGeom prst="rect">
            <a:avLst/>
          </a:prstGeom>
          <a:noFill/>
        </p:spPr>
        <p:txBody>
          <a:bodyPr wrap="square" lIns="0" rIns="0" tIns="0" bIns="0" anchor="t">
            <a:spAutoFit/>
          </a:bodyPr>
          <a:lstStyle/>
          <a:p>
            <a:pPr algn="l">
              <a:lnSpc>
                <a:spcPct val="110000"/>
              </a:lnSpc>
              <a:spcBef>
                <a:spcPts val="0"/>
              </a:spcBef>
              <a:spcAft>
                <a:spcPts val="1200"/>
              </a:spcAft>
            </a:pPr>
            <a:r>
              <a:rPr sz="4200" b="0" i="0">
                <a:solidFill>
                  <a:srgbClr val="FFFFFF"/>
                </a:solidFill>
                <a:latin typeface="Segoe UI Light"/>
              </a:rPr>
              <a:t>Approach</a:t>
            </a:r>
          </a:p>
          <a:p>
            <a:pPr algn="l">
              <a:lnSpc>
                <a:spcPct val="130000"/>
              </a:lnSpc>
              <a:spcBef>
                <a:spcPts val="0"/>
              </a:spcBef>
              <a:spcAft>
                <a:spcPts val="0"/>
              </a:spcAft>
            </a:pPr>
            <a:r>
              <a:rPr sz="1550" b="0" i="0">
                <a:solidFill>
                  <a:srgbClr val="93A6C4"/>
                </a:solidFill>
                <a:latin typeface="Segoe UI"/>
              </a:rPr>
              <a:t>Three vocabularies in. One model out.
Architecture, and the normalization that is the actual contribution.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47925" cy="685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47923" y="0"/>
            <a:ext cx="3047925" cy="68580"/>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6095847" y="0"/>
            <a:ext cx="3047925" cy="6858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143771" y="0"/>
            <a:ext cx="3047925" cy="68580"/>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384048"/>
            <a:ext cx="10872216" cy="237744"/>
          </a:xfrm>
          <a:prstGeom prst="rect">
            <a:avLst/>
          </a:prstGeom>
          <a:noFill/>
        </p:spPr>
        <p:txBody>
          <a:bodyPr wrap="square" lIns="0" rIns="0" tIns="0" bIns="0" anchor="t">
            <a:spAutoFit/>
          </a:bodyPr>
          <a:lstStyle/>
          <a:p>
            <a:pPr algn="l">
              <a:spcBef>
                <a:spcPts val="0"/>
              </a:spcBef>
              <a:spcAft>
                <a:spcPts val="0"/>
              </a:spcAft>
            </a:pPr>
            <a:r>
              <a:rPr sz="1050" b="1" i="0">
                <a:solidFill>
                  <a:srgbClr val="0078D4"/>
                </a:solidFill>
                <a:latin typeface="Segoe UI Semibold"/>
              </a:rPr>
              <a:t>03  APPROACH · THE INPUT</a:t>
            </a:r>
          </a:p>
        </p:txBody>
      </p:sp>
      <p:sp>
        <p:nvSpPr>
          <p:cNvPr id="7" name="TextBox 6"/>
          <p:cNvSpPr txBox="1"/>
          <p:nvPr/>
        </p:nvSpPr>
        <p:spPr>
          <a:xfrm>
            <a:off x="658368" y="658368"/>
            <a:ext cx="10872216" cy="502920"/>
          </a:xfrm>
          <a:prstGeom prst="rect">
            <a:avLst/>
          </a:prstGeom>
          <a:noFill/>
        </p:spPr>
        <p:txBody>
          <a:bodyPr wrap="square" lIns="0" rIns="0" tIns="0" bIns="0" anchor="t">
            <a:spAutoFit/>
          </a:bodyPr>
          <a:lstStyle/>
          <a:p>
            <a:pPr algn="l">
              <a:spcBef>
                <a:spcPts val="0"/>
              </a:spcBef>
              <a:spcAft>
                <a:spcPts val="0"/>
              </a:spcAft>
            </a:pPr>
            <a:r>
              <a:rPr sz="2900" b="0" i="0">
                <a:solidFill>
                  <a:srgbClr val="14243E"/>
                </a:solidFill>
                <a:latin typeface="Segoe UI Light"/>
              </a:rPr>
              <a:t>Three harnesses, three vocabularies</a:t>
            </a:r>
          </a:p>
        </p:txBody>
      </p:sp>
      <p:sp>
        <p:nvSpPr>
          <p:cNvPr id="8" name="TextBox 7"/>
          <p:cNvSpPr txBox="1"/>
          <p:nvPr/>
        </p:nvSpPr>
        <p:spPr>
          <a:xfrm>
            <a:off x="658368" y="1207008"/>
            <a:ext cx="10872216" cy="329184"/>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605E5C"/>
                </a:solidFill>
                <a:latin typeface="Segoe UI"/>
              </a:rPr>
              <a:t>Every row is something that had to be handled or the number on screen would be wrong.</a:t>
            </a:r>
          </a:p>
        </p:txBody>
      </p:sp>
      <p:sp>
        <p:nvSpPr>
          <p:cNvPr id="9" name="Rectangle 8"/>
          <p:cNvSpPr/>
          <p:nvPr/>
        </p:nvSpPr>
        <p:spPr>
          <a:xfrm>
            <a:off x="658368" y="1591056"/>
            <a:ext cx="960120" cy="320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10" name="Table 9"/>
          <p:cNvGraphicFramePr>
            <a:graphicFrameLocks noGrp="1"/>
          </p:cNvGraphicFramePr>
          <p:nvPr/>
        </p:nvGraphicFramePr>
        <p:xfrm>
          <a:off x="658368" y="1755648"/>
          <a:ext cx="10872214" cy="3104388"/>
        </p:xfrm>
        <a:graphic>
          <a:graphicData uri="http://schemas.openxmlformats.org/drawingml/2006/table">
            <a:tbl>
              <a:tblPr firstRow="1">
                <a:tableStyleId>{5C22544A-7EE6-4342-B048-85BDC9FD1C3A}</a:tableStyleId>
              </a:tblPr>
              <a:tblGrid>
                <a:gridCol w="1574947"/>
                <a:gridCol w="2895870"/>
                <a:gridCol w="3149894"/>
                <a:gridCol w="3251503"/>
              </a:tblGrid>
              <a:tr h="347472">
                <a:tc>
                  <a:txBody>
                    <a:bodyPr/>
                    <a:lstStyle/>
                    <a:p>
                      <a:pPr>
                        <a:lnSpc>
                          <a:spcPct val="105000"/>
                        </a:lnSpc>
                        <a:spcBef>
                          <a:spcPts val="0"/>
                        </a:spcBef>
                        <a:spcAft>
                          <a:spcPts val="0"/>
                        </a:spcAft>
                      </a:pPr>
                    </a:p>
                  </a:txBody>
                  <a:tcPr marL="82296" marR="82296" marT="41148" marB="41148" anchor="ctr">
                    <a:solidFill>
                      <a:srgbClr val="14243E"/>
                    </a:solidFill>
                  </a:tcPr>
                </a:tc>
                <a:tc>
                  <a:txBody>
                    <a:bodyPr/>
                    <a:lstStyle/>
                    <a:p>
                      <a:pPr>
                        <a:lnSpc>
                          <a:spcPct val="105000"/>
                        </a:lnSpc>
                        <a:spcBef>
                          <a:spcPts val="0"/>
                        </a:spcBef>
                        <a:spcAft>
                          <a:spcPts val="0"/>
                        </a:spcAft>
                      </a:pPr>
                      <a:r>
                        <a:rPr sz="1100" b="1">
                          <a:solidFill>
                            <a:srgbClr val="FFFFFF"/>
                          </a:solidFill>
                          <a:latin typeface="Segoe UI"/>
                        </a:rPr>
                        <a:t>Copilot</a:t>
                      </a:r>
                    </a:p>
                  </a:txBody>
                  <a:tcPr marL="82296" marR="82296" marT="41148" marB="41148" anchor="ctr">
                    <a:solidFill>
                      <a:srgbClr val="0078D4"/>
                    </a:solidFill>
                  </a:tcPr>
                </a:tc>
                <a:tc>
                  <a:txBody>
                    <a:bodyPr/>
                    <a:lstStyle/>
                    <a:p>
                      <a:pPr>
                        <a:lnSpc>
                          <a:spcPct val="105000"/>
                        </a:lnSpc>
                        <a:spcBef>
                          <a:spcPts val="0"/>
                        </a:spcBef>
                        <a:spcAft>
                          <a:spcPts val="0"/>
                        </a:spcAft>
                      </a:pPr>
                      <a:r>
                        <a:rPr sz="1100" b="1">
                          <a:solidFill>
                            <a:srgbClr val="FFFFFF"/>
                          </a:solidFill>
                          <a:latin typeface="Segoe UI"/>
                        </a:rPr>
                        <a:t>Claude Code</a:t>
                      </a:r>
                    </a:p>
                  </a:txBody>
                  <a:tcPr marL="82296" marR="82296" marT="41148" marB="41148" anchor="ctr">
                    <a:solidFill>
                      <a:srgbClr val="E87C00"/>
                    </a:solidFill>
                  </a:tcPr>
                </a:tc>
                <a:tc>
                  <a:txBody>
                    <a:bodyPr/>
                    <a:lstStyle/>
                    <a:p>
                      <a:pPr>
                        <a:lnSpc>
                          <a:spcPct val="105000"/>
                        </a:lnSpc>
                        <a:spcBef>
                          <a:spcPts val="0"/>
                        </a:spcBef>
                        <a:spcAft>
                          <a:spcPts val="0"/>
                        </a:spcAft>
                      </a:pPr>
                      <a:r>
                        <a:rPr sz="1100" b="1">
                          <a:solidFill>
                            <a:srgbClr val="FFFFFF"/>
                          </a:solidFill>
                          <a:latin typeface="Segoe UI"/>
                        </a:rPr>
                        <a:t>Codex</a:t>
                      </a:r>
                    </a:p>
                  </a:txBody>
                  <a:tcPr marL="82296" marR="82296" marT="41148" marB="41148" anchor="ctr">
                    <a:solidFill>
                      <a:srgbClr val="E3008C"/>
                    </a:solidFill>
                  </a:tcPr>
                </a:tc>
              </a:tr>
              <a:tr h="306324">
                <a:tc>
                  <a:txBody>
                    <a:bodyPr/>
                    <a:lstStyle/>
                    <a:p>
                      <a:pPr>
                        <a:lnSpc>
                          <a:spcPct val="105000"/>
                        </a:lnSpc>
                        <a:spcBef>
                          <a:spcPts val="0"/>
                        </a:spcBef>
                        <a:spcAft>
                          <a:spcPts val="0"/>
                        </a:spcAft>
                      </a:pPr>
                      <a:r>
                        <a:rPr sz="1000" b="1">
                          <a:solidFill>
                            <a:srgbClr val="14243E"/>
                          </a:solidFill>
                          <a:latin typeface="Segoe UI"/>
                        </a:rPr>
                        <a:t>Service name</a:t>
                      </a:r>
                    </a:p>
                  </a:txBody>
                  <a:tcPr marL="82296" marR="82296" marT="41148" marB="41148" anchor="ctr">
                    <a:solidFill>
                      <a:srgbClr val="FFFFFF"/>
                    </a:solidFill>
                  </a:tcPr>
                </a:tc>
                <a:tc>
                  <a:txBody>
                    <a:bodyPr/>
                    <a:lstStyle/>
                    <a:p>
                      <a:pPr>
                        <a:lnSpc>
                          <a:spcPct val="105000"/>
                        </a:lnSpc>
                        <a:spcBef>
                          <a:spcPts val="0"/>
                        </a:spcBef>
                        <a:spcAft>
                          <a:spcPts val="0"/>
                        </a:spcAft>
                      </a:pPr>
                      <a:r>
                        <a:rPr sz="1000">
                          <a:solidFill>
                            <a:srgbClr val="1B1A19"/>
                          </a:solidFill>
                          <a:latin typeface="Segoe UI"/>
                        </a:rPr>
                        <a:t>github-copilot</a:t>
                      </a:r>
                    </a:p>
                  </a:txBody>
                  <a:tcPr marL="82296" marR="82296" marT="41148" marB="41148" anchor="ctr">
                    <a:solidFill>
                      <a:srgbClr val="FFFFFF"/>
                    </a:solidFill>
                  </a:tcPr>
                </a:tc>
                <a:tc>
                  <a:txBody>
                    <a:bodyPr/>
                    <a:lstStyle/>
                    <a:p>
                      <a:pPr>
                        <a:lnSpc>
                          <a:spcPct val="105000"/>
                        </a:lnSpc>
                        <a:spcBef>
                          <a:spcPts val="0"/>
                        </a:spcBef>
                        <a:spcAft>
                          <a:spcPts val="0"/>
                        </a:spcAft>
                      </a:pPr>
                      <a:r>
                        <a:rPr sz="1000">
                          <a:solidFill>
                            <a:srgbClr val="1B1A19"/>
                          </a:solidFill>
                          <a:latin typeface="Segoe UI"/>
                        </a:rPr>
                        <a:t>claude-code</a:t>
                      </a:r>
                    </a:p>
                  </a:txBody>
                  <a:tcPr marL="82296" marR="82296" marT="41148" marB="41148" anchor="ctr">
                    <a:solidFill>
                      <a:srgbClr val="FFFFFF"/>
                    </a:solidFill>
                  </a:tcPr>
                </a:tc>
                <a:tc>
                  <a:txBody>
                    <a:bodyPr/>
                    <a:lstStyle/>
                    <a:p>
                      <a:pPr>
                        <a:lnSpc>
                          <a:spcPct val="105000"/>
                        </a:lnSpc>
                        <a:spcBef>
                          <a:spcPts val="0"/>
                        </a:spcBef>
                        <a:spcAft>
                          <a:spcPts val="0"/>
                        </a:spcAft>
                      </a:pPr>
                      <a:r>
                        <a:rPr sz="1000">
                          <a:solidFill>
                            <a:srgbClr val="1B1A19"/>
                          </a:solidFill>
                          <a:latin typeface="Segoe UI"/>
                        </a:rPr>
                        <a:t>codex-app-server</a:t>
                      </a:r>
                    </a:p>
                  </a:txBody>
                  <a:tcPr marL="82296" marR="82296" marT="41148" marB="41148" anchor="ctr">
                    <a:solidFill>
                      <a:srgbClr val="FFFFFF"/>
                    </a:solidFill>
                  </a:tcPr>
                </a:tc>
              </a:tr>
              <a:tr h="306324">
                <a:tc>
                  <a:txBody>
                    <a:bodyPr/>
                    <a:lstStyle/>
                    <a:p>
                      <a:pPr>
                        <a:lnSpc>
                          <a:spcPct val="105000"/>
                        </a:lnSpc>
                        <a:spcBef>
                          <a:spcPts val="0"/>
                        </a:spcBef>
                        <a:spcAft>
                          <a:spcPts val="0"/>
                        </a:spcAft>
                      </a:pPr>
                      <a:r>
                        <a:rPr sz="1000" b="1">
                          <a:solidFill>
                            <a:srgbClr val="14243E"/>
                          </a:solidFill>
                          <a:latin typeface="Segoe UI"/>
                        </a:rPr>
                        <a:t>One model call =</a:t>
                      </a:r>
                    </a:p>
                  </a:txBody>
                  <a:tcPr marL="82296" marR="82296" marT="41148" marB="41148" anchor="ctr">
                    <a:solidFill>
                      <a:srgbClr val="F7F7F9"/>
                    </a:solidFill>
                  </a:tcPr>
                </a:tc>
                <a:tc>
                  <a:txBody>
                    <a:bodyPr/>
                    <a:lstStyle/>
                    <a:p>
                      <a:pPr>
                        <a:lnSpc>
                          <a:spcPct val="105000"/>
                        </a:lnSpc>
                        <a:spcBef>
                          <a:spcPts val="0"/>
                        </a:spcBef>
                        <a:spcAft>
                          <a:spcPts val="0"/>
                        </a:spcAft>
                      </a:pPr>
                      <a:r>
                        <a:rPr sz="1000">
                          <a:solidFill>
                            <a:srgbClr val="1B1A19"/>
                          </a:solidFill>
                          <a:latin typeface="Segoe UI"/>
                        </a:rPr>
                        <a:t>one span</a:t>
                      </a:r>
                    </a:p>
                  </a:txBody>
                  <a:tcPr marL="82296" marR="82296" marT="41148" marB="41148" anchor="ctr">
                    <a:solidFill>
                      <a:srgbClr val="F7F7F9"/>
                    </a:solidFill>
                  </a:tcPr>
                </a:tc>
                <a:tc>
                  <a:txBody>
                    <a:bodyPr/>
                    <a:lstStyle/>
                    <a:p>
                      <a:pPr>
                        <a:lnSpc>
                          <a:spcPct val="105000"/>
                        </a:lnSpc>
                        <a:spcBef>
                          <a:spcPts val="0"/>
                        </a:spcBef>
                        <a:spcAft>
                          <a:spcPts val="0"/>
                        </a:spcAft>
                      </a:pPr>
                      <a:r>
                        <a:rPr sz="1000">
                          <a:solidFill>
                            <a:srgbClr val="1B1A19"/>
                          </a:solidFill>
                          <a:latin typeface="Segoe UI"/>
                        </a:rPr>
                        <a:t>one span</a:t>
                      </a:r>
                    </a:p>
                  </a:txBody>
                  <a:tcPr marL="82296" marR="82296" marT="41148" marB="41148" anchor="ctr">
                    <a:solidFill>
                      <a:srgbClr val="F7F7F9"/>
                    </a:solidFill>
                  </a:tcPr>
                </a:tc>
                <a:tc>
                  <a:txBody>
                    <a:bodyPr/>
                    <a:lstStyle/>
                    <a:p>
                      <a:pPr>
                        <a:lnSpc>
                          <a:spcPct val="105000"/>
                        </a:lnSpc>
                        <a:spcBef>
                          <a:spcPts val="0"/>
                        </a:spcBef>
                        <a:spcAft>
                          <a:spcPts val="0"/>
                        </a:spcAft>
                      </a:pPr>
                      <a:r>
                        <a:rPr sz="1000">
                          <a:solidFill>
                            <a:srgbClr val="1B1A19"/>
                          </a:solidFill>
                          <a:latin typeface="Segoe UI"/>
                        </a:rPr>
                        <a:t>five nested spans</a:t>
                      </a:r>
                    </a:p>
                  </a:txBody>
                  <a:tcPr marL="82296" marR="82296" marT="41148" marB="41148" anchor="ctr">
                    <a:solidFill>
                      <a:srgbClr val="F7F7F9"/>
                    </a:solidFill>
                  </a:tcPr>
                </a:tc>
              </a:tr>
              <a:tr h="306324">
                <a:tc>
                  <a:txBody>
                    <a:bodyPr/>
                    <a:lstStyle/>
                    <a:p>
                      <a:pPr>
                        <a:lnSpc>
                          <a:spcPct val="105000"/>
                        </a:lnSpc>
                        <a:spcBef>
                          <a:spcPts val="0"/>
                        </a:spcBef>
                        <a:spcAft>
                          <a:spcPts val="0"/>
                        </a:spcAft>
                      </a:pPr>
                      <a:r>
                        <a:rPr sz="1000" b="1">
                          <a:solidFill>
                            <a:srgbClr val="14243E"/>
                          </a:solidFill>
                          <a:latin typeface="Segoe UI"/>
                        </a:rPr>
                        <a:t>One tool call =</a:t>
                      </a:r>
                    </a:p>
                  </a:txBody>
                  <a:tcPr marL="82296" marR="82296" marT="41148" marB="41148" anchor="ctr">
                    <a:solidFill>
                      <a:srgbClr val="FFFFFF"/>
                    </a:solidFill>
                  </a:tcPr>
                </a:tc>
                <a:tc>
                  <a:txBody>
                    <a:bodyPr/>
                    <a:lstStyle/>
                    <a:p>
                      <a:pPr>
                        <a:lnSpc>
                          <a:spcPct val="105000"/>
                        </a:lnSpc>
                        <a:spcBef>
                          <a:spcPts val="0"/>
                        </a:spcBef>
                        <a:spcAft>
                          <a:spcPts val="0"/>
                        </a:spcAft>
                      </a:pPr>
                      <a:r>
                        <a:rPr sz="1000">
                          <a:solidFill>
                            <a:srgbClr val="1B1A19"/>
                          </a:solidFill>
                          <a:latin typeface="Segoe UI"/>
                        </a:rPr>
                        <a:t>execute_tool%</a:t>
                      </a:r>
                    </a:p>
                  </a:txBody>
                  <a:tcPr marL="82296" marR="82296" marT="41148" marB="41148" anchor="ctr">
                    <a:solidFill>
                      <a:srgbClr val="FFFFFF"/>
                    </a:solidFill>
                  </a:tcPr>
                </a:tc>
                <a:tc>
                  <a:txBody>
                    <a:bodyPr/>
                    <a:lstStyle/>
                    <a:p>
                      <a:pPr>
                        <a:lnSpc>
                          <a:spcPct val="105000"/>
                        </a:lnSpc>
                        <a:spcBef>
                          <a:spcPts val="0"/>
                        </a:spcBef>
                        <a:spcAft>
                          <a:spcPts val="0"/>
                        </a:spcAft>
                      </a:pPr>
                      <a:r>
                        <a:rPr sz="1000">
                          <a:solidFill>
                            <a:srgbClr val="1B1A19"/>
                          </a:solidFill>
                          <a:latin typeface="Segoe UI"/>
                        </a:rPr>
                        <a:t>claude_code.tool</a:t>
                      </a:r>
                    </a:p>
                  </a:txBody>
                  <a:tcPr marL="82296" marR="82296" marT="41148" marB="41148" anchor="ctr">
                    <a:solidFill>
                      <a:srgbClr val="FFFFFF"/>
                    </a:solidFill>
                  </a:tcPr>
                </a:tc>
                <a:tc>
                  <a:txBody>
                    <a:bodyPr/>
                    <a:lstStyle/>
                    <a:p>
                      <a:pPr>
                        <a:lnSpc>
                          <a:spcPct val="105000"/>
                        </a:lnSpc>
                        <a:spcBef>
                          <a:spcPts val="0"/>
                        </a:spcBef>
                        <a:spcAft>
                          <a:spcPts val="0"/>
                        </a:spcAft>
                      </a:pPr>
                      <a:r>
                        <a:rPr sz="1000">
                          <a:solidFill>
                            <a:srgbClr val="1B1A19"/>
                          </a:solidFill>
                          <a:latin typeface="Segoe UI"/>
                        </a:rPr>
                        <a:t>handle_tool_call</a:t>
                      </a:r>
                    </a:p>
                  </a:txBody>
                  <a:tcPr marL="82296" marR="82296" marT="41148" marB="41148" anchor="ctr">
                    <a:solidFill>
                      <a:srgbClr val="FFFFFF"/>
                    </a:solidFill>
                  </a:tcPr>
                </a:tc>
              </a:tr>
              <a:tr h="306324">
                <a:tc>
                  <a:txBody>
                    <a:bodyPr/>
                    <a:lstStyle/>
                    <a:p>
                      <a:pPr>
                        <a:lnSpc>
                          <a:spcPct val="105000"/>
                        </a:lnSpc>
                        <a:spcBef>
                          <a:spcPts val="0"/>
                        </a:spcBef>
                        <a:spcAft>
                          <a:spcPts val="0"/>
                        </a:spcAft>
                      </a:pPr>
                      <a:r>
                        <a:rPr sz="1000" b="1">
                          <a:solidFill>
                            <a:srgbClr val="14243E"/>
                          </a:solidFill>
                          <a:latin typeface="Segoe UI"/>
                        </a:rPr>
                        <a:t>Token attributes</a:t>
                      </a:r>
                    </a:p>
                  </a:txBody>
                  <a:tcPr marL="82296" marR="82296" marT="41148" marB="41148" anchor="ctr">
                    <a:solidFill>
                      <a:srgbClr val="F7F7F9"/>
                    </a:solidFill>
                  </a:tcPr>
                </a:tc>
                <a:tc>
                  <a:txBody>
                    <a:bodyPr/>
                    <a:lstStyle/>
                    <a:p>
                      <a:pPr>
                        <a:lnSpc>
                          <a:spcPct val="105000"/>
                        </a:lnSpc>
                        <a:spcBef>
                          <a:spcPts val="0"/>
                        </a:spcBef>
                        <a:spcAft>
                          <a:spcPts val="0"/>
                        </a:spcAft>
                      </a:pPr>
                      <a:r>
                        <a:rPr sz="1000">
                          <a:solidFill>
                            <a:srgbClr val="1B1A19"/>
                          </a:solidFill>
                          <a:latin typeface="Segoe UI"/>
                        </a:rPr>
                        <a:t>gen_ai.usage.*</a:t>
                      </a:r>
                    </a:p>
                  </a:txBody>
                  <a:tcPr marL="82296" marR="82296" marT="41148" marB="41148" anchor="ctr">
                    <a:solidFill>
                      <a:srgbClr val="F7F7F9"/>
                    </a:solidFill>
                  </a:tcPr>
                </a:tc>
                <a:tc>
                  <a:txBody>
                    <a:bodyPr/>
                    <a:lstStyle/>
                    <a:p>
                      <a:pPr>
                        <a:lnSpc>
                          <a:spcPct val="105000"/>
                        </a:lnSpc>
                        <a:spcBef>
                          <a:spcPts val="0"/>
                        </a:spcBef>
                        <a:spcAft>
                          <a:spcPts val="0"/>
                        </a:spcAft>
                      </a:pPr>
                      <a:r>
                        <a:rPr sz="1000">
                          <a:solidFill>
                            <a:srgbClr val="1B1A19"/>
                          </a:solidFill>
                          <a:latin typeface="Segoe UI"/>
                        </a:rPr>
                        <a:t>bare input_tokens</a:t>
                      </a:r>
                    </a:p>
                  </a:txBody>
                  <a:tcPr marL="82296" marR="82296" marT="41148" marB="41148" anchor="ctr">
                    <a:solidFill>
                      <a:srgbClr val="F7F7F9"/>
                    </a:solidFill>
                  </a:tcPr>
                </a:tc>
                <a:tc>
                  <a:txBody>
                    <a:bodyPr/>
                    <a:lstStyle/>
                    <a:p>
                      <a:pPr>
                        <a:lnSpc>
                          <a:spcPct val="105000"/>
                        </a:lnSpc>
                        <a:spcBef>
                          <a:spcPts val="0"/>
                        </a:spcBef>
                        <a:spcAft>
                          <a:spcPts val="0"/>
                        </a:spcAft>
                      </a:pPr>
                      <a:r>
                        <a:rPr sz="1000">
                          <a:solidFill>
                            <a:srgbClr val="1B1A19"/>
                          </a:solidFill>
                          <a:latin typeface="Segoe UI"/>
                        </a:rPr>
                        <a:t>inside a log record</a:t>
                      </a:r>
                    </a:p>
                  </a:txBody>
                  <a:tcPr marL="82296" marR="82296" marT="41148" marB="41148" anchor="ctr">
                    <a:solidFill>
                      <a:srgbClr val="F7F7F9"/>
                    </a:solidFill>
                  </a:tcPr>
                </a:tc>
              </a:tr>
              <a:tr h="306324">
                <a:tc>
                  <a:txBody>
                    <a:bodyPr/>
                    <a:lstStyle/>
                    <a:p>
                      <a:pPr>
                        <a:lnSpc>
                          <a:spcPct val="105000"/>
                        </a:lnSpc>
                        <a:spcBef>
                          <a:spcPts val="0"/>
                        </a:spcBef>
                        <a:spcAft>
                          <a:spcPts val="0"/>
                        </a:spcAft>
                      </a:pPr>
                      <a:r>
                        <a:rPr sz="1000" b="1">
                          <a:solidFill>
                            <a:srgbClr val="14243E"/>
                          </a:solidFill>
                          <a:latin typeface="Segoe UI"/>
                        </a:rPr>
                        <a:t>Cache tokens</a:t>
                      </a:r>
                    </a:p>
                  </a:txBody>
                  <a:tcPr marL="82296" marR="82296" marT="41148" marB="41148" anchor="ctr">
                    <a:solidFill>
                      <a:srgbClr val="FFFFFF"/>
                    </a:solidFill>
                  </a:tcPr>
                </a:tc>
                <a:tc>
                  <a:txBody>
                    <a:bodyPr/>
                    <a:lstStyle/>
                    <a:p>
                      <a:pPr>
                        <a:lnSpc>
                          <a:spcPct val="105000"/>
                        </a:lnSpc>
                        <a:spcBef>
                          <a:spcPts val="0"/>
                        </a:spcBef>
                        <a:spcAft>
                          <a:spcPts val="0"/>
                        </a:spcAft>
                      </a:pPr>
                      <a:r>
                        <a:rPr sz="1000">
                          <a:solidFill>
                            <a:srgbClr val="1B1A19"/>
                          </a:solidFill>
                          <a:latin typeface="Segoe UI"/>
                        </a:rPr>
                        <a:t>subset of input</a:t>
                      </a:r>
                    </a:p>
                  </a:txBody>
                  <a:tcPr marL="82296" marR="82296" marT="41148" marB="41148" anchor="ctr">
                    <a:solidFill>
                      <a:srgbClr val="FFFFFF"/>
                    </a:solidFill>
                  </a:tcPr>
                </a:tc>
                <a:tc>
                  <a:txBody>
                    <a:bodyPr/>
                    <a:lstStyle/>
                    <a:p>
                      <a:pPr>
                        <a:lnSpc>
                          <a:spcPct val="105000"/>
                        </a:lnSpc>
                        <a:spcBef>
                          <a:spcPts val="0"/>
                        </a:spcBef>
                        <a:spcAft>
                          <a:spcPts val="0"/>
                        </a:spcAft>
                      </a:pPr>
                      <a:r>
                        <a:rPr sz="1000">
                          <a:solidFill>
                            <a:srgbClr val="1B1A19"/>
                          </a:solidFill>
                          <a:latin typeface="Segoe UI"/>
                        </a:rPr>
                        <a:t>added on top of input</a:t>
                      </a:r>
                    </a:p>
                  </a:txBody>
                  <a:tcPr marL="82296" marR="82296" marT="41148" marB="41148" anchor="ctr">
                    <a:solidFill>
                      <a:srgbClr val="FFFFFF"/>
                    </a:solidFill>
                  </a:tcPr>
                </a:tc>
                <a:tc>
                  <a:txBody>
                    <a:bodyPr/>
                    <a:lstStyle/>
                    <a:p>
                      <a:pPr>
                        <a:lnSpc>
                          <a:spcPct val="105000"/>
                        </a:lnSpc>
                        <a:spcBef>
                          <a:spcPts val="0"/>
                        </a:spcBef>
                        <a:spcAft>
                          <a:spcPts val="0"/>
                        </a:spcAft>
                      </a:pPr>
                      <a:r>
                        <a:rPr sz="1000">
                          <a:solidFill>
                            <a:srgbClr val="1B1A19"/>
                          </a:solidFill>
                          <a:latin typeface="Segoe UI"/>
                        </a:rPr>
                        <a:t>subset of input</a:t>
                      </a:r>
                    </a:p>
                  </a:txBody>
                  <a:tcPr marL="82296" marR="82296" marT="41148" marB="41148" anchor="ctr">
                    <a:solidFill>
                      <a:srgbClr val="FFFFFF"/>
                    </a:solidFill>
                  </a:tcPr>
                </a:tc>
              </a:tr>
              <a:tr h="306324">
                <a:tc>
                  <a:txBody>
                    <a:bodyPr/>
                    <a:lstStyle/>
                    <a:p>
                      <a:pPr>
                        <a:lnSpc>
                          <a:spcPct val="105000"/>
                        </a:lnSpc>
                        <a:spcBef>
                          <a:spcPts val="0"/>
                        </a:spcBef>
                        <a:spcAft>
                          <a:spcPts val="0"/>
                        </a:spcAft>
                      </a:pPr>
                      <a:r>
                        <a:rPr sz="1000" b="1">
                          <a:solidFill>
                            <a:srgbClr val="14243E"/>
                          </a:solidFill>
                          <a:latin typeface="Segoe UI"/>
                        </a:rPr>
                        <a:t>User prompt</a:t>
                      </a:r>
                    </a:p>
                  </a:txBody>
                  <a:tcPr marL="82296" marR="82296" marT="41148" marB="41148" anchor="ctr">
                    <a:solidFill>
                      <a:srgbClr val="F7F7F9"/>
                    </a:solidFill>
                  </a:tcPr>
                </a:tc>
                <a:tc>
                  <a:txBody>
                    <a:bodyPr/>
                    <a:lstStyle/>
                    <a:p>
                      <a:pPr>
                        <a:lnSpc>
                          <a:spcPct val="105000"/>
                        </a:lnSpc>
                        <a:spcBef>
                          <a:spcPts val="0"/>
                        </a:spcBef>
                        <a:spcAft>
                          <a:spcPts val="0"/>
                        </a:spcAft>
                      </a:pPr>
                      <a:r>
                        <a:rPr sz="1000">
                          <a:solidFill>
                            <a:srgbClr val="1B1A19"/>
                          </a:solidFill>
                          <a:latin typeface="Segoe UI"/>
                        </a:rPr>
                        <a:t>on the span</a:t>
                      </a:r>
                    </a:p>
                  </a:txBody>
                  <a:tcPr marL="82296" marR="82296" marT="41148" marB="41148" anchor="ctr">
                    <a:solidFill>
                      <a:srgbClr val="F7F7F9"/>
                    </a:solidFill>
                  </a:tcPr>
                </a:tc>
                <a:tc>
                  <a:txBody>
                    <a:bodyPr/>
                    <a:lstStyle/>
                    <a:p>
                      <a:pPr>
                        <a:lnSpc>
                          <a:spcPct val="105000"/>
                        </a:lnSpc>
                        <a:spcBef>
                          <a:spcPts val="0"/>
                        </a:spcBef>
                        <a:spcAft>
                          <a:spcPts val="0"/>
                        </a:spcAft>
                      </a:pPr>
                      <a:r>
                        <a:rPr sz="1000">
                          <a:solidFill>
                            <a:srgbClr val="1B1A19"/>
                          </a:solidFill>
                          <a:latin typeface="Segoe UI"/>
                        </a:rPr>
                        <a:t>on the span</a:t>
                      </a:r>
                    </a:p>
                  </a:txBody>
                  <a:tcPr marL="82296" marR="82296" marT="41148" marB="41148" anchor="ctr">
                    <a:solidFill>
                      <a:srgbClr val="F7F7F9"/>
                    </a:solidFill>
                  </a:tcPr>
                </a:tc>
                <a:tc>
                  <a:txBody>
                    <a:bodyPr/>
                    <a:lstStyle/>
                    <a:p>
                      <a:pPr>
                        <a:lnSpc>
                          <a:spcPct val="105000"/>
                        </a:lnSpc>
                        <a:spcBef>
                          <a:spcPts val="0"/>
                        </a:spcBef>
                        <a:spcAft>
                          <a:spcPts val="0"/>
                        </a:spcAft>
                      </a:pPr>
                      <a:r>
                        <a:rPr sz="1000">
                          <a:solidFill>
                            <a:srgbClr val="1B1A19"/>
                          </a:solidFill>
                          <a:latin typeface="Segoe UI"/>
                        </a:rPr>
                        <a:t>in a log record</a:t>
                      </a:r>
                    </a:p>
                  </a:txBody>
                  <a:tcPr marL="82296" marR="82296" marT="41148" marB="41148" anchor="ctr">
                    <a:solidFill>
                      <a:srgbClr val="F7F7F9"/>
                    </a:solidFill>
                  </a:tcPr>
                </a:tc>
              </a:tr>
              <a:tr h="306324">
                <a:tc>
                  <a:txBody>
                    <a:bodyPr/>
                    <a:lstStyle/>
                    <a:p>
                      <a:pPr>
                        <a:lnSpc>
                          <a:spcPct val="105000"/>
                        </a:lnSpc>
                        <a:spcBef>
                          <a:spcPts val="0"/>
                        </a:spcBef>
                        <a:spcAft>
                          <a:spcPts val="0"/>
                        </a:spcAft>
                      </a:pPr>
                      <a:r>
                        <a:rPr sz="1000" b="1">
                          <a:solidFill>
                            <a:srgbClr val="14243E"/>
                          </a:solidFill>
                          <a:latin typeface="Segoe UI"/>
                        </a:rPr>
                        <a:t>Assistant text</a:t>
                      </a:r>
                    </a:p>
                  </a:txBody>
                  <a:tcPr marL="82296" marR="82296" marT="41148" marB="41148" anchor="ctr">
                    <a:solidFill>
                      <a:srgbClr val="FFFFFF"/>
                    </a:solidFill>
                  </a:tcPr>
                </a:tc>
                <a:tc>
                  <a:txBody>
                    <a:bodyPr/>
                    <a:lstStyle/>
                    <a:p>
                      <a:pPr>
                        <a:lnSpc>
                          <a:spcPct val="105000"/>
                        </a:lnSpc>
                        <a:spcBef>
                          <a:spcPts val="0"/>
                        </a:spcBef>
                        <a:spcAft>
                          <a:spcPts val="0"/>
                        </a:spcAft>
                      </a:pPr>
                      <a:r>
                        <a:rPr sz="1000">
                          <a:solidFill>
                            <a:srgbClr val="1B1A19"/>
                          </a:solidFill>
                          <a:latin typeface="Segoe UI"/>
                        </a:rPr>
                        <a:t>on the span</a:t>
                      </a:r>
                    </a:p>
                  </a:txBody>
                  <a:tcPr marL="82296" marR="82296" marT="41148" marB="41148" anchor="ctr">
                    <a:solidFill>
                      <a:srgbClr val="FFFFFF"/>
                    </a:solidFill>
                  </a:tcPr>
                </a:tc>
                <a:tc>
                  <a:txBody>
                    <a:bodyPr/>
                    <a:lstStyle/>
                    <a:p>
                      <a:pPr>
                        <a:lnSpc>
                          <a:spcPct val="105000"/>
                        </a:lnSpc>
                        <a:spcBef>
                          <a:spcPts val="0"/>
                        </a:spcBef>
                        <a:spcAft>
                          <a:spcPts val="0"/>
                        </a:spcAft>
                      </a:pPr>
                      <a:r>
                        <a:rPr sz="1000">
                          <a:solidFill>
                            <a:srgbClr val="1B1A19"/>
                          </a:solidFill>
                          <a:latin typeface="Segoe UI"/>
                        </a:rPr>
                        <a:t>in a log record</a:t>
                      </a:r>
                    </a:p>
                  </a:txBody>
                  <a:tcPr marL="82296" marR="82296" marT="41148" marB="41148" anchor="ctr">
                    <a:solidFill>
                      <a:srgbClr val="FFFFFF"/>
                    </a:solidFill>
                  </a:tcPr>
                </a:tc>
                <a:tc>
                  <a:txBody>
                    <a:bodyPr/>
                    <a:lstStyle/>
                    <a:p>
                      <a:pPr>
                        <a:lnSpc>
                          <a:spcPct val="105000"/>
                        </a:lnSpc>
                        <a:spcBef>
                          <a:spcPts val="0"/>
                        </a:spcBef>
                        <a:spcAft>
                          <a:spcPts val="0"/>
                        </a:spcAft>
                      </a:pPr>
                      <a:r>
                        <a:rPr sz="1000">
                          <a:solidFill>
                            <a:srgbClr val="1B1A19"/>
                          </a:solidFill>
                          <a:latin typeface="Segoe UI"/>
                        </a:rPr>
                        <a:t>never exported</a:t>
                      </a:r>
                    </a:p>
                  </a:txBody>
                  <a:tcPr marL="82296" marR="82296" marT="41148" marB="41148" anchor="ctr">
                    <a:solidFill>
                      <a:srgbClr val="FFFFFF"/>
                    </a:solidFill>
                  </a:tcPr>
                </a:tc>
              </a:tr>
              <a:tr h="306324">
                <a:tc>
                  <a:txBody>
                    <a:bodyPr/>
                    <a:lstStyle/>
                    <a:p>
                      <a:pPr>
                        <a:lnSpc>
                          <a:spcPct val="105000"/>
                        </a:lnSpc>
                        <a:spcBef>
                          <a:spcPts val="0"/>
                        </a:spcBef>
                        <a:spcAft>
                          <a:spcPts val="0"/>
                        </a:spcAft>
                      </a:pPr>
                      <a:r>
                        <a:rPr sz="1000" b="1">
                          <a:solidFill>
                            <a:srgbClr val="14243E"/>
                          </a:solidFill>
                          <a:latin typeface="Segoe UI"/>
                        </a:rPr>
                        <a:t>Session identity</a:t>
                      </a:r>
                    </a:p>
                  </a:txBody>
                  <a:tcPr marL="82296" marR="82296" marT="41148" marB="41148" anchor="ctr">
                    <a:solidFill>
                      <a:srgbClr val="F7F7F9"/>
                    </a:solidFill>
                  </a:tcPr>
                </a:tc>
                <a:tc>
                  <a:txBody>
                    <a:bodyPr/>
                    <a:lstStyle/>
                    <a:p>
                      <a:pPr>
                        <a:lnSpc>
                          <a:spcPct val="105000"/>
                        </a:lnSpc>
                        <a:spcBef>
                          <a:spcPts val="0"/>
                        </a:spcBef>
                        <a:spcAft>
                          <a:spcPts val="0"/>
                        </a:spcAft>
                      </a:pPr>
                      <a:r>
                        <a:rPr sz="1000">
                          <a:solidFill>
                            <a:srgbClr val="1B1A19"/>
                          </a:solidFill>
                          <a:latin typeface="Segoe UI"/>
                        </a:rPr>
                        <a:t>chat_session_id</a:t>
                      </a:r>
                    </a:p>
                  </a:txBody>
                  <a:tcPr marL="82296" marR="82296" marT="41148" marB="41148" anchor="ctr">
                    <a:solidFill>
                      <a:srgbClr val="F7F7F9"/>
                    </a:solidFill>
                  </a:tcPr>
                </a:tc>
                <a:tc>
                  <a:txBody>
                    <a:bodyPr/>
                    <a:lstStyle/>
                    <a:p>
                      <a:pPr>
                        <a:lnSpc>
                          <a:spcPct val="105000"/>
                        </a:lnSpc>
                        <a:spcBef>
                          <a:spcPts val="0"/>
                        </a:spcBef>
                        <a:spcAft>
                          <a:spcPts val="0"/>
                        </a:spcAft>
                      </a:pPr>
                      <a:r>
                        <a:rPr sz="1000">
                          <a:solidFill>
                            <a:srgbClr val="1B1A19"/>
                          </a:solidFill>
                          <a:latin typeface="Segoe UI"/>
                        </a:rPr>
                        <a:t>conversation.id</a:t>
                      </a:r>
                    </a:p>
                  </a:txBody>
                  <a:tcPr marL="82296" marR="82296" marT="41148" marB="41148" anchor="ctr">
                    <a:solidFill>
                      <a:srgbClr val="F7F7F9"/>
                    </a:solidFill>
                  </a:tcPr>
                </a:tc>
                <a:tc>
                  <a:txBody>
                    <a:bodyPr/>
                    <a:lstStyle/>
                    <a:p>
                      <a:pPr>
                        <a:lnSpc>
                          <a:spcPct val="105000"/>
                        </a:lnSpc>
                        <a:spcBef>
                          <a:spcPts val="0"/>
                        </a:spcBef>
                        <a:spcAft>
                          <a:spcPts val="0"/>
                        </a:spcAft>
                      </a:pPr>
                      <a:r>
                        <a:rPr sz="1000">
                          <a:solidFill>
                            <a:srgbClr val="1B1A19"/>
                          </a:solidFill>
                          <a:latin typeface="Segoe UI"/>
                        </a:rPr>
                        <a:t>often nothing</a:t>
                      </a:r>
                    </a:p>
                  </a:txBody>
                  <a:tcPr marL="82296" marR="82296" marT="41148" marB="41148" anchor="ctr">
                    <a:solidFill>
                      <a:srgbClr val="F7F7F9"/>
                    </a:solidFill>
                  </a:tcPr>
                </a:tc>
              </a:tr>
              <a:tr h="306324">
                <a:tc>
                  <a:txBody>
                    <a:bodyPr/>
                    <a:lstStyle/>
                    <a:p>
                      <a:pPr>
                        <a:lnSpc>
                          <a:spcPct val="105000"/>
                        </a:lnSpc>
                        <a:spcBef>
                          <a:spcPts val="0"/>
                        </a:spcBef>
                        <a:spcAft>
                          <a:spcPts val="0"/>
                        </a:spcAft>
                      </a:pPr>
                      <a:r>
                        <a:rPr sz="1000" b="1">
                          <a:solidFill>
                            <a:srgbClr val="14243E"/>
                          </a:solidFill>
                          <a:latin typeface="Segoe UI"/>
                        </a:rPr>
                        <a:t>Log timestamps</a:t>
                      </a:r>
                    </a:p>
                  </a:txBody>
                  <a:tcPr marL="82296" marR="82296" marT="41148" marB="41148" anchor="ctr">
                    <a:solidFill>
                      <a:srgbClr val="FFFFFF"/>
                    </a:solidFill>
                  </a:tcPr>
                </a:tc>
                <a:tc>
                  <a:txBody>
                    <a:bodyPr/>
                    <a:lstStyle/>
                    <a:p>
                      <a:pPr>
                        <a:lnSpc>
                          <a:spcPct val="105000"/>
                        </a:lnSpc>
                        <a:spcBef>
                          <a:spcPts val="0"/>
                        </a:spcBef>
                        <a:spcAft>
                          <a:spcPts val="0"/>
                        </a:spcAft>
                      </a:pPr>
                      <a:r>
                        <a:rPr sz="1000">
                          <a:solidFill>
                            <a:srgbClr val="1B1A19"/>
                          </a:solidFill>
                          <a:latin typeface="Segoe UI"/>
                        </a:rPr>
                        <a:t>usable as sent</a:t>
                      </a:r>
                    </a:p>
                  </a:txBody>
                  <a:tcPr marL="82296" marR="82296" marT="41148" marB="41148" anchor="ctr">
                    <a:solidFill>
                      <a:srgbClr val="FFFFFF"/>
                    </a:solidFill>
                  </a:tcPr>
                </a:tc>
                <a:tc>
                  <a:txBody>
                    <a:bodyPr/>
                    <a:lstStyle/>
                    <a:p>
                      <a:pPr>
                        <a:lnSpc>
                          <a:spcPct val="105000"/>
                        </a:lnSpc>
                        <a:spcBef>
                          <a:spcPts val="0"/>
                        </a:spcBef>
                        <a:spcAft>
                          <a:spcPts val="0"/>
                        </a:spcAft>
                      </a:pPr>
                      <a:r>
                        <a:rPr sz="1000">
                          <a:solidFill>
                            <a:srgbClr val="1B1A19"/>
                          </a:solidFill>
                          <a:latin typeface="Segoe UI"/>
                        </a:rPr>
                        <a:t>usable as sent</a:t>
                      </a:r>
                    </a:p>
                  </a:txBody>
                  <a:tcPr marL="82296" marR="82296" marT="41148" marB="41148" anchor="ctr">
                    <a:solidFill>
                      <a:srgbClr val="FFFFFF"/>
                    </a:solidFill>
                  </a:tcPr>
                </a:tc>
                <a:tc>
                  <a:txBody>
                    <a:bodyPr/>
                    <a:lstStyle/>
                    <a:p>
                      <a:pPr>
                        <a:lnSpc>
                          <a:spcPct val="105000"/>
                        </a:lnSpc>
                        <a:spcBef>
                          <a:spcPts val="0"/>
                        </a:spcBef>
                        <a:spcAft>
                          <a:spcPts val="0"/>
                        </a:spcAft>
                      </a:pPr>
                      <a:r>
                        <a:rPr sz="1000">
                          <a:solidFill>
                            <a:srgbClr val="1B1A19"/>
                          </a:solidFill>
                          <a:latin typeface="Segoe UI"/>
                        </a:rPr>
                        <a:t>always zero</a:t>
                      </a:r>
                    </a:p>
                  </a:txBody>
                  <a:tcPr marL="82296" marR="82296" marT="41148" marB="41148" anchor="ctr">
                    <a:solidFill>
                      <a:srgbClr val="FFFFFF"/>
                    </a:solidFill>
                  </a:tcPr>
                </a:tc>
              </a:tr>
            </a:tbl>
          </a:graphicData>
        </a:graphic>
      </p:graphicFrame>
      <p:sp>
        <p:nvSpPr>
          <p:cNvPr id="11" name="Rounded Rectangle 10"/>
          <p:cNvSpPr/>
          <p:nvPr/>
        </p:nvSpPr>
        <p:spPr>
          <a:xfrm>
            <a:off x="658368" y="5029200"/>
            <a:ext cx="10872216" cy="1188720"/>
          </a:xfrm>
          <a:prstGeom prst="roundRect">
            <a:avLst>
              <a:gd name="adj" fmla="val 4500"/>
            </a:avLst>
          </a:prstGeom>
          <a:solidFill>
            <a:srgbClr val="DEECF9"/>
          </a:solidFill>
          <a:ln w="12700">
            <a:solidFill>
              <a:srgbClr val="DEECF9"/>
            </a:solid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310896" tIns="109728" bIns="109728"/>
          <a:lstStyle/>
          <a:p>
            <a:pPr algn="l">
              <a:lnSpc>
                <a:spcPct val="122000"/>
              </a:lnSpc>
              <a:spcBef>
                <a:spcPts val="0"/>
              </a:spcBef>
              <a:spcAft>
                <a:spcPts val="600"/>
              </a:spcAft>
            </a:pPr>
            <a:r>
              <a:rPr sz="1250" b="1" i="0">
                <a:solidFill>
                  <a:srgbClr val="0078D4"/>
                </a:solidFill>
                <a:latin typeface="Segoe UI"/>
              </a:rPr>
              <a:t>Counting a tool call is not obvious. </a:t>
            </a:r>
            <a:r>
              <a:rPr sz="1250" b="0" i="0">
                <a:solidFill>
                  <a:srgbClr val="14243E"/>
                </a:solidFill>
                <a:latin typeface="Segoe UI"/>
              </a:rPr>
              <a:t>On Claude, matching the whole subtree trebles the count; matching too narrowly drops every permission-denied call.</a:t>
            </a:r>
          </a:p>
          <a:p>
            <a:pPr algn="l">
              <a:lnSpc>
                <a:spcPct val="122000"/>
              </a:lnSpc>
              <a:spcBef>
                <a:spcPts val="0"/>
              </a:spcBef>
              <a:spcAft>
                <a:spcPts val="0"/>
              </a:spcAft>
            </a:pPr>
            <a:r>
              <a:rPr sz="1250" b="1" i="0">
                <a:solidFill>
                  <a:srgbClr val="0078D4"/>
                </a:solidFill>
                <a:latin typeface="Segoe UI"/>
              </a:rPr>
              <a:t>Counting a model call is not obvious. </a:t>
            </a:r>
            <a:r>
              <a:rPr sz="1250" b="0" i="0">
                <a:solidFill>
                  <a:srgbClr val="14243E"/>
                </a:solidFill>
                <a:latin typeface="Segoe UI"/>
              </a:rPr>
              <a:t>On Codex, five spans report the same call. </a:t>
            </a:r>
            <a:r>
              <a:rPr sz="1250" b="1" i="0">
                <a:solidFill>
                  <a:srgbClr val="0078D4"/>
                </a:solidFill>
                <a:latin typeface="Segoe UI"/>
              </a:rPr>
              <a:t>Reading a conversation is not obvious. </a:t>
            </a:r>
            <a:r>
              <a:rPr sz="1250" b="0" i="0">
                <a:solidFill>
                  <a:srgbClr val="14243E"/>
                </a:solidFill>
                <a:latin typeface="Segoe UI"/>
              </a:rPr>
              <a:t>Two of three split it across two signals; one never sends the model’s half.</a:t>
            </a:r>
          </a:p>
        </p:txBody>
      </p:sp>
      <p:sp>
        <p:nvSpPr>
          <p:cNvPr id="12" name="TextBox 11"/>
          <p:cNvSpPr txBox="1"/>
          <p:nvPr/>
        </p:nvSpPr>
        <p:spPr>
          <a:xfrm>
            <a:off x="658368" y="6382512"/>
            <a:ext cx="8686800" cy="237744"/>
          </a:xfrm>
          <a:prstGeom prst="rect">
            <a:avLst/>
          </a:prstGeom>
          <a:noFill/>
        </p:spPr>
        <p:txBody>
          <a:bodyPr wrap="square" lIns="0" rIns="0" tIns="0" bIns="0" anchor="t">
            <a:spAutoFit/>
          </a:bodyPr>
          <a:lstStyle/>
          <a:p>
            <a:pPr algn="l">
              <a:spcBef>
                <a:spcPts val="0"/>
              </a:spcBef>
              <a:spcAft>
                <a:spcPts val="0"/>
              </a:spcAft>
            </a:pPr>
            <a:r>
              <a:rPr sz="900" b="0" i="0">
                <a:solidFill>
                  <a:srgbClr val="8A8886"/>
                </a:solidFill>
                <a:latin typeface="Segoe UI"/>
              </a:rPr>
              <a:t>Microsoft  ·  Agent Insights</a:t>
            </a:r>
          </a:p>
        </p:txBody>
      </p:sp>
      <p:sp>
        <p:nvSpPr>
          <p:cNvPr id="13" name="TextBox 12"/>
          <p:cNvSpPr txBox="1"/>
          <p:nvPr/>
        </p:nvSpPr>
        <p:spPr>
          <a:xfrm>
            <a:off x="10835640" y="6382512"/>
            <a:ext cx="694944" cy="237744"/>
          </a:xfrm>
          <a:prstGeom prst="rect">
            <a:avLst/>
          </a:prstGeom>
          <a:noFill/>
        </p:spPr>
        <p:txBody>
          <a:bodyPr wrap="square" lIns="0" rIns="0" tIns="0" bIns="0" anchor="t">
            <a:spAutoFit/>
          </a:bodyPr>
          <a:lstStyle/>
          <a:p>
            <a:pPr algn="r">
              <a:spcBef>
                <a:spcPts val="0"/>
              </a:spcBef>
              <a:spcAft>
                <a:spcPts val="0"/>
              </a:spcAft>
            </a:pPr>
            <a:r>
              <a:rPr sz="900" b="0" i="0">
                <a:solidFill>
                  <a:srgbClr val="8A8886"/>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47925" cy="685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47923" y="0"/>
            <a:ext cx="3047925" cy="68580"/>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6095847" y="0"/>
            <a:ext cx="3047925" cy="6858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143771" y="0"/>
            <a:ext cx="3047925" cy="68580"/>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384048"/>
            <a:ext cx="10872216" cy="237744"/>
          </a:xfrm>
          <a:prstGeom prst="rect">
            <a:avLst/>
          </a:prstGeom>
          <a:noFill/>
        </p:spPr>
        <p:txBody>
          <a:bodyPr wrap="square" lIns="0" rIns="0" tIns="0" bIns="0" anchor="t">
            <a:spAutoFit/>
          </a:bodyPr>
          <a:lstStyle/>
          <a:p>
            <a:pPr algn="l">
              <a:spcBef>
                <a:spcPts val="0"/>
              </a:spcBef>
              <a:spcAft>
                <a:spcPts val="0"/>
              </a:spcAft>
            </a:pPr>
            <a:r>
              <a:rPr sz="1050" b="1" i="0">
                <a:solidFill>
                  <a:srgbClr val="0078D4"/>
                </a:solidFill>
                <a:latin typeface="Segoe UI Semibold"/>
              </a:rPr>
              <a:t>03  APPROACH · THE SHAPE OF THE WORK</a:t>
            </a:r>
          </a:p>
        </p:txBody>
      </p:sp>
      <p:sp>
        <p:nvSpPr>
          <p:cNvPr id="7" name="TextBox 6"/>
          <p:cNvSpPr txBox="1"/>
          <p:nvPr/>
        </p:nvSpPr>
        <p:spPr>
          <a:xfrm>
            <a:off x="658368" y="658368"/>
            <a:ext cx="10872216" cy="502920"/>
          </a:xfrm>
          <a:prstGeom prst="rect">
            <a:avLst/>
          </a:prstGeom>
          <a:noFill/>
        </p:spPr>
        <p:txBody>
          <a:bodyPr wrap="square" lIns="0" rIns="0" tIns="0" bIns="0" anchor="t">
            <a:spAutoFit/>
          </a:bodyPr>
          <a:lstStyle/>
          <a:p>
            <a:pPr algn="l">
              <a:spcBef>
                <a:spcPts val="0"/>
              </a:spcBef>
              <a:spcAft>
                <a:spcPts val="0"/>
              </a:spcAft>
            </a:pPr>
            <a:r>
              <a:rPr sz="2900" b="0" i="0">
                <a:solidFill>
                  <a:srgbClr val="14243E"/>
                </a:solidFill>
                <a:latin typeface="Segoe UI Light"/>
              </a:rPr>
              <a:t>Seven things have to happen before you can read a session</a:t>
            </a:r>
          </a:p>
        </p:txBody>
      </p:sp>
      <p:sp>
        <p:nvSpPr>
          <p:cNvPr id="8" name="TextBox 7"/>
          <p:cNvSpPr txBox="1"/>
          <p:nvPr/>
        </p:nvSpPr>
        <p:spPr>
          <a:xfrm>
            <a:off x="658368" y="1207008"/>
            <a:ext cx="10872216" cy="329184"/>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605E5C"/>
                </a:solidFill>
                <a:latin typeface="Segoe UI"/>
              </a:rPr>
              <a:t>None of these are given to you. Every one is something the engine has to decide.</a:t>
            </a:r>
          </a:p>
        </p:txBody>
      </p:sp>
      <p:sp>
        <p:nvSpPr>
          <p:cNvPr id="9" name="Rectangle 8"/>
          <p:cNvSpPr/>
          <p:nvPr/>
        </p:nvSpPr>
        <p:spPr>
          <a:xfrm>
            <a:off x="658368" y="1591056"/>
            <a:ext cx="960120" cy="320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58368" y="1883664"/>
            <a:ext cx="2560320" cy="969264"/>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58368" y="1883664"/>
            <a:ext cx="2560320" cy="4572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822960" y="2066544"/>
            <a:ext cx="310896" cy="310896"/>
          </a:xfrm>
          <a:prstGeom prst="roundRect">
            <a:avLst>
              <a:gd name="adj" fmla="val 50000"/>
            </a:avLst>
          </a:prstGeom>
          <a:solidFill>
            <a:srgbClr val="0078D4"/>
          </a:solidFill>
          <a:ln w="127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100" b="1" i="0">
                <a:solidFill>
                  <a:srgbClr val="FFFFFF"/>
                </a:solidFill>
                <a:latin typeface="Segoe UI"/>
              </a:rPr>
              <a:t>1</a:t>
            </a:r>
          </a:p>
        </p:txBody>
      </p:sp>
      <p:sp>
        <p:nvSpPr>
          <p:cNvPr id="13" name="TextBox 12"/>
          <p:cNvSpPr txBox="1"/>
          <p:nvPr/>
        </p:nvSpPr>
        <p:spPr>
          <a:xfrm>
            <a:off x="1225296" y="2066544"/>
            <a:ext cx="1810512" cy="329184"/>
          </a:xfrm>
          <a:prstGeom prst="rect">
            <a:avLst/>
          </a:prstGeom>
          <a:noFill/>
        </p:spPr>
        <p:txBody>
          <a:bodyPr wrap="square" lIns="0" rIns="0" tIns="0" bIns="0" anchor="t">
            <a:spAutoFit/>
          </a:bodyPr>
          <a:lstStyle/>
          <a:p>
            <a:pPr algn="l">
              <a:spcBef>
                <a:spcPts val="0"/>
              </a:spcBef>
              <a:spcAft>
                <a:spcPts val="0"/>
              </a:spcAft>
            </a:pPr>
            <a:r>
              <a:rPr sz="1250" b="1" i="0">
                <a:solidFill>
                  <a:srgbClr val="14243E"/>
                </a:solidFill>
                <a:latin typeface="Segoe UI"/>
              </a:rPr>
              <a:t>Emit</a:t>
            </a:r>
          </a:p>
        </p:txBody>
      </p:sp>
      <p:sp>
        <p:nvSpPr>
          <p:cNvPr id="14" name="TextBox 13"/>
          <p:cNvSpPr txBox="1"/>
          <p:nvPr/>
        </p:nvSpPr>
        <p:spPr>
          <a:xfrm>
            <a:off x="822960" y="2450592"/>
            <a:ext cx="2231136" cy="310896"/>
          </a:xfrm>
          <a:prstGeom prst="rect">
            <a:avLst/>
          </a:prstGeom>
          <a:noFill/>
        </p:spPr>
        <p:txBody>
          <a:bodyPr wrap="square" lIns="0" rIns="0" tIns="0" bIns="0" anchor="t">
            <a:spAutoFit/>
          </a:bodyPr>
          <a:lstStyle/>
          <a:p>
            <a:pPr algn="l">
              <a:lnSpc>
                <a:spcPct val="118000"/>
              </a:lnSpc>
              <a:spcBef>
                <a:spcPts val="0"/>
              </a:spcBef>
              <a:spcAft>
                <a:spcPts val="0"/>
              </a:spcAft>
            </a:pPr>
            <a:r>
              <a:rPr sz="1050" b="0" i="0">
                <a:solidFill>
                  <a:srgbClr val="605E5C"/>
                </a:solidFill>
                <a:latin typeface="Segoe UI"/>
              </a:rPr>
              <a:t>The harness writes spans, logs and metrics over OTLP</a:t>
            </a:r>
          </a:p>
        </p:txBody>
      </p:sp>
      <p:sp>
        <p:nvSpPr>
          <p:cNvPr id="15" name="Right Arrow 14"/>
          <p:cNvSpPr/>
          <p:nvPr/>
        </p:nvSpPr>
        <p:spPr>
          <a:xfrm>
            <a:off x="3259836" y="2157984"/>
            <a:ext cx="128016" cy="164592"/>
          </a:xfrm>
          <a:prstGeom prst="rightArrow">
            <a:avLst/>
          </a:prstGeom>
          <a:solidFill>
            <a:srgbClr val="C8C6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3429000" y="1883664"/>
            <a:ext cx="2560320" cy="969264"/>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3429000" y="1883664"/>
            <a:ext cx="2560320" cy="4572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3593592" y="2066544"/>
            <a:ext cx="310896" cy="310896"/>
          </a:xfrm>
          <a:prstGeom prst="roundRect">
            <a:avLst>
              <a:gd name="adj" fmla="val 50000"/>
            </a:avLst>
          </a:prstGeom>
          <a:solidFill>
            <a:srgbClr val="0078D4"/>
          </a:solidFill>
          <a:ln w="127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100" b="1" i="0">
                <a:solidFill>
                  <a:srgbClr val="FFFFFF"/>
                </a:solidFill>
                <a:latin typeface="Segoe UI"/>
              </a:rPr>
              <a:t>2</a:t>
            </a:r>
          </a:p>
        </p:txBody>
      </p:sp>
      <p:sp>
        <p:nvSpPr>
          <p:cNvPr id="19" name="TextBox 18"/>
          <p:cNvSpPr txBox="1"/>
          <p:nvPr/>
        </p:nvSpPr>
        <p:spPr>
          <a:xfrm>
            <a:off x="3995928" y="2066544"/>
            <a:ext cx="1810512" cy="329184"/>
          </a:xfrm>
          <a:prstGeom prst="rect">
            <a:avLst/>
          </a:prstGeom>
          <a:noFill/>
        </p:spPr>
        <p:txBody>
          <a:bodyPr wrap="square" lIns="0" rIns="0" tIns="0" bIns="0" anchor="t">
            <a:spAutoFit/>
          </a:bodyPr>
          <a:lstStyle/>
          <a:p>
            <a:pPr algn="l">
              <a:spcBef>
                <a:spcPts val="0"/>
              </a:spcBef>
              <a:spcAft>
                <a:spcPts val="0"/>
              </a:spcAft>
            </a:pPr>
            <a:r>
              <a:rPr sz="1250" b="1" i="0">
                <a:solidFill>
                  <a:srgbClr val="14243E"/>
                </a:solidFill>
                <a:latin typeface="Segoe UI"/>
              </a:rPr>
              <a:t>Group into traces</a:t>
            </a:r>
          </a:p>
        </p:txBody>
      </p:sp>
      <p:sp>
        <p:nvSpPr>
          <p:cNvPr id="20" name="TextBox 19"/>
          <p:cNvSpPr txBox="1"/>
          <p:nvPr/>
        </p:nvSpPr>
        <p:spPr>
          <a:xfrm>
            <a:off x="3593592" y="2450592"/>
            <a:ext cx="2231136" cy="310896"/>
          </a:xfrm>
          <a:prstGeom prst="rect">
            <a:avLst/>
          </a:prstGeom>
          <a:noFill/>
        </p:spPr>
        <p:txBody>
          <a:bodyPr wrap="square" lIns="0" rIns="0" tIns="0" bIns="0" anchor="t">
            <a:spAutoFit/>
          </a:bodyPr>
          <a:lstStyle/>
          <a:p>
            <a:pPr algn="l">
              <a:lnSpc>
                <a:spcPct val="118000"/>
              </a:lnSpc>
              <a:spcBef>
                <a:spcPts val="0"/>
              </a:spcBef>
              <a:spcAft>
                <a:spcPts val="0"/>
              </a:spcAft>
            </a:pPr>
            <a:r>
              <a:rPr sz="1050" b="0" i="0">
                <a:solidFill>
                  <a:srgbClr val="605E5C"/>
                </a:solidFill>
                <a:latin typeface="Segoe UI"/>
              </a:rPr>
              <a:t>Spans that share a trace id become one trace</a:t>
            </a:r>
          </a:p>
        </p:txBody>
      </p:sp>
      <p:sp>
        <p:nvSpPr>
          <p:cNvPr id="21" name="Right Arrow 20"/>
          <p:cNvSpPr/>
          <p:nvPr/>
        </p:nvSpPr>
        <p:spPr>
          <a:xfrm>
            <a:off x="6030468" y="2157984"/>
            <a:ext cx="128016" cy="164592"/>
          </a:xfrm>
          <a:prstGeom prst="rightArrow">
            <a:avLst/>
          </a:prstGeom>
          <a:solidFill>
            <a:srgbClr val="C8C6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199632" y="1883664"/>
            <a:ext cx="2560320" cy="969264"/>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6199632" y="1883664"/>
            <a:ext cx="2560320" cy="4572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6364224" y="2066544"/>
            <a:ext cx="310896" cy="310896"/>
          </a:xfrm>
          <a:prstGeom prst="roundRect">
            <a:avLst>
              <a:gd name="adj" fmla="val 50000"/>
            </a:avLst>
          </a:prstGeom>
          <a:solidFill>
            <a:srgbClr val="0078D4"/>
          </a:solidFill>
          <a:ln w="127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100" b="1" i="0">
                <a:solidFill>
                  <a:srgbClr val="FFFFFF"/>
                </a:solidFill>
                <a:latin typeface="Segoe UI"/>
              </a:rPr>
              <a:t>3</a:t>
            </a:r>
          </a:p>
        </p:txBody>
      </p:sp>
      <p:sp>
        <p:nvSpPr>
          <p:cNvPr id="25" name="TextBox 24"/>
          <p:cNvSpPr txBox="1"/>
          <p:nvPr/>
        </p:nvSpPr>
        <p:spPr>
          <a:xfrm>
            <a:off x="6766560" y="2066544"/>
            <a:ext cx="1810512" cy="329184"/>
          </a:xfrm>
          <a:prstGeom prst="rect">
            <a:avLst/>
          </a:prstGeom>
          <a:noFill/>
        </p:spPr>
        <p:txBody>
          <a:bodyPr wrap="square" lIns="0" rIns="0" tIns="0" bIns="0" anchor="t">
            <a:spAutoFit/>
          </a:bodyPr>
          <a:lstStyle/>
          <a:p>
            <a:pPr algn="l">
              <a:spcBef>
                <a:spcPts val="0"/>
              </a:spcBef>
              <a:spcAft>
                <a:spcPts val="0"/>
              </a:spcAft>
            </a:pPr>
            <a:r>
              <a:rPr sz="1250" b="1" i="0">
                <a:solidFill>
                  <a:srgbClr val="14243E"/>
                </a:solidFill>
                <a:latin typeface="Segoe UI"/>
              </a:rPr>
              <a:t>Identify the session</a:t>
            </a:r>
          </a:p>
        </p:txBody>
      </p:sp>
      <p:sp>
        <p:nvSpPr>
          <p:cNvPr id="26" name="TextBox 25"/>
          <p:cNvSpPr txBox="1"/>
          <p:nvPr/>
        </p:nvSpPr>
        <p:spPr>
          <a:xfrm>
            <a:off x="6364224" y="2450592"/>
            <a:ext cx="2231136" cy="310896"/>
          </a:xfrm>
          <a:prstGeom prst="rect">
            <a:avLst/>
          </a:prstGeom>
          <a:noFill/>
        </p:spPr>
        <p:txBody>
          <a:bodyPr wrap="square" lIns="0" rIns="0" tIns="0" bIns="0" anchor="t">
            <a:spAutoFit/>
          </a:bodyPr>
          <a:lstStyle/>
          <a:p>
            <a:pPr algn="l">
              <a:lnSpc>
                <a:spcPct val="118000"/>
              </a:lnSpc>
              <a:spcBef>
                <a:spcPts val="0"/>
              </a:spcBef>
              <a:spcAft>
                <a:spcPts val="0"/>
              </a:spcAft>
            </a:pPr>
            <a:r>
              <a:rPr sz="1050" b="0" i="0">
                <a:solidFill>
                  <a:srgbClr val="605E5C"/>
                </a:solidFill>
                <a:latin typeface="Segoe UI"/>
              </a:rPr>
              <a:t>Which conversation does this trace belong to?</a:t>
            </a:r>
          </a:p>
        </p:txBody>
      </p:sp>
      <p:sp>
        <p:nvSpPr>
          <p:cNvPr id="27" name="Right Arrow 26"/>
          <p:cNvSpPr/>
          <p:nvPr/>
        </p:nvSpPr>
        <p:spPr>
          <a:xfrm>
            <a:off x="8801100" y="2157984"/>
            <a:ext cx="128016" cy="164592"/>
          </a:xfrm>
          <a:prstGeom prst="rightArrow">
            <a:avLst/>
          </a:prstGeom>
          <a:solidFill>
            <a:srgbClr val="C8C6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8970264" y="1883664"/>
            <a:ext cx="2560320" cy="969264"/>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8970264" y="1883664"/>
            <a:ext cx="2560320" cy="4572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9134856" y="2066544"/>
            <a:ext cx="310896" cy="310896"/>
          </a:xfrm>
          <a:prstGeom prst="roundRect">
            <a:avLst>
              <a:gd name="adj" fmla="val 50000"/>
            </a:avLst>
          </a:prstGeom>
          <a:solidFill>
            <a:srgbClr val="0078D4"/>
          </a:solidFill>
          <a:ln w="127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100" b="1" i="0">
                <a:solidFill>
                  <a:srgbClr val="FFFFFF"/>
                </a:solidFill>
                <a:latin typeface="Segoe UI"/>
              </a:rPr>
              <a:t>4</a:t>
            </a:r>
          </a:p>
        </p:txBody>
      </p:sp>
      <p:sp>
        <p:nvSpPr>
          <p:cNvPr id="31" name="TextBox 30"/>
          <p:cNvSpPr txBox="1"/>
          <p:nvPr/>
        </p:nvSpPr>
        <p:spPr>
          <a:xfrm>
            <a:off x="9537192" y="2066544"/>
            <a:ext cx="1810512" cy="329184"/>
          </a:xfrm>
          <a:prstGeom prst="rect">
            <a:avLst/>
          </a:prstGeom>
          <a:noFill/>
        </p:spPr>
        <p:txBody>
          <a:bodyPr wrap="square" lIns="0" rIns="0" tIns="0" bIns="0" anchor="t">
            <a:spAutoFit/>
          </a:bodyPr>
          <a:lstStyle/>
          <a:p>
            <a:pPr algn="l">
              <a:spcBef>
                <a:spcPts val="0"/>
              </a:spcBef>
              <a:spcAft>
                <a:spcPts val="0"/>
              </a:spcAft>
            </a:pPr>
            <a:r>
              <a:rPr sz="1250" b="1" i="0">
                <a:solidFill>
                  <a:srgbClr val="14243E"/>
                </a:solidFill>
                <a:latin typeface="Segoe UI"/>
              </a:rPr>
              <a:t>Split into turns</a:t>
            </a:r>
          </a:p>
        </p:txBody>
      </p:sp>
      <p:sp>
        <p:nvSpPr>
          <p:cNvPr id="32" name="TextBox 31"/>
          <p:cNvSpPr txBox="1"/>
          <p:nvPr/>
        </p:nvSpPr>
        <p:spPr>
          <a:xfrm>
            <a:off x="9134856" y="2450592"/>
            <a:ext cx="2231136" cy="310896"/>
          </a:xfrm>
          <a:prstGeom prst="rect">
            <a:avLst/>
          </a:prstGeom>
          <a:noFill/>
        </p:spPr>
        <p:txBody>
          <a:bodyPr wrap="square" lIns="0" rIns="0" tIns="0" bIns="0" anchor="t">
            <a:spAutoFit/>
          </a:bodyPr>
          <a:lstStyle/>
          <a:p>
            <a:pPr algn="l">
              <a:lnSpc>
                <a:spcPct val="118000"/>
              </a:lnSpc>
              <a:spcBef>
                <a:spcPts val="0"/>
              </a:spcBef>
              <a:spcAft>
                <a:spcPts val="0"/>
              </a:spcAft>
            </a:pPr>
            <a:r>
              <a:rPr sz="1050" b="0" i="0">
                <a:solidFill>
                  <a:srgbClr val="605E5C"/>
                </a:solidFill>
                <a:latin typeface="Segoe UI"/>
              </a:rPr>
              <a:t>One user request and the model calls it triggered</a:t>
            </a:r>
          </a:p>
        </p:txBody>
      </p:sp>
      <p:sp>
        <p:nvSpPr>
          <p:cNvPr id="33" name="Rounded Rectangle 32"/>
          <p:cNvSpPr/>
          <p:nvPr/>
        </p:nvSpPr>
        <p:spPr>
          <a:xfrm>
            <a:off x="658368" y="3273552"/>
            <a:ext cx="2560320" cy="969264"/>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658368" y="3273552"/>
            <a:ext cx="2560320" cy="4572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822960" y="3456432"/>
            <a:ext cx="310896" cy="310896"/>
          </a:xfrm>
          <a:prstGeom prst="roundRect">
            <a:avLst>
              <a:gd name="adj" fmla="val 50000"/>
            </a:avLst>
          </a:prstGeom>
          <a:solidFill>
            <a:srgbClr val="0078D4"/>
          </a:solidFill>
          <a:ln w="127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100" b="1" i="0">
                <a:solidFill>
                  <a:srgbClr val="FFFFFF"/>
                </a:solidFill>
                <a:latin typeface="Segoe UI"/>
              </a:rPr>
              <a:t>5</a:t>
            </a:r>
          </a:p>
        </p:txBody>
      </p:sp>
      <p:sp>
        <p:nvSpPr>
          <p:cNvPr id="36" name="TextBox 35"/>
          <p:cNvSpPr txBox="1"/>
          <p:nvPr/>
        </p:nvSpPr>
        <p:spPr>
          <a:xfrm>
            <a:off x="1225296" y="3456432"/>
            <a:ext cx="1810512" cy="329184"/>
          </a:xfrm>
          <a:prstGeom prst="rect">
            <a:avLst/>
          </a:prstGeom>
          <a:noFill/>
        </p:spPr>
        <p:txBody>
          <a:bodyPr wrap="square" lIns="0" rIns="0" tIns="0" bIns="0" anchor="t">
            <a:spAutoFit/>
          </a:bodyPr>
          <a:lstStyle/>
          <a:p>
            <a:pPr algn="l">
              <a:spcBef>
                <a:spcPts val="0"/>
              </a:spcBef>
              <a:spcAft>
                <a:spcPts val="0"/>
              </a:spcAft>
            </a:pPr>
            <a:r>
              <a:rPr sz="1250" b="1" i="0">
                <a:solidFill>
                  <a:srgbClr val="14243E"/>
                </a:solidFill>
                <a:latin typeface="Segoe UI"/>
              </a:rPr>
              <a:t>Count the work</a:t>
            </a:r>
          </a:p>
        </p:txBody>
      </p:sp>
      <p:sp>
        <p:nvSpPr>
          <p:cNvPr id="37" name="TextBox 36"/>
          <p:cNvSpPr txBox="1"/>
          <p:nvPr/>
        </p:nvSpPr>
        <p:spPr>
          <a:xfrm>
            <a:off x="822960" y="3840480"/>
            <a:ext cx="2231136" cy="310896"/>
          </a:xfrm>
          <a:prstGeom prst="rect">
            <a:avLst/>
          </a:prstGeom>
          <a:noFill/>
        </p:spPr>
        <p:txBody>
          <a:bodyPr wrap="square" lIns="0" rIns="0" tIns="0" bIns="0" anchor="t">
            <a:spAutoFit/>
          </a:bodyPr>
          <a:lstStyle/>
          <a:p>
            <a:pPr algn="l">
              <a:lnSpc>
                <a:spcPct val="118000"/>
              </a:lnSpc>
              <a:spcBef>
                <a:spcPts val="0"/>
              </a:spcBef>
              <a:spcAft>
                <a:spcPts val="0"/>
              </a:spcAft>
            </a:pPr>
            <a:r>
              <a:rPr sz="1050" b="0" i="0">
                <a:solidFill>
                  <a:srgbClr val="605E5C"/>
                </a:solidFill>
                <a:latin typeface="Segoe UI"/>
              </a:rPr>
              <a:t>How many model calls, how many tool calls</a:t>
            </a:r>
          </a:p>
        </p:txBody>
      </p:sp>
      <p:sp>
        <p:nvSpPr>
          <p:cNvPr id="38" name="Right Arrow 37"/>
          <p:cNvSpPr/>
          <p:nvPr/>
        </p:nvSpPr>
        <p:spPr>
          <a:xfrm>
            <a:off x="3259836" y="3547872"/>
            <a:ext cx="128016" cy="164592"/>
          </a:xfrm>
          <a:prstGeom prst="rightArrow">
            <a:avLst/>
          </a:prstGeom>
          <a:solidFill>
            <a:srgbClr val="C8C6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ounded Rectangle 38"/>
          <p:cNvSpPr/>
          <p:nvPr/>
        </p:nvSpPr>
        <p:spPr>
          <a:xfrm>
            <a:off x="3429000" y="3273552"/>
            <a:ext cx="2560320" cy="969264"/>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3429000" y="3273552"/>
            <a:ext cx="2560320" cy="4572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ounded Rectangle 40"/>
          <p:cNvSpPr/>
          <p:nvPr/>
        </p:nvSpPr>
        <p:spPr>
          <a:xfrm>
            <a:off x="3593592" y="3456432"/>
            <a:ext cx="310896" cy="310896"/>
          </a:xfrm>
          <a:prstGeom prst="roundRect">
            <a:avLst>
              <a:gd name="adj" fmla="val 50000"/>
            </a:avLst>
          </a:prstGeom>
          <a:solidFill>
            <a:srgbClr val="0078D4"/>
          </a:solidFill>
          <a:ln w="127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100" b="1" i="0">
                <a:solidFill>
                  <a:srgbClr val="FFFFFF"/>
                </a:solidFill>
                <a:latin typeface="Segoe UI"/>
              </a:rPr>
              <a:t>6</a:t>
            </a:r>
          </a:p>
        </p:txBody>
      </p:sp>
      <p:sp>
        <p:nvSpPr>
          <p:cNvPr id="42" name="TextBox 41"/>
          <p:cNvSpPr txBox="1"/>
          <p:nvPr/>
        </p:nvSpPr>
        <p:spPr>
          <a:xfrm>
            <a:off x="3995928" y="3456432"/>
            <a:ext cx="1810512" cy="329184"/>
          </a:xfrm>
          <a:prstGeom prst="rect">
            <a:avLst/>
          </a:prstGeom>
          <a:noFill/>
        </p:spPr>
        <p:txBody>
          <a:bodyPr wrap="square" lIns="0" rIns="0" tIns="0" bIns="0" anchor="t">
            <a:spAutoFit/>
          </a:bodyPr>
          <a:lstStyle/>
          <a:p>
            <a:pPr algn="l">
              <a:spcBef>
                <a:spcPts val="0"/>
              </a:spcBef>
              <a:spcAft>
                <a:spcPts val="0"/>
              </a:spcAft>
            </a:pPr>
            <a:r>
              <a:rPr sz="1250" b="1" i="0">
                <a:solidFill>
                  <a:srgbClr val="14243E"/>
                </a:solidFill>
                <a:latin typeface="Segoe UI"/>
              </a:rPr>
              <a:t>Reconcile tokens</a:t>
            </a:r>
          </a:p>
        </p:txBody>
      </p:sp>
      <p:sp>
        <p:nvSpPr>
          <p:cNvPr id="43" name="TextBox 42"/>
          <p:cNvSpPr txBox="1"/>
          <p:nvPr/>
        </p:nvSpPr>
        <p:spPr>
          <a:xfrm>
            <a:off x="3593592" y="3840480"/>
            <a:ext cx="2231136" cy="310896"/>
          </a:xfrm>
          <a:prstGeom prst="rect">
            <a:avLst/>
          </a:prstGeom>
          <a:noFill/>
        </p:spPr>
        <p:txBody>
          <a:bodyPr wrap="square" lIns="0" rIns="0" tIns="0" bIns="0" anchor="t">
            <a:spAutoFit/>
          </a:bodyPr>
          <a:lstStyle/>
          <a:p>
            <a:pPr algn="l">
              <a:lnSpc>
                <a:spcPct val="118000"/>
              </a:lnSpc>
              <a:spcBef>
                <a:spcPts val="0"/>
              </a:spcBef>
              <a:spcAft>
                <a:spcPts val="0"/>
              </a:spcAft>
            </a:pPr>
            <a:r>
              <a:rPr sz="1050" b="0" i="0">
                <a:solidFill>
                  <a:srgbClr val="605E5C"/>
                </a:solidFill>
                <a:latin typeface="Segoe UI"/>
              </a:rPr>
              <a:t>Input, output, cache read, cache creation</a:t>
            </a:r>
          </a:p>
        </p:txBody>
      </p:sp>
      <p:sp>
        <p:nvSpPr>
          <p:cNvPr id="44" name="Right Arrow 43"/>
          <p:cNvSpPr/>
          <p:nvPr/>
        </p:nvSpPr>
        <p:spPr>
          <a:xfrm>
            <a:off x="6030468" y="3547872"/>
            <a:ext cx="128016" cy="164592"/>
          </a:xfrm>
          <a:prstGeom prst="rightArrow">
            <a:avLst/>
          </a:prstGeom>
          <a:solidFill>
            <a:srgbClr val="C8C6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ounded Rectangle 44"/>
          <p:cNvSpPr/>
          <p:nvPr/>
        </p:nvSpPr>
        <p:spPr>
          <a:xfrm>
            <a:off x="6199632" y="3273552"/>
            <a:ext cx="2560320" cy="969264"/>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6199632" y="3273552"/>
            <a:ext cx="2560320" cy="4572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ounded Rectangle 46"/>
          <p:cNvSpPr/>
          <p:nvPr/>
        </p:nvSpPr>
        <p:spPr>
          <a:xfrm>
            <a:off x="6364224" y="3456432"/>
            <a:ext cx="310896" cy="310896"/>
          </a:xfrm>
          <a:prstGeom prst="roundRect">
            <a:avLst>
              <a:gd name="adj" fmla="val 50000"/>
            </a:avLst>
          </a:prstGeom>
          <a:solidFill>
            <a:srgbClr val="0078D4"/>
          </a:solidFill>
          <a:ln w="127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100" b="1" i="0">
                <a:solidFill>
                  <a:srgbClr val="FFFFFF"/>
                </a:solidFill>
                <a:latin typeface="Segoe UI"/>
              </a:rPr>
              <a:t>7</a:t>
            </a:r>
          </a:p>
        </p:txBody>
      </p:sp>
      <p:sp>
        <p:nvSpPr>
          <p:cNvPr id="48" name="TextBox 47"/>
          <p:cNvSpPr txBox="1"/>
          <p:nvPr/>
        </p:nvSpPr>
        <p:spPr>
          <a:xfrm>
            <a:off x="6766560" y="3456432"/>
            <a:ext cx="1810512" cy="329184"/>
          </a:xfrm>
          <a:prstGeom prst="rect">
            <a:avLst/>
          </a:prstGeom>
          <a:noFill/>
        </p:spPr>
        <p:txBody>
          <a:bodyPr wrap="square" lIns="0" rIns="0" tIns="0" bIns="0" anchor="t">
            <a:spAutoFit/>
          </a:bodyPr>
          <a:lstStyle/>
          <a:p>
            <a:pPr algn="l">
              <a:spcBef>
                <a:spcPts val="0"/>
              </a:spcBef>
              <a:spcAft>
                <a:spcPts val="0"/>
              </a:spcAft>
            </a:pPr>
            <a:r>
              <a:rPr sz="1250" b="1" i="0">
                <a:solidFill>
                  <a:srgbClr val="14243E"/>
                </a:solidFill>
                <a:latin typeface="Segoe UI"/>
              </a:rPr>
              <a:t>Rebuild the transcript</a:t>
            </a:r>
          </a:p>
        </p:txBody>
      </p:sp>
      <p:sp>
        <p:nvSpPr>
          <p:cNvPr id="49" name="TextBox 48"/>
          <p:cNvSpPr txBox="1"/>
          <p:nvPr/>
        </p:nvSpPr>
        <p:spPr>
          <a:xfrm>
            <a:off x="6364224" y="3840480"/>
            <a:ext cx="2231136" cy="310896"/>
          </a:xfrm>
          <a:prstGeom prst="rect">
            <a:avLst/>
          </a:prstGeom>
          <a:noFill/>
        </p:spPr>
        <p:txBody>
          <a:bodyPr wrap="square" lIns="0" rIns="0" tIns="0" bIns="0" anchor="t">
            <a:spAutoFit/>
          </a:bodyPr>
          <a:lstStyle/>
          <a:p>
            <a:pPr algn="l">
              <a:lnSpc>
                <a:spcPct val="118000"/>
              </a:lnSpc>
              <a:spcBef>
                <a:spcPts val="0"/>
              </a:spcBef>
              <a:spcAft>
                <a:spcPts val="0"/>
              </a:spcAft>
            </a:pPr>
            <a:r>
              <a:rPr sz="1050" b="0" i="0">
                <a:solidFill>
                  <a:srgbClr val="605E5C"/>
                </a:solidFill>
                <a:latin typeface="Segoe UI"/>
              </a:rPr>
              <a:t>What the person and the model actually said</a:t>
            </a:r>
          </a:p>
        </p:txBody>
      </p:sp>
      <p:sp>
        <p:nvSpPr>
          <p:cNvPr id="50" name="Rounded Rectangle 49"/>
          <p:cNvSpPr/>
          <p:nvPr/>
        </p:nvSpPr>
        <p:spPr>
          <a:xfrm>
            <a:off x="8970264" y="3273552"/>
            <a:ext cx="2560320" cy="969264"/>
          </a:xfrm>
          <a:prstGeom prst="roundRect">
            <a:avLst>
              <a:gd name="adj" fmla="val 4500"/>
            </a:avLst>
          </a:prstGeom>
          <a:solidFill>
            <a:srgbClr val="14243E"/>
          </a:solidFill>
          <a:ln w="12700">
            <a:solidFill>
              <a:srgbClr val="14243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spcBef>
                <a:spcPts val="0"/>
              </a:spcBef>
              <a:spcAft>
                <a:spcPts val="500"/>
              </a:spcAft>
            </a:pPr>
            <a:r>
              <a:rPr sz="1400" b="1" i="0">
                <a:solidFill>
                  <a:srgbClr val="FFFFFF"/>
                </a:solidFill>
                <a:latin typeface="Segoe UI"/>
              </a:rPr>
              <a:t>A readable session</a:t>
            </a:r>
          </a:p>
          <a:p>
            <a:pPr algn="ctr">
              <a:lnSpc>
                <a:spcPct val="120000"/>
              </a:lnSpc>
              <a:spcBef>
                <a:spcPts val="0"/>
              </a:spcBef>
              <a:spcAft>
                <a:spcPts val="0"/>
              </a:spcAft>
            </a:pPr>
            <a:r>
              <a:rPr sz="1050" b="0" i="0">
                <a:solidFill>
                  <a:srgbClr val="50E6FF"/>
                </a:solidFill>
                <a:latin typeface="Segoe UI"/>
              </a:rPr>
              <a:t>outcome · timeline · tokens · transcript</a:t>
            </a:r>
          </a:p>
        </p:txBody>
      </p:sp>
      <p:sp>
        <p:nvSpPr>
          <p:cNvPr id="51" name="Rounded Rectangle 50"/>
          <p:cNvSpPr/>
          <p:nvPr/>
        </p:nvSpPr>
        <p:spPr>
          <a:xfrm>
            <a:off x="658368" y="4800600"/>
            <a:ext cx="10872216" cy="786384"/>
          </a:xfrm>
          <a:prstGeom prst="roundRect">
            <a:avLst>
              <a:gd name="adj" fmla="val 4500"/>
            </a:avLst>
          </a:prstGeom>
          <a:solidFill>
            <a:srgbClr val="F0F3F9"/>
          </a:solidFill>
          <a:ln w="12700">
            <a:solidFill>
              <a:srgbClr val="F0F3F9"/>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lnSpc>
                <a:spcPct val="125000"/>
              </a:lnSpc>
              <a:spcBef>
                <a:spcPts val="0"/>
              </a:spcBef>
              <a:spcAft>
                <a:spcPts val="0"/>
              </a:spcAft>
            </a:pPr>
            <a:r>
              <a:rPr sz="1350" b="1" i="0">
                <a:solidFill>
                  <a:srgbClr val="0078D4"/>
                </a:solidFill>
                <a:latin typeface="Segoe UI"/>
              </a:rPr>
              <a:t>Every box is a decision, not a lookup.  </a:t>
            </a:r>
            <a:r>
              <a:rPr sz="1350" b="0" i="0">
                <a:solidFill>
                  <a:srgbClr val="14243E"/>
                </a:solidFill>
                <a:latin typeface="Segoe UI"/>
              </a:rPr>
              <a:t>The OpenTelemetry GenAI conventions describe how to write this data. Nothing describes how to read it back as a conversation.</a:t>
            </a:r>
          </a:p>
        </p:txBody>
      </p:sp>
      <p:sp>
        <p:nvSpPr>
          <p:cNvPr id="52" name="TextBox 51"/>
          <p:cNvSpPr txBox="1"/>
          <p:nvPr/>
        </p:nvSpPr>
        <p:spPr>
          <a:xfrm>
            <a:off x="658368" y="6382512"/>
            <a:ext cx="8686800" cy="237744"/>
          </a:xfrm>
          <a:prstGeom prst="rect">
            <a:avLst/>
          </a:prstGeom>
          <a:noFill/>
        </p:spPr>
        <p:txBody>
          <a:bodyPr wrap="square" lIns="0" rIns="0" tIns="0" bIns="0" anchor="t">
            <a:spAutoFit/>
          </a:bodyPr>
          <a:lstStyle/>
          <a:p>
            <a:pPr algn="l">
              <a:spcBef>
                <a:spcPts val="0"/>
              </a:spcBef>
              <a:spcAft>
                <a:spcPts val="0"/>
              </a:spcAft>
            </a:pPr>
            <a:r>
              <a:rPr sz="900" b="0" i="0">
                <a:solidFill>
                  <a:srgbClr val="8A8886"/>
                </a:solidFill>
                <a:latin typeface="Segoe UI"/>
              </a:rPr>
              <a:t>Microsoft  ·  Agent Insights</a:t>
            </a:r>
          </a:p>
        </p:txBody>
      </p:sp>
      <p:sp>
        <p:nvSpPr>
          <p:cNvPr id="53" name="TextBox 52"/>
          <p:cNvSpPr txBox="1"/>
          <p:nvPr/>
        </p:nvSpPr>
        <p:spPr>
          <a:xfrm>
            <a:off x="10835640" y="6382512"/>
            <a:ext cx="694944" cy="237744"/>
          </a:xfrm>
          <a:prstGeom prst="rect">
            <a:avLst/>
          </a:prstGeom>
          <a:noFill/>
        </p:spPr>
        <p:txBody>
          <a:bodyPr wrap="square" lIns="0" rIns="0" tIns="0" bIns="0" anchor="t">
            <a:spAutoFit/>
          </a:bodyPr>
          <a:lstStyle/>
          <a:p>
            <a:pPr algn="r">
              <a:spcBef>
                <a:spcPts val="0"/>
              </a:spcBef>
              <a:spcAft>
                <a:spcPts val="0"/>
              </a:spcAft>
            </a:pPr>
            <a:r>
              <a:rPr sz="900" b="0" i="0">
                <a:solidFill>
                  <a:srgbClr val="8A8886"/>
                </a:solidFill>
                <a:latin typeface="Segoe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47925" cy="685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47923" y="0"/>
            <a:ext cx="3047925" cy="68580"/>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6095847" y="0"/>
            <a:ext cx="3047925" cy="6858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143771" y="0"/>
            <a:ext cx="3047925" cy="68580"/>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384048"/>
            <a:ext cx="10872216" cy="237744"/>
          </a:xfrm>
          <a:prstGeom prst="rect">
            <a:avLst/>
          </a:prstGeom>
          <a:noFill/>
        </p:spPr>
        <p:txBody>
          <a:bodyPr wrap="square" lIns="0" rIns="0" tIns="0" bIns="0" anchor="t">
            <a:spAutoFit/>
          </a:bodyPr>
          <a:lstStyle/>
          <a:p>
            <a:pPr algn="l">
              <a:spcBef>
                <a:spcPts val="0"/>
              </a:spcBef>
              <a:spcAft>
                <a:spcPts val="0"/>
              </a:spcAft>
            </a:pPr>
            <a:r>
              <a:rPr sz="1050" b="1" i="0">
                <a:solidFill>
                  <a:srgbClr val="0078D4"/>
                </a:solidFill>
                <a:latin typeface="Segoe UI Semibold"/>
              </a:rPr>
              <a:t>03  APPROACH · THE SHAPE OF THE WORK</a:t>
            </a:r>
          </a:p>
        </p:txBody>
      </p:sp>
      <p:sp>
        <p:nvSpPr>
          <p:cNvPr id="7" name="TextBox 6"/>
          <p:cNvSpPr txBox="1"/>
          <p:nvPr/>
        </p:nvSpPr>
        <p:spPr>
          <a:xfrm>
            <a:off x="658368" y="658368"/>
            <a:ext cx="10872216" cy="502920"/>
          </a:xfrm>
          <a:prstGeom prst="rect">
            <a:avLst/>
          </a:prstGeom>
          <a:noFill/>
        </p:spPr>
        <p:txBody>
          <a:bodyPr wrap="square" lIns="0" rIns="0" tIns="0" bIns="0" anchor="t">
            <a:spAutoFit/>
          </a:bodyPr>
          <a:lstStyle/>
          <a:p>
            <a:pPr algn="l">
              <a:spcBef>
                <a:spcPts val="0"/>
              </a:spcBef>
              <a:spcAft>
                <a:spcPts val="0"/>
              </a:spcAft>
            </a:pPr>
            <a:r>
              <a:rPr sz="2900" b="0" i="0">
                <a:solidFill>
                  <a:srgbClr val="14243E"/>
                </a:solidFill>
                <a:latin typeface="Segoe UI Light"/>
              </a:rPr>
              <a:t>…and every one of them breaks</a:t>
            </a:r>
          </a:p>
        </p:txBody>
      </p:sp>
      <p:sp>
        <p:nvSpPr>
          <p:cNvPr id="8" name="TextBox 7"/>
          <p:cNvSpPr txBox="1"/>
          <p:nvPr/>
        </p:nvSpPr>
        <p:spPr>
          <a:xfrm>
            <a:off x="658368" y="1207008"/>
            <a:ext cx="10872216" cy="329184"/>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605E5C"/>
                </a:solidFill>
                <a:latin typeface="Segoe UI"/>
              </a:rPr>
              <a:t>Same seven stages. This is where the three harnesses disagree with each other.</a:t>
            </a:r>
          </a:p>
        </p:txBody>
      </p:sp>
      <p:sp>
        <p:nvSpPr>
          <p:cNvPr id="9" name="Rectangle 8"/>
          <p:cNvSpPr/>
          <p:nvPr/>
        </p:nvSpPr>
        <p:spPr>
          <a:xfrm>
            <a:off x="658368" y="1591056"/>
            <a:ext cx="960120" cy="320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58368" y="1883664"/>
            <a:ext cx="2560320" cy="1225296"/>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58368" y="1883664"/>
            <a:ext cx="2560320" cy="45720"/>
          </a:xfrm>
          <a:prstGeom prst="rect">
            <a:avLst/>
          </a:prstGeom>
          <a:solidFill>
            <a:srgbClr val="D134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822960" y="2066544"/>
            <a:ext cx="310896" cy="310896"/>
          </a:xfrm>
          <a:prstGeom prst="roundRect">
            <a:avLst>
              <a:gd name="adj" fmla="val 50000"/>
            </a:avLst>
          </a:prstGeom>
          <a:solidFill>
            <a:srgbClr val="D13438"/>
          </a:solidFill>
          <a:ln w="12700">
            <a:solidFill>
              <a:srgbClr val="D1343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100" b="1" i="0">
                <a:solidFill>
                  <a:srgbClr val="FFFFFF"/>
                </a:solidFill>
                <a:latin typeface="Segoe UI"/>
              </a:rPr>
              <a:t>1</a:t>
            </a:r>
          </a:p>
        </p:txBody>
      </p:sp>
      <p:sp>
        <p:nvSpPr>
          <p:cNvPr id="13" name="TextBox 12"/>
          <p:cNvSpPr txBox="1"/>
          <p:nvPr/>
        </p:nvSpPr>
        <p:spPr>
          <a:xfrm>
            <a:off x="1225296" y="2066544"/>
            <a:ext cx="1810512" cy="329184"/>
          </a:xfrm>
          <a:prstGeom prst="rect">
            <a:avLst/>
          </a:prstGeom>
          <a:noFill/>
        </p:spPr>
        <p:txBody>
          <a:bodyPr wrap="square" lIns="0" rIns="0" tIns="0" bIns="0" anchor="t">
            <a:spAutoFit/>
          </a:bodyPr>
          <a:lstStyle/>
          <a:p>
            <a:pPr algn="l">
              <a:spcBef>
                <a:spcPts val="0"/>
              </a:spcBef>
              <a:spcAft>
                <a:spcPts val="0"/>
              </a:spcAft>
            </a:pPr>
            <a:r>
              <a:rPr sz="1250" b="1" i="0">
                <a:solidFill>
                  <a:srgbClr val="14243E"/>
                </a:solidFill>
                <a:latin typeface="Segoe UI"/>
              </a:rPr>
              <a:t>Emit</a:t>
            </a:r>
          </a:p>
        </p:txBody>
      </p:sp>
      <p:sp>
        <p:nvSpPr>
          <p:cNvPr id="14" name="TextBox 13"/>
          <p:cNvSpPr txBox="1"/>
          <p:nvPr/>
        </p:nvSpPr>
        <p:spPr>
          <a:xfrm>
            <a:off x="822960" y="2450592"/>
            <a:ext cx="2231136" cy="566928"/>
          </a:xfrm>
          <a:prstGeom prst="rect">
            <a:avLst/>
          </a:prstGeom>
          <a:noFill/>
        </p:spPr>
        <p:txBody>
          <a:bodyPr wrap="square" lIns="0" rIns="0" tIns="0" bIns="0" anchor="t">
            <a:spAutoFit/>
          </a:bodyPr>
          <a:lstStyle/>
          <a:p>
            <a:pPr algn="l">
              <a:lnSpc>
                <a:spcPct val="118000"/>
              </a:lnSpc>
              <a:spcBef>
                <a:spcPts val="0"/>
              </a:spcBef>
              <a:spcAft>
                <a:spcPts val="0"/>
              </a:spcAft>
            </a:pPr>
            <a:r>
              <a:rPr sz="950" b="0" i="0">
                <a:solidFill>
                  <a:srgbClr val="D13438"/>
                </a:solidFill>
                <a:latin typeface="Segoe UI"/>
              </a:rPr>
              <a:t>Codex strips assistant text; Claude splits the two halves of a conversation across two signals</a:t>
            </a:r>
          </a:p>
        </p:txBody>
      </p:sp>
      <p:sp>
        <p:nvSpPr>
          <p:cNvPr id="15" name="Right Arrow 14"/>
          <p:cNvSpPr/>
          <p:nvPr/>
        </p:nvSpPr>
        <p:spPr>
          <a:xfrm>
            <a:off x="3259836" y="2157984"/>
            <a:ext cx="128016" cy="164592"/>
          </a:xfrm>
          <a:prstGeom prst="rightArrow">
            <a:avLst/>
          </a:prstGeom>
          <a:solidFill>
            <a:srgbClr val="C8C6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3429000" y="1883664"/>
            <a:ext cx="2560320" cy="1225296"/>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3429000" y="1883664"/>
            <a:ext cx="2560320" cy="45720"/>
          </a:xfrm>
          <a:prstGeom prst="rect">
            <a:avLst/>
          </a:prstGeom>
          <a:solidFill>
            <a:srgbClr val="D134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3593592" y="2066544"/>
            <a:ext cx="310896" cy="310896"/>
          </a:xfrm>
          <a:prstGeom prst="roundRect">
            <a:avLst>
              <a:gd name="adj" fmla="val 50000"/>
            </a:avLst>
          </a:prstGeom>
          <a:solidFill>
            <a:srgbClr val="D13438"/>
          </a:solidFill>
          <a:ln w="12700">
            <a:solidFill>
              <a:srgbClr val="D1343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100" b="1" i="0">
                <a:solidFill>
                  <a:srgbClr val="FFFFFF"/>
                </a:solidFill>
                <a:latin typeface="Segoe UI"/>
              </a:rPr>
              <a:t>2</a:t>
            </a:r>
          </a:p>
        </p:txBody>
      </p:sp>
      <p:sp>
        <p:nvSpPr>
          <p:cNvPr id="19" name="TextBox 18"/>
          <p:cNvSpPr txBox="1"/>
          <p:nvPr/>
        </p:nvSpPr>
        <p:spPr>
          <a:xfrm>
            <a:off x="3995928" y="2066544"/>
            <a:ext cx="1810512" cy="329184"/>
          </a:xfrm>
          <a:prstGeom prst="rect">
            <a:avLst/>
          </a:prstGeom>
          <a:noFill/>
        </p:spPr>
        <p:txBody>
          <a:bodyPr wrap="square" lIns="0" rIns="0" tIns="0" bIns="0" anchor="t">
            <a:spAutoFit/>
          </a:bodyPr>
          <a:lstStyle/>
          <a:p>
            <a:pPr algn="l">
              <a:spcBef>
                <a:spcPts val="0"/>
              </a:spcBef>
              <a:spcAft>
                <a:spcPts val="0"/>
              </a:spcAft>
            </a:pPr>
            <a:r>
              <a:rPr sz="1250" b="1" i="0">
                <a:solidFill>
                  <a:srgbClr val="14243E"/>
                </a:solidFill>
                <a:latin typeface="Segoe UI"/>
              </a:rPr>
              <a:t>Group into traces</a:t>
            </a:r>
          </a:p>
        </p:txBody>
      </p:sp>
      <p:sp>
        <p:nvSpPr>
          <p:cNvPr id="20" name="TextBox 19"/>
          <p:cNvSpPr txBox="1"/>
          <p:nvPr/>
        </p:nvSpPr>
        <p:spPr>
          <a:xfrm>
            <a:off x="3593592" y="2450592"/>
            <a:ext cx="2231136" cy="566928"/>
          </a:xfrm>
          <a:prstGeom prst="rect">
            <a:avLst/>
          </a:prstGeom>
          <a:noFill/>
        </p:spPr>
        <p:txBody>
          <a:bodyPr wrap="square" lIns="0" rIns="0" tIns="0" bIns="0" anchor="t">
            <a:spAutoFit/>
          </a:bodyPr>
          <a:lstStyle/>
          <a:p>
            <a:pPr algn="l">
              <a:lnSpc>
                <a:spcPct val="118000"/>
              </a:lnSpc>
              <a:spcBef>
                <a:spcPts val="0"/>
              </a:spcBef>
              <a:spcAft>
                <a:spcPts val="0"/>
              </a:spcAft>
            </a:pPr>
            <a:r>
              <a:rPr sz="950" b="0" i="0">
                <a:solidFill>
                  <a:srgbClr val="D13438"/>
                </a:solidFill>
                <a:latin typeface="Segoe UI"/>
              </a:rPr>
              <a:t>The host anchors only the trace that started the thread</a:t>
            </a:r>
          </a:p>
        </p:txBody>
      </p:sp>
      <p:sp>
        <p:nvSpPr>
          <p:cNvPr id="21" name="Right Arrow 20"/>
          <p:cNvSpPr/>
          <p:nvPr/>
        </p:nvSpPr>
        <p:spPr>
          <a:xfrm>
            <a:off x="6030468" y="2157984"/>
            <a:ext cx="128016" cy="164592"/>
          </a:xfrm>
          <a:prstGeom prst="rightArrow">
            <a:avLst/>
          </a:prstGeom>
          <a:solidFill>
            <a:srgbClr val="C8C6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199632" y="1883664"/>
            <a:ext cx="2560320" cy="1225296"/>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6199632" y="1883664"/>
            <a:ext cx="2560320" cy="45720"/>
          </a:xfrm>
          <a:prstGeom prst="rect">
            <a:avLst/>
          </a:prstGeom>
          <a:solidFill>
            <a:srgbClr val="D134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6364224" y="2066544"/>
            <a:ext cx="310896" cy="310896"/>
          </a:xfrm>
          <a:prstGeom prst="roundRect">
            <a:avLst>
              <a:gd name="adj" fmla="val 50000"/>
            </a:avLst>
          </a:prstGeom>
          <a:solidFill>
            <a:srgbClr val="D13438"/>
          </a:solidFill>
          <a:ln w="12700">
            <a:solidFill>
              <a:srgbClr val="D1343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100" b="1" i="0">
                <a:solidFill>
                  <a:srgbClr val="FFFFFF"/>
                </a:solidFill>
                <a:latin typeface="Segoe UI"/>
              </a:rPr>
              <a:t>3</a:t>
            </a:r>
          </a:p>
        </p:txBody>
      </p:sp>
      <p:sp>
        <p:nvSpPr>
          <p:cNvPr id="25" name="TextBox 24"/>
          <p:cNvSpPr txBox="1"/>
          <p:nvPr/>
        </p:nvSpPr>
        <p:spPr>
          <a:xfrm>
            <a:off x="6766560" y="2066544"/>
            <a:ext cx="1810512" cy="329184"/>
          </a:xfrm>
          <a:prstGeom prst="rect">
            <a:avLst/>
          </a:prstGeom>
          <a:noFill/>
        </p:spPr>
        <p:txBody>
          <a:bodyPr wrap="square" lIns="0" rIns="0" tIns="0" bIns="0" anchor="t">
            <a:spAutoFit/>
          </a:bodyPr>
          <a:lstStyle/>
          <a:p>
            <a:pPr algn="l">
              <a:spcBef>
                <a:spcPts val="0"/>
              </a:spcBef>
              <a:spcAft>
                <a:spcPts val="0"/>
              </a:spcAft>
            </a:pPr>
            <a:r>
              <a:rPr sz="1250" b="1" i="0">
                <a:solidFill>
                  <a:srgbClr val="14243E"/>
                </a:solidFill>
                <a:latin typeface="Segoe UI"/>
              </a:rPr>
              <a:t>Identify the session</a:t>
            </a:r>
          </a:p>
        </p:txBody>
      </p:sp>
      <p:sp>
        <p:nvSpPr>
          <p:cNvPr id="26" name="TextBox 25"/>
          <p:cNvSpPr txBox="1"/>
          <p:nvPr/>
        </p:nvSpPr>
        <p:spPr>
          <a:xfrm>
            <a:off x="6364224" y="2450592"/>
            <a:ext cx="2231136" cy="566928"/>
          </a:xfrm>
          <a:prstGeom prst="rect">
            <a:avLst/>
          </a:prstGeom>
          <a:noFill/>
        </p:spPr>
        <p:txBody>
          <a:bodyPr wrap="square" lIns="0" rIns="0" tIns="0" bIns="0" anchor="t">
            <a:spAutoFit/>
          </a:bodyPr>
          <a:lstStyle/>
          <a:p>
            <a:pPr algn="l">
              <a:lnSpc>
                <a:spcPct val="118000"/>
              </a:lnSpc>
              <a:spcBef>
                <a:spcPts val="0"/>
              </a:spcBef>
              <a:spcAft>
                <a:spcPts val="0"/>
              </a:spcAft>
            </a:pPr>
            <a:r>
              <a:rPr sz="950" b="0" i="0">
                <a:solidFill>
                  <a:srgbClr val="D13438"/>
                </a:solidFill>
                <a:latin typeface="Segoe UI"/>
              </a:rPr>
              <a:t>Codex carries no id at all; MAX(service_name) relabels every session “vscode-agent-host”</a:t>
            </a:r>
          </a:p>
        </p:txBody>
      </p:sp>
      <p:sp>
        <p:nvSpPr>
          <p:cNvPr id="27" name="Right Arrow 26"/>
          <p:cNvSpPr/>
          <p:nvPr/>
        </p:nvSpPr>
        <p:spPr>
          <a:xfrm>
            <a:off x="8801100" y="2157984"/>
            <a:ext cx="128016" cy="164592"/>
          </a:xfrm>
          <a:prstGeom prst="rightArrow">
            <a:avLst/>
          </a:prstGeom>
          <a:solidFill>
            <a:srgbClr val="C8C6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8970264" y="1883664"/>
            <a:ext cx="2560320" cy="1225296"/>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8970264" y="1883664"/>
            <a:ext cx="2560320" cy="45720"/>
          </a:xfrm>
          <a:prstGeom prst="rect">
            <a:avLst/>
          </a:prstGeom>
          <a:solidFill>
            <a:srgbClr val="D134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9134856" y="2066544"/>
            <a:ext cx="310896" cy="310896"/>
          </a:xfrm>
          <a:prstGeom prst="roundRect">
            <a:avLst>
              <a:gd name="adj" fmla="val 50000"/>
            </a:avLst>
          </a:prstGeom>
          <a:solidFill>
            <a:srgbClr val="D13438"/>
          </a:solidFill>
          <a:ln w="12700">
            <a:solidFill>
              <a:srgbClr val="D1343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100" b="1" i="0">
                <a:solidFill>
                  <a:srgbClr val="FFFFFF"/>
                </a:solidFill>
                <a:latin typeface="Segoe UI"/>
              </a:rPr>
              <a:t>4</a:t>
            </a:r>
          </a:p>
        </p:txBody>
      </p:sp>
      <p:sp>
        <p:nvSpPr>
          <p:cNvPr id="31" name="TextBox 30"/>
          <p:cNvSpPr txBox="1"/>
          <p:nvPr/>
        </p:nvSpPr>
        <p:spPr>
          <a:xfrm>
            <a:off x="9537192" y="2066544"/>
            <a:ext cx="1810512" cy="329184"/>
          </a:xfrm>
          <a:prstGeom prst="rect">
            <a:avLst/>
          </a:prstGeom>
          <a:noFill/>
        </p:spPr>
        <p:txBody>
          <a:bodyPr wrap="square" lIns="0" rIns="0" tIns="0" bIns="0" anchor="t">
            <a:spAutoFit/>
          </a:bodyPr>
          <a:lstStyle/>
          <a:p>
            <a:pPr algn="l">
              <a:spcBef>
                <a:spcPts val="0"/>
              </a:spcBef>
              <a:spcAft>
                <a:spcPts val="0"/>
              </a:spcAft>
            </a:pPr>
            <a:r>
              <a:rPr sz="1250" b="1" i="0">
                <a:solidFill>
                  <a:srgbClr val="14243E"/>
                </a:solidFill>
                <a:latin typeface="Segoe UI"/>
              </a:rPr>
              <a:t>Split into turns</a:t>
            </a:r>
          </a:p>
        </p:txBody>
      </p:sp>
      <p:sp>
        <p:nvSpPr>
          <p:cNvPr id="32" name="TextBox 31"/>
          <p:cNvSpPr txBox="1"/>
          <p:nvPr/>
        </p:nvSpPr>
        <p:spPr>
          <a:xfrm>
            <a:off x="9134856" y="2450592"/>
            <a:ext cx="2231136" cy="566928"/>
          </a:xfrm>
          <a:prstGeom prst="rect">
            <a:avLst/>
          </a:prstGeom>
          <a:noFill/>
        </p:spPr>
        <p:txBody>
          <a:bodyPr wrap="square" lIns="0" rIns="0" tIns="0" bIns="0" anchor="t">
            <a:spAutoFit/>
          </a:bodyPr>
          <a:lstStyle/>
          <a:p>
            <a:pPr algn="l">
              <a:lnSpc>
                <a:spcPct val="118000"/>
              </a:lnSpc>
              <a:spcBef>
                <a:spcPts val="0"/>
              </a:spcBef>
              <a:spcAft>
                <a:spcPts val="0"/>
              </a:spcAft>
            </a:pPr>
            <a:r>
              <a:rPr sz="950" b="0" i="0">
                <a:solidFill>
                  <a:srgbClr val="D13438"/>
                </a:solidFill>
                <a:latin typeface="Segoe UI"/>
              </a:rPr>
              <a:t>Claude logs api_request when the round trip finishes — records arrive before the call they close</a:t>
            </a:r>
          </a:p>
        </p:txBody>
      </p:sp>
      <p:sp>
        <p:nvSpPr>
          <p:cNvPr id="33" name="Rounded Rectangle 32"/>
          <p:cNvSpPr/>
          <p:nvPr/>
        </p:nvSpPr>
        <p:spPr>
          <a:xfrm>
            <a:off x="658368" y="3529584"/>
            <a:ext cx="2560320" cy="1225296"/>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658368" y="3529584"/>
            <a:ext cx="2560320" cy="45720"/>
          </a:xfrm>
          <a:prstGeom prst="rect">
            <a:avLst/>
          </a:prstGeom>
          <a:solidFill>
            <a:srgbClr val="D134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822960" y="3712464"/>
            <a:ext cx="310896" cy="310896"/>
          </a:xfrm>
          <a:prstGeom prst="roundRect">
            <a:avLst>
              <a:gd name="adj" fmla="val 50000"/>
            </a:avLst>
          </a:prstGeom>
          <a:solidFill>
            <a:srgbClr val="D13438"/>
          </a:solidFill>
          <a:ln w="12700">
            <a:solidFill>
              <a:srgbClr val="D1343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100" b="1" i="0">
                <a:solidFill>
                  <a:srgbClr val="FFFFFF"/>
                </a:solidFill>
                <a:latin typeface="Segoe UI"/>
              </a:rPr>
              <a:t>5</a:t>
            </a:r>
          </a:p>
        </p:txBody>
      </p:sp>
      <p:sp>
        <p:nvSpPr>
          <p:cNvPr id="36" name="TextBox 35"/>
          <p:cNvSpPr txBox="1"/>
          <p:nvPr/>
        </p:nvSpPr>
        <p:spPr>
          <a:xfrm>
            <a:off x="1225296" y="3712464"/>
            <a:ext cx="1810512" cy="329184"/>
          </a:xfrm>
          <a:prstGeom prst="rect">
            <a:avLst/>
          </a:prstGeom>
          <a:noFill/>
        </p:spPr>
        <p:txBody>
          <a:bodyPr wrap="square" lIns="0" rIns="0" tIns="0" bIns="0" anchor="t">
            <a:spAutoFit/>
          </a:bodyPr>
          <a:lstStyle/>
          <a:p>
            <a:pPr algn="l">
              <a:spcBef>
                <a:spcPts val="0"/>
              </a:spcBef>
              <a:spcAft>
                <a:spcPts val="0"/>
              </a:spcAft>
            </a:pPr>
            <a:r>
              <a:rPr sz="1250" b="1" i="0">
                <a:solidFill>
                  <a:srgbClr val="14243E"/>
                </a:solidFill>
                <a:latin typeface="Segoe UI"/>
              </a:rPr>
              <a:t>Count the work</a:t>
            </a:r>
          </a:p>
        </p:txBody>
      </p:sp>
      <p:sp>
        <p:nvSpPr>
          <p:cNvPr id="37" name="TextBox 36"/>
          <p:cNvSpPr txBox="1"/>
          <p:nvPr/>
        </p:nvSpPr>
        <p:spPr>
          <a:xfrm>
            <a:off x="822960" y="4096512"/>
            <a:ext cx="2231136" cy="566928"/>
          </a:xfrm>
          <a:prstGeom prst="rect">
            <a:avLst/>
          </a:prstGeom>
          <a:noFill/>
        </p:spPr>
        <p:txBody>
          <a:bodyPr wrap="square" lIns="0" rIns="0" tIns="0" bIns="0" anchor="t">
            <a:spAutoFit/>
          </a:bodyPr>
          <a:lstStyle/>
          <a:p>
            <a:pPr algn="l">
              <a:lnSpc>
                <a:spcPct val="118000"/>
              </a:lnSpc>
              <a:spcBef>
                <a:spcPts val="0"/>
              </a:spcBef>
              <a:spcAft>
                <a:spcPts val="0"/>
              </a:spcAft>
            </a:pPr>
            <a:r>
              <a:rPr sz="950" b="0" i="0">
                <a:solidFill>
                  <a:srgbClr val="D13438"/>
                </a:solidFill>
                <a:latin typeface="Segoe UI"/>
              </a:rPr>
              <a:t>One Codex call = 5 nested spans; matching Claude’s subtree trebles the tool count</a:t>
            </a:r>
          </a:p>
        </p:txBody>
      </p:sp>
      <p:sp>
        <p:nvSpPr>
          <p:cNvPr id="38" name="Right Arrow 37"/>
          <p:cNvSpPr/>
          <p:nvPr/>
        </p:nvSpPr>
        <p:spPr>
          <a:xfrm>
            <a:off x="3259836" y="3803904"/>
            <a:ext cx="128016" cy="164592"/>
          </a:xfrm>
          <a:prstGeom prst="rightArrow">
            <a:avLst/>
          </a:prstGeom>
          <a:solidFill>
            <a:srgbClr val="C8C6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ounded Rectangle 38"/>
          <p:cNvSpPr/>
          <p:nvPr/>
        </p:nvSpPr>
        <p:spPr>
          <a:xfrm>
            <a:off x="3429000" y="3529584"/>
            <a:ext cx="2560320" cy="1225296"/>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3429000" y="3529584"/>
            <a:ext cx="2560320" cy="45720"/>
          </a:xfrm>
          <a:prstGeom prst="rect">
            <a:avLst/>
          </a:prstGeom>
          <a:solidFill>
            <a:srgbClr val="D134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ounded Rectangle 40"/>
          <p:cNvSpPr/>
          <p:nvPr/>
        </p:nvSpPr>
        <p:spPr>
          <a:xfrm>
            <a:off x="3593592" y="3712464"/>
            <a:ext cx="310896" cy="310896"/>
          </a:xfrm>
          <a:prstGeom prst="roundRect">
            <a:avLst>
              <a:gd name="adj" fmla="val 50000"/>
            </a:avLst>
          </a:prstGeom>
          <a:solidFill>
            <a:srgbClr val="D13438"/>
          </a:solidFill>
          <a:ln w="12700">
            <a:solidFill>
              <a:srgbClr val="D1343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100" b="1" i="0">
                <a:solidFill>
                  <a:srgbClr val="FFFFFF"/>
                </a:solidFill>
                <a:latin typeface="Segoe UI"/>
              </a:rPr>
              <a:t>6</a:t>
            </a:r>
          </a:p>
        </p:txBody>
      </p:sp>
      <p:sp>
        <p:nvSpPr>
          <p:cNvPr id="42" name="TextBox 41"/>
          <p:cNvSpPr txBox="1"/>
          <p:nvPr/>
        </p:nvSpPr>
        <p:spPr>
          <a:xfrm>
            <a:off x="3995928" y="3712464"/>
            <a:ext cx="1810512" cy="329184"/>
          </a:xfrm>
          <a:prstGeom prst="rect">
            <a:avLst/>
          </a:prstGeom>
          <a:noFill/>
        </p:spPr>
        <p:txBody>
          <a:bodyPr wrap="square" lIns="0" rIns="0" tIns="0" bIns="0" anchor="t">
            <a:spAutoFit/>
          </a:bodyPr>
          <a:lstStyle/>
          <a:p>
            <a:pPr algn="l">
              <a:spcBef>
                <a:spcPts val="0"/>
              </a:spcBef>
              <a:spcAft>
                <a:spcPts val="0"/>
              </a:spcAft>
            </a:pPr>
            <a:r>
              <a:rPr sz="1250" b="1" i="0">
                <a:solidFill>
                  <a:srgbClr val="14243E"/>
                </a:solidFill>
                <a:latin typeface="Segoe UI"/>
              </a:rPr>
              <a:t>Reconcile tokens</a:t>
            </a:r>
          </a:p>
        </p:txBody>
      </p:sp>
      <p:sp>
        <p:nvSpPr>
          <p:cNvPr id="43" name="TextBox 42"/>
          <p:cNvSpPr txBox="1"/>
          <p:nvPr/>
        </p:nvSpPr>
        <p:spPr>
          <a:xfrm>
            <a:off x="3593592" y="4096512"/>
            <a:ext cx="2231136" cy="566928"/>
          </a:xfrm>
          <a:prstGeom prst="rect">
            <a:avLst/>
          </a:prstGeom>
          <a:noFill/>
        </p:spPr>
        <p:txBody>
          <a:bodyPr wrap="square" lIns="0" rIns="0" tIns="0" bIns="0" anchor="t">
            <a:spAutoFit/>
          </a:bodyPr>
          <a:lstStyle/>
          <a:p>
            <a:pPr algn="l">
              <a:lnSpc>
                <a:spcPct val="118000"/>
              </a:lnSpc>
              <a:spcBef>
                <a:spcPts val="0"/>
              </a:spcBef>
              <a:spcAft>
                <a:spcPts val="0"/>
              </a:spcAft>
            </a:pPr>
            <a:r>
              <a:rPr sz="950" b="0" i="0">
                <a:solidFill>
                  <a:srgbClr val="D13438"/>
                </a:solidFill>
                <a:latin typeface="Segoe UI"/>
              </a:rPr>
              <a:t>Three incompatible conventions, plus parent spans that re-report their children</a:t>
            </a:r>
          </a:p>
        </p:txBody>
      </p:sp>
      <p:sp>
        <p:nvSpPr>
          <p:cNvPr id="44" name="Right Arrow 43"/>
          <p:cNvSpPr/>
          <p:nvPr/>
        </p:nvSpPr>
        <p:spPr>
          <a:xfrm>
            <a:off x="6030468" y="3803904"/>
            <a:ext cx="128016" cy="164592"/>
          </a:xfrm>
          <a:prstGeom prst="rightArrow">
            <a:avLst/>
          </a:prstGeom>
          <a:solidFill>
            <a:srgbClr val="C8C6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ounded Rectangle 44"/>
          <p:cNvSpPr/>
          <p:nvPr/>
        </p:nvSpPr>
        <p:spPr>
          <a:xfrm>
            <a:off x="6199632" y="3529584"/>
            <a:ext cx="2560320" cy="1225296"/>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6199632" y="3529584"/>
            <a:ext cx="2560320" cy="45720"/>
          </a:xfrm>
          <a:prstGeom prst="rect">
            <a:avLst/>
          </a:prstGeom>
          <a:solidFill>
            <a:srgbClr val="D134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ounded Rectangle 46"/>
          <p:cNvSpPr/>
          <p:nvPr/>
        </p:nvSpPr>
        <p:spPr>
          <a:xfrm>
            <a:off x="6364224" y="3712464"/>
            <a:ext cx="310896" cy="310896"/>
          </a:xfrm>
          <a:prstGeom prst="roundRect">
            <a:avLst>
              <a:gd name="adj" fmla="val 50000"/>
            </a:avLst>
          </a:prstGeom>
          <a:solidFill>
            <a:srgbClr val="D13438"/>
          </a:solidFill>
          <a:ln w="12700">
            <a:solidFill>
              <a:srgbClr val="D1343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100" b="1" i="0">
                <a:solidFill>
                  <a:srgbClr val="FFFFFF"/>
                </a:solidFill>
                <a:latin typeface="Segoe UI"/>
              </a:rPr>
              <a:t>7</a:t>
            </a:r>
          </a:p>
        </p:txBody>
      </p:sp>
      <p:sp>
        <p:nvSpPr>
          <p:cNvPr id="48" name="TextBox 47"/>
          <p:cNvSpPr txBox="1"/>
          <p:nvPr/>
        </p:nvSpPr>
        <p:spPr>
          <a:xfrm>
            <a:off x="6766560" y="3712464"/>
            <a:ext cx="1810512" cy="329184"/>
          </a:xfrm>
          <a:prstGeom prst="rect">
            <a:avLst/>
          </a:prstGeom>
          <a:noFill/>
        </p:spPr>
        <p:txBody>
          <a:bodyPr wrap="square" lIns="0" rIns="0" tIns="0" bIns="0" anchor="t">
            <a:spAutoFit/>
          </a:bodyPr>
          <a:lstStyle/>
          <a:p>
            <a:pPr algn="l">
              <a:spcBef>
                <a:spcPts val="0"/>
              </a:spcBef>
              <a:spcAft>
                <a:spcPts val="0"/>
              </a:spcAft>
            </a:pPr>
            <a:r>
              <a:rPr sz="1250" b="1" i="0">
                <a:solidFill>
                  <a:srgbClr val="14243E"/>
                </a:solidFill>
                <a:latin typeface="Segoe UI"/>
              </a:rPr>
              <a:t>Rebuild the transcript</a:t>
            </a:r>
          </a:p>
        </p:txBody>
      </p:sp>
      <p:sp>
        <p:nvSpPr>
          <p:cNvPr id="49" name="TextBox 48"/>
          <p:cNvSpPr txBox="1"/>
          <p:nvPr/>
        </p:nvSpPr>
        <p:spPr>
          <a:xfrm>
            <a:off x="6364224" y="4096512"/>
            <a:ext cx="2231136" cy="566928"/>
          </a:xfrm>
          <a:prstGeom prst="rect">
            <a:avLst/>
          </a:prstGeom>
          <a:noFill/>
        </p:spPr>
        <p:txBody>
          <a:bodyPr wrap="square" lIns="0" rIns="0" tIns="0" bIns="0" anchor="t">
            <a:spAutoFit/>
          </a:bodyPr>
          <a:lstStyle/>
          <a:p>
            <a:pPr algn="l">
              <a:lnSpc>
                <a:spcPct val="118000"/>
              </a:lnSpc>
              <a:spcBef>
                <a:spcPts val="0"/>
              </a:spcBef>
              <a:spcAft>
                <a:spcPts val="0"/>
              </a:spcAft>
            </a:pPr>
            <a:r>
              <a:rPr sz="950" b="0" i="0">
                <a:solidFill>
                  <a:srgbClr val="D13438"/>
                </a:solidFill>
                <a:latin typeface="Segoe UI"/>
              </a:rPr>
              <a:t>Three completely different sources, one of which never sends the model’s half</a:t>
            </a:r>
          </a:p>
        </p:txBody>
      </p:sp>
      <p:sp>
        <p:nvSpPr>
          <p:cNvPr id="50" name="Rounded Rectangle 49"/>
          <p:cNvSpPr/>
          <p:nvPr/>
        </p:nvSpPr>
        <p:spPr>
          <a:xfrm>
            <a:off x="8970264" y="3529584"/>
            <a:ext cx="2560320" cy="1225296"/>
          </a:xfrm>
          <a:prstGeom prst="roundRect">
            <a:avLst>
              <a:gd name="adj" fmla="val 4500"/>
            </a:avLst>
          </a:prstGeom>
          <a:solidFill>
            <a:srgbClr val="6B1A1E"/>
          </a:solidFill>
          <a:ln w="12700">
            <a:solidFill>
              <a:srgbClr val="6B1A1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spcBef>
                <a:spcPts val="0"/>
              </a:spcBef>
              <a:spcAft>
                <a:spcPts val="500"/>
              </a:spcAft>
            </a:pPr>
            <a:r>
              <a:rPr sz="1400" b="1" i="0">
                <a:solidFill>
                  <a:srgbClr val="FFFFFF"/>
                </a:solidFill>
                <a:latin typeface="Segoe UI"/>
              </a:rPr>
              <a:t>Every stage breaks</a:t>
            </a:r>
          </a:p>
          <a:p>
            <a:pPr algn="ctr">
              <a:lnSpc>
                <a:spcPct val="120000"/>
              </a:lnSpc>
              <a:spcBef>
                <a:spcPts val="0"/>
              </a:spcBef>
              <a:spcAft>
                <a:spcPts val="0"/>
              </a:spcAft>
            </a:pPr>
            <a:r>
              <a:rPr sz="1050" b="0" i="0">
                <a:solidFill>
                  <a:srgbClr val="F2C5C8"/>
                </a:solidFill>
                <a:latin typeface="Segoe UI"/>
              </a:rPr>
              <a:t>…and it breaks differently for each of the three harnesses</a:t>
            </a:r>
          </a:p>
        </p:txBody>
      </p:sp>
      <p:sp>
        <p:nvSpPr>
          <p:cNvPr id="51" name="Rounded Rectangle 50"/>
          <p:cNvSpPr/>
          <p:nvPr/>
        </p:nvSpPr>
        <p:spPr>
          <a:xfrm>
            <a:off x="658368" y="5074920"/>
            <a:ext cx="10872216" cy="786384"/>
          </a:xfrm>
          <a:prstGeom prst="roundRect">
            <a:avLst>
              <a:gd name="adj" fmla="val 4500"/>
            </a:avLst>
          </a:prstGeom>
          <a:solidFill>
            <a:srgbClr val="FDF3F4"/>
          </a:solidFill>
          <a:ln w="12700">
            <a:solidFill>
              <a:srgbClr val="F2D8D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lnSpc>
                <a:spcPct val="125000"/>
              </a:lnSpc>
              <a:spcBef>
                <a:spcPts val="0"/>
              </a:spcBef>
              <a:spcAft>
                <a:spcPts val="0"/>
              </a:spcAft>
            </a:pPr>
            <a:r>
              <a:rPr sz="1350" b="1" i="0">
                <a:solidFill>
                  <a:srgbClr val="D13438"/>
                </a:solidFill>
                <a:latin typeface="Segoe UI"/>
              </a:rPr>
              <a:t>Roughly 2,600 lines of the engine exist for this slide.  </a:t>
            </a:r>
            <a:r>
              <a:rPr sz="1350" b="0" i="0">
                <a:solidFill>
                  <a:srgbClr val="14243E"/>
                </a:solidFill>
                <a:latin typeface="Segoe UI"/>
              </a:rPr>
              <a:t>The receiver that accepts the telemetry in the first place is about 200.</a:t>
            </a:r>
          </a:p>
        </p:txBody>
      </p:sp>
      <p:sp>
        <p:nvSpPr>
          <p:cNvPr id="52" name="TextBox 51"/>
          <p:cNvSpPr txBox="1"/>
          <p:nvPr/>
        </p:nvSpPr>
        <p:spPr>
          <a:xfrm>
            <a:off x="658368" y="6382512"/>
            <a:ext cx="8686800" cy="237744"/>
          </a:xfrm>
          <a:prstGeom prst="rect">
            <a:avLst/>
          </a:prstGeom>
          <a:noFill/>
        </p:spPr>
        <p:txBody>
          <a:bodyPr wrap="square" lIns="0" rIns="0" tIns="0" bIns="0" anchor="t">
            <a:spAutoFit/>
          </a:bodyPr>
          <a:lstStyle/>
          <a:p>
            <a:pPr algn="l">
              <a:spcBef>
                <a:spcPts val="0"/>
              </a:spcBef>
              <a:spcAft>
                <a:spcPts val="0"/>
              </a:spcAft>
            </a:pPr>
            <a:r>
              <a:rPr sz="900" b="0" i="0">
                <a:solidFill>
                  <a:srgbClr val="8A8886"/>
                </a:solidFill>
                <a:latin typeface="Segoe UI"/>
              </a:rPr>
              <a:t>Microsoft  ·  Agent Insights</a:t>
            </a:r>
          </a:p>
        </p:txBody>
      </p:sp>
      <p:sp>
        <p:nvSpPr>
          <p:cNvPr id="53" name="TextBox 52"/>
          <p:cNvSpPr txBox="1"/>
          <p:nvPr/>
        </p:nvSpPr>
        <p:spPr>
          <a:xfrm>
            <a:off x="10835640" y="6382512"/>
            <a:ext cx="694944" cy="237744"/>
          </a:xfrm>
          <a:prstGeom prst="rect">
            <a:avLst/>
          </a:prstGeom>
          <a:noFill/>
        </p:spPr>
        <p:txBody>
          <a:bodyPr wrap="square" lIns="0" rIns="0" tIns="0" bIns="0" anchor="t">
            <a:spAutoFit/>
          </a:bodyPr>
          <a:lstStyle/>
          <a:p>
            <a:pPr algn="r">
              <a:spcBef>
                <a:spcPts val="0"/>
              </a:spcBef>
              <a:spcAft>
                <a:spcPts val="0"/>
              </a:spcAft>
            </a:pPr>
            <a:r>
              <a:rPr sz="900" b="0" i="0">
                <a:solidFill>
                  <a:srgbClr val="8A8886"/>
                </a:solidFill>
                <a:latin typeface="Segoe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47925" cy="685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47923" y="0"/>
            <a:ext cx="3047925" cy="68580"/>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6095847" y="0"/>
            <a:ext cx="3047925" cy="6858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143771" y="0"/>
            <a:ext cx="3047925" cy="68580"/>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384048"/>
            <a:ext cx="10872216" cy="237744"/>
          </a:xfrm>
          <a:prstGeom prst="rect">
            <a:avLst/>
          </a:prstGeom>
          <a:noFill/>
        </p:spPr>
        <p:txBody>
          <a:bodyPr wrap="square" lIns="0" rIns="0" tIns="0" bIns="0" anchor="t">
            <a:spAutoFit/>
          </a:bodyPr>
          <a:lstStyle/>
          <a:p>
            <a:pPr algn="l">
              <a:spcBef>
                <a:spcPts val="0"/>
              </a:spcBef>
              <a:spcAft>
                <a:spcPts val="0"/>
              </a:spcAft>
            </a:pPr>
            <a:r>
              <a:rPr sz="1050" b="1" i="0">
                <a:solidFill>
                  <a:srgbClr val="0078D4"/>
                </a:solidFill>
                <a:latin typeface="Segoe UI Semibold"/>
              </a:rPr>
              <a:t>03  APPROACH · ARCHITECTURE</a:t>
            </a:r>
          </a:p>
        </p:txBody>
      </p:sp>
      <p:sp>
        <p:nvSpPr>
          <p:cNvPr id="7" name="TextBox 6"/>
          <p:cNvSpPr txBox="1"/>
          <p:nvPr/>
        </p:nvSpPr>
        <p:spPr>
          <a:xfrm>
            <a:off x="658368" y="658368"/>
            <a:ext cx="10872216" cy="502920"/>
          </a:xfrm>
          <a:prstGeom prst="rect">
            <a:avLst/>
          </a:prstGeom>
          <a:noFill/>
        </p:spPr>
        <p:txBody>
          <a:bodyPr wrap="square" lIns="0" rIns="0" tIns="0" bIns="0" anchor="t">
            <a:spAutoFit/>
          </a:bodyPr>
          <a:lstStyle/>
          <a:p>
            <a:pPr algn="l">
              <a:spcBef>
                <a:spcPts val="0"/>
              </a:spcBef>
              <a:spcAft>
                <a:spcPts val="0"/>
              </a:spcAft>
            </a:pPr>
            <a:r>
              <a:rPr sz="2900" b="0" i="0">
                <a:solidFill>
                  <a:srgbClr val="14243E"/>
                </a:solidFill>
                <a:latin typeface="Segoe UI Light"/>
              </a:rPr>
              <a:t>Four packages, one pipeline, two consumers</a:t>
            </a:r>
          </a:p>
        </p:txBody>
      </p:sp>
      <p:sp>
        <p:nvSpPr>
          <p:cNvPr id="8" name="TextBox 7"/>
          <p:cNvSpPr txBox="1"/>
          <p:nvPr/>
        </p:nvSpPr>
        <p:spPr>
          <a:xfrm>
            <a:off x="658368" y="1207008"/>
            <a:ext cx="10872216" cy="329184"/>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605E5C"/>
                </a:solidFill>
                <a:latin typeface="Segoe UI"/>
              </a:rPr>
              <a:t>The split is what keeps the SQL out of the UI and the UI out of the agent.</a:t>
            </a:r>
          </a:p>
        </p:txBody>
      </p:sp>
      <p:sp>
        <p:nvSpPr>
          <p:cNvPr id="9" name="Rectangle 8"/>
          <p:cNvSpPr/>
          <p:nvPr/>
        </p:nvSpPr>
        <p:spPr>
          <a:xfrm>
            <a:off x="658368" y="1591056"/>
            <a:ext cx="960120" cy="320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58368" y="1591056"/>
            <a:ext cx="2615184" cy="530352"/>
          </a:xfrm>
          <a:prstGeom prst="roundRect">
            <a:avLst>
              <a:gd name="adj" fmla="val 7000"/>
            </a:avLst>
          </a:prstGeom>
          <a:solidFill>
            <a:srgbClr val="FFFFFF"/>
          </a:solidFill>
          <a:ln w="1905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100"/>
              </a:spcAft>
            </a:pPr>
            <a:r>
              <a:rPr sz="1200" b="1" i="0">
                <a:solidFill>
                  <a:srgbClr val="14243E"/>
                </a:solidFill>
                <a:latin typeface="Segoe UI"/>
              </a:rPr>
              <a:t>GitHub Copilot</a:t>
            </a:r>
          </a:p>
          <a:p>
            <a:pPr algn="ctr">
              <a:spcBef>
                <a:spcPts val="0"/>
              </a:spcBef>
              <a:spcAft>
                <a:spcPts val="0"/>
              </a:spcAft>
            </a:pPr>
            <a:r>
              <a:rPr sz="900" b="0" i="0">
                <a:solidFill>
                  <a:srgbClr val="0078D4"/>
                </a:solidFill>
                <a:latin typeface="Consolas"/>
              </a:rPr>
              <a:t>github-copilot</a:t>
            </a:r>
          </a:p>
        </p:txBody>
      </p:sp>
      <p:sp>
        <p:nvSpPr>
          <p:cNvPr id="11" name="Rounded Rectangle 10"/>
          <p:cNvSpPr/>
          <p:nvPr/>
        </p:nvSpPr>
        <p:spPr>
          <a:xfrm>
            <a:off x="3405225" y="1591056"/>
            <a:ext cx="2615184" cy="530352"/>
          </a:xfrm>
          <a:prstGeom prst="roundRect">
            <a:avLst>
              <a:gd name="adj" fmla="val 7000"/>
            </a:avLst>
          </a:prstGeom>
          <a:solidFill>
            <a:srgbClr val="FFFFFF"/>
          </a:solidFill>
          <a:ln w="19050">
            <a:solidFill>
              <a:srgbClr val="E87C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100"/>
              </a:spcAft>
            </a:pPr>
            <a:r>
              <a:rPr sz="1200" b="1" i="0">
                <a:solidFill>
                  <a:srgbClr val="14243E"/>
                </a:solidFill>
                <a:latin typeface="Segoe UI"/>
              </a:rPr>
              <a:t>Claude Code</a:t>
            </a:r>
          </a:p>
          <a:p>
            <a:pPr algn="ctr">
              <a:spcBef>
                <a:spcPts val="0"/>
              </a:spcBef>
              <a:spcAft>
                <a:spcPts val="0"/>
              </a:spcAft>
            </a:pPr>
            <a:r>
              <a:rPr sz="900" b="0" i="0">
                <a:solidFill>
                  <a:srgbClr val="E87C00"/>
                </a:solidFill>
                <a:latin typeface="Consolas"/>
              </a:rPr>
              <a:t>claude-code</a:t>
            </a:r>
          </a:p>
        </p:txBody>
      </p:sp>
      <p:sp>
        <p:nvSpPr>
          <p:cNvPr id="12" name="Rounded Rectangle 11"/>
          <p:cNvSpPr/>
          <p:nvPr/>
        </p:nvSpPr>
        <p:spPr>
          <a:xfrm>
            <a:off x="6152082" y="1591056"/>
            <a:ext cx="2615184" cy="530352"/>
          </a:xfrm>
          <a:prstGeom prst="roundRect">
            <a:avLst>
              <a:gd name="adj" fmla="val 7000"/>
            </a:avLst>
          </a:prstGeom>
          <a:solidFill>
            <a:srgbClr val="FFFFFF"/>
          </a:solidFill>
          <a:ln w="19050">
            <a:solidFill>
              <a:srgbClr val="E3008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100"/>
              </a:spcAft>
            </a:pPr>
            <a:r>
              <a:rPr sz="1200" b="1" i="0">
                <a:solidFill>
                  <a:srgbClr val="14243E"/>
                </a:solidFill>
                <a:latin typeface="Segoe UI"/>
              </a:rPr>
              <a:t>Codex</a:t>
            </a:r>
          </a:p>
          <a:p>
            <a:pPr algn="ctr">
              <a:spcBef>
                <a:spcPts val="0"/>
              </a:spcBef>
              <a:spcAft>
                <a:spcPts val="0"/>
              </a:spcAft>
            </a:pPr>
            <a:r>
              <a:rPr sz="900" b="0" i="0">
                <a:solidFill>
                  <a:srgbClr val="E3008C"/>
                </a:solidFill>
                <a:latin typeface="Consolas"/>
              </a:rPr>
              <a:t>codex-app-server</a:t>
            </a:r>
          </a:p>
        </p:txBody>
      </p:sp>
      <p:sp>
        <p:nvSpPr>
          <p:cNvPr id="13" name="Rounded Rectangle 12"/>
          <p:cNvSpPr/>
          <p:nvPr/>
        </p:nvSpPr>
        <p:spPr>
          <a:xfrm>
            <a:off x="8898939" y="1591056"/>
            <a:ext cx="2615184" cy="530352"/>
          </a:xfrm>
          <a:prstGeom prst="roundRect">
            <a:avLst>
              <a:gd name="adj" fmla="val 7000"/>
            </a:avLst>
          </a:prstGeom>
          <a:solidFill>
            <a:srgbClr val="FFFFFF"/>
          </a:solidFill>
          <a:ln w="19050">
            <a:solidFill>
              <a:srgbClr val="8661C5"/>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Bef>
                <a:spcPts val="0"/>
              </a:spcBef>
              <a:spcAft>
                <a:spcPts val="100"/>
              </a:spcAft>
            </a:pPr>
            <a:r>
              <a:rPr sz="1200" b="1" i="0">
                <a:solidFill>
                  <a:srgbClr val="14243E"/>
                </a:solidFill>
                <a:latin typeface="Segoe UI"/>
              </a:rPr>
              <a:t>VS Code Agent Host</a:t>
            </a:r>
          </a:p>
          <a:p>
            <a:pPr algn="ctr">
              <a:spcBef>
                <a:spcPts val="0"/>
              </a:spcBef>
              <a:spcAft>
                <a:spcPts val="0"/>
              </a:spcAft>
            </a:pPr>
            <a:r>
              <a:rPr sz="900" b="0" i="0">
                <a:solidFill>
                  <a:srgbClr val="8661C5"/>
                </a:solidFill>
                <a:latin typeface="Consolas"/>
              </a:rPr>
              <a:t>vscode-agent-host</a:t>
            </a:r>
          </a:p>
        </p:txBody>
      </p:sp>
      <p:sp>
        <p:nvSpPr>
          <p:cNvPr id="14" name="Down Arrow 13"/>
          <p:cNvSpPr/>
          <p:nvPr/>
        </p:nvSpPr>
        <p:spPr>
          <a:xfrm>
            <a:off x="6012180" y="2167128"/>
            <a:ext cx="164592" cy="219456"/>
          </a:xfrm>
          <a:prstGeom prst="downArrow">
            <a:avLst/>
          </a:prstGeom>
          <a:solidFill>
            <a:srgbClr val="B3B0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58368" y="2194560"/>
            <a:ext cx="5120640" cy="219456"/>
          </a:xfrm>
          <a:prstGeom prst="rect">
            <a:avLst/>
          </a:prstGeom>
          <a:noFill/>
        </p:spPr>
        <p:txBody>
          <a:bodyPr wrap="square" lIns="0" rIns="0" tIns="0" bIns="0" anchor="t">
            <a:spAutoFit/>
          </a:bodyPr>
          <a:lstStyle/>
          <a:p>
            <a:pPr algn="r">
              <a:spcBef>
                <a:spcPts val="0"/>
              </a:spcBef>
              <a:spcAft>
                <a:spcPts val="0"/>
              </a:spcAft>
            </a:pPr>
            <a:r>
              <a:rPr sz="1000" b="1" i="0">
                <a:solidFill>
                  <a:srgbClr val="605E5C"/>
                </a:solidFill>
                <a:latin typeface="Consolas"/>
              </a:rPr>
              <a:t>OTLP / HTTP JSON</a:t>
            </a:r>
          </a:p>
        </p:txBody>
      </p:sp>
      <p:sp>
        <p:nvSpPr>
          <p:cNvPr id="16" name="TextBox 15"/>
          <p:cNvSpPr txBox="1"/>
          <p:nvPr/>
        </p:nvSpPr>
        <p:spPr>
          <a:xfrm>
            <a:off x="6368796" y="2194560"/>
            <a:ext cx="5120640" cy="219456"/>
          </a:xfrm>
          <a:prstGeom prst="rect">
            <a:avLst/>
          </a:prstGeom>
          <a:noFill/>
        </p:spPr>
        <p:txBody>
          <a:bodyPr wrap="square" lIns="0" rIns="0" tIns="0" bIns="0" anchor="t">
            <a:spAutoFit/>
          </a:bodyPr>
          <a:lstStyle/>
          <a:p>
            <a:pPr algn="l">
              <a:spcBef>
                <a:spcPts val="0"/>
              </a:spcBef>
              <a:spcAft>
                <a:spcPts val="0"/>
              </a:spcAft>
            </a:pPr>
            <a:r>
              <a:rPr sz="1000" b="0" i="0">
                <a:solidFill>
                  <a:srgbClr val="605E5C"/>
                </a:solidFill>
                <a:latin typeface="Consolas"/>
              </a:rPr>
              <a:t>127.0.0.1:4318   ·   loopback only</a:t>
            </a:r>
          </a:p>
        </p:txBody>
      </p:sp>
      <p:sp>
        <p:nvSpPr>
          <p:cNvPr id="17" name="Rounded Rectangle 16"/>
          <p:cNvSpPr/>
          <p:nvPr/>
        </p:nvSpPr>
        <p:spPr>
          <a:xfrm>
            <a:off x="658368" y="2487168"/>
            <a:ext cx="10872216" cy="640080"/>
          </a:xfrm>
          <a:prstGeom prst="roundRect">
            <a:avLst>
              <a:gd name="adj" fmla="val 50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274320"/>
          <a:lstStyle/>
          <a:p>
            <a:pPr algn="l">
              <a:spcBef>
                <a:spcPts val="0"/>
              </a:spcBef>
              <a:spcAft>
                <a:spcPts val="300"/>
              </a:spcAft>
            </a:pPr>
            <a:r>
              <a:rPr sz="1300" b="1" i="0">
                <a:solidFill>
                  <a:srgbClr val="14243E"/>
                </a:solidFill>
                <a:latin typeface="Segoe UI"/>
              </a:rPr>
              <a:t>@agent-insights/receiver</a:t>
            </a:r>
          </a:p>
          <a:p>
            <a:pPr algn="l">
              <a:lnSpc>
                <a:spcPct val="120000"/>
              </a:lnSpc>
              <a:spcBef>
                <a:spcPts val="0"/>
              </a:spcBef>
              <a:spcAft>
                <a:spcPts val="0"/>
              </a:spcAft>
            </a:pPr>
            <a:r>
              <a:rPr sz="1000" b="0" i="0">
                <a:solidFill>
                  <a:srgbClr val="605E5C"/>
                </a:solidFill>
                <a:latin typeface="Consolas"/>
              </a:rPr>
              <a:t>/v1/traces  ·  /v1/metrics  ·  /v1/logs  ·  /.well-known/agent-insights   —  flattens the OTLP envelope to one row per entity, preserving values exactly</a:t>
            </a:r>
          </a:p>
        </p:txBody>
      </p:sp>
      <p:sp>
        <p:nvSpPr>
          <p:cNvPr id="18" name="Rectangle 17"/>
          <p:cNvSpPr/>
          <p:nvPr/>
        </p:nvSpPr>
        <p:spPr>
          <a:xfrm>
            <a:off x="658368" y="2487168"/>
            <a:ext cx="68580" cy="6400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Down Arrow 18"/>
          <p:cNvSpPr/>
          <p:nvPr/>
        </p:nvSpPr>
        <p:spPr>
          <a:xfrm>
            <a:off x="6012180" y="3154680"/>
            <a:ext cx="164592" cy="219456"/>
          </a:xfrm>
          <a:prstGeom prst="downArrow">
            <a:avLst/>
          </a:prstGeom>
          <a:solidFill>
            <a:srgbClr val="B3B0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332220" y="3182112"/>
            <a:ext cx="4937760" cy="219456"/>
          </a:xfrm>
          <a:prstGeom prst="rect">
            <a:avLst/>
          </a:prstGeom>
          <a:noFill/>
        </p:spPr>
        <p:txBody>
          <a:bodyPr wrap="square" lIns="0" rIns="0" tIns="0" bIns="0" anchor="t">
            <a:spAutoFit/>
          </a:bodyPr>
          <a:lstStyle/>
          <a:p>
            <a:pPr algn="l">
              <a:spcBef>
                <a:spcPts val="0"/>
              </a:spcBef>
              <a:spcAft>
                <a:spcPts val="0"/>
              </a:spcAft>
            </a:pPr>
            <a:r>
              <a:rPr sz="1000" b="0" i="0">
                <a:solidFill>
                  <a:srgbClr val="D13438"/>
                </a:solidFill>
                <a:latin typeface="Consolas"/>
              </a:rPr>
              <a:t>worker_threads boundary — the extension host never touches SQL</a:t>
            </a:r>
          </a:p>
        </p:txBody>
      </p:sp>
      <p:sp>
        <p:nvSpPr>
          <p:cNvPr id="21" name="Rounded Rectangle 20"/>
          <p:cNvSpPr/>
          <p:nvPr/>
        </p:nvSpPr>
        <p:spPr>
          <a:xfrm>
            <a:off x="658368" y="3456432"/>
            <a:ext cx="10872216" cy="676656"/>
          </a:xfrm>
          <a:prstGeom prst="roundRect">
            <a:avLst>
              <a:gd name="adj" fmla="val 50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274320"/>
          <a:lstStyle/>
          <a:p>
            <a:pPr algn="l">
              <a:spcBef>
                <a:spcPts val="0"/>
              </a:spcBef>
              <a:spcAft>
                <a:spcPts val="300"/>
              </a:spcAft>
            </a:pPr>
            <a:r>
              <a:rPr sz="1300" b="1" i="0">
                <a:solidFill>
                  <a:srgbClr val="14243E"/>
                </a:solidFill>
                <a:latin typeface="Segoe UI"/>
              </a:rPr>
              <a:t>sql.js  ·  SQLite compiled to WASM, on a worker thread</a:t>
            </a:r>
          </a:p>
          <a:p>
            <a:pPr algn="l">
              <a:lnSpc>
                <a:spcPct val="120000"/>
              </a:lnSpc>
              <a:spcBef>
                <a:spcPts val="0"/>
              </a:spcBef>
              <a:spcAft>
                <a:spcPts val="0"/>
              </a:spcAft>
            </a:pPr>
            <a:r>
              <a:rPr sz="1000" b="0" i="0">
                <a:solidFill>
                  <a:srgbClr val="605E5C"/>
                </a:solidFill>
                <a:latin typeface="Consolas"/>
              </a:rPr>
              <a:t>raw OTLP JSON per row + materialized derived columns   ·   projections that outlive retention:  session_titles  ·  codex_trace_sessions  ·  token_facts</a:t>
            </a:r>
          </a:p>
        </p:txBody>
      </p:sp>
      <p:sp>
        <p:nvSpPr>
          <p:cNvPr id="22" name="Rectangle 21"/>
          <p:cNvSpPr/>
          <p:nvPr/>
        </p:nvSpPr>
        <p:spPr>
          <a:xfrm>
            <a:off x="658368" y="3456432"/>
            <a:ext cx="68580" cy="676656"/>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Down Arrow 22"/>
          <p:cNvSpPr/>
          <p:nvPr/>
        </p:nvSpPr>
        <p:spPr>
          <a:xfrm>
            <a:off x="6012180" y="4160520"/>
            <a:ext cx="164592" cy="219456"/>
          </a:xfrm>
          <a:prstGeom prst="downArrow">
            <a:avLst/>
          </a:prstGeom>
          <a:solidFill>
            <a:srgbClr val="B3B0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658368" y="4443984"/>
            <a:ext cx="10872216" cy="713232"/>
          </a:xfrm>
          <a:prstGeom prst="roundRect">
            <a:avLst>
              <a:gd name="adj" fmla="val 5000"/>
            </a:avLst>
          </a:prstGeom>
          <a:solidFill>
            <a:srgbClr val="14243E"/>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1737360"/>
          <a:lstStyle/>
          <a:p>
            <a:pPr algn="l">
              <a:spcBef>
                <a:spcPts val="0"/>
              </a:spcBef>
              <a:spcAft>
                <a:spcPts val="300"/>
              </a:spcAft>
            </a:pPr>
            <a:r>
              <a:rPr sz="1300" b="1" i="0">
                <a:solidFill>
                  <a:srgbClr val="FFFFFF"/>
                </a:solidFill>
                <a:latin typeface="Segoe UI"/>
              </a:rPr>
              <a:t>@agent-insights/engine   —   the normalization layer</a:t>
            </a:r>
          </a:p>
          <a:p>
            <a:pPr algn="l">
              <a:lnSpc>
                <a:spcPct val="120000"/>
              </a:lnSpc>
              <a:spcBef>
                <a:spcPts val="0"/>
              </a:spcBef>
              <a:spcAft>
                <a:spcPts val="0"/>
              </a:spcAft>
            </a:pPr>
            <a:r>
              <a:rPr sz="1000" b="0" i="0">
                <a:solidFill>
                  <a:srgbClr val="9EB4D6"/>
                </a:solidFill>
                <a:latin typeface="Consolas"/>
              </a:rPr>
              <a:t>sessions  ·  traces  ·  tokenUsage  ·  agentAnalytics  ·  metrics  ·  logs</a:t>
            </a:r>
          </a:p>
        </p:txBody>
      </p:sp>
      <p:sp>
        <p:nvSpPr>
          <p:cNvPr id="25" name="Rectangle 24"/>
          <p:cNvSpPr/>
          <p:nvPr/>
        </p:nvSpPr>
        <p:spPr>
          <a:xfrm>
            <a:off x="658368" y="4443984"/>
            <a:ext cx="68580" cy="713232"/>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9857232" y="4617720"/>
            <a:ext cx="1463040" cy="365760"/>
          </a:xfrm>
          <a:prstGeom prst="roundRect">
            <a:avLst>
              <a:gd name="adj" fmla="val 50000"/>
            </a:avLst>
          </a:prstGeom>
          <a:solidFill>
            <a:srgbClr val="8661C5"/>
          </a:solidFill>
          <a:ln w="12700">
            <a:solidFill>
              <a:srgbClr val="8661C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000" b="1" i="0">
                <a:solidFill>
                  <a:srgbClr val="FFFFFF"/>
                </a:solidFill>
                <a:latin typeface="Segoe UI"/>
              </a:rPr>
              <a:t>★ the contribution</a:t>
            </a:r>
          </a:p>
        </p:txBody>
      </p:sp>
      <p:sp>
        <p:nvSpPr>
          <p:cNvPr id="27" name="Down Arrow 26"/>
          <p:cNvSpPr/>
          <p:nvPr/>
        </p:nvSpPr>
        <p:spPr>
          <a:xfrm>
            <a:off x="3227832" y="5184648"/>
            <a:ext cx="164592" cy="219456"/>
          </a:xfrm>
          <a:prstGeom prst="downArrow">
            <a:avLst/>
          </a:prstGeom>
          <a:solidFill>
            <a:srgbClr val="B3B0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Down Arrow 27"/>
          <p:cNvSpPr/>
          <p:nvPr/>
        </p:nvSpPr>
        <p:spPr>
          <a:xfrm>
            <a:off x="8759951" y="5184648"/>
            <a:ext cx="164592" cy="219456"/>
          </a:xfrm>
          <a:prstGeom prst="downArrow">
            <a:avLst/>
          </a:prstGeom>
          <a:solidFill>
            <a:srgbClr val="B3B0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658368" y="5468112"/>
            <a:ext cx="5330952" cy="640080"/>
          </a:xfrm>
          <a:prstGeom prst="roundRect">
            <a:avLst>
              <a:gd name="adj" fmla="val 6000"/>
            </a:avLst>
          </a:prstGeom>
          <a:solidFill>
            <a:srgbClr val="FFFFFF"/>
          </a:solidFill>
          <a:ln w="1905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a:lstStyle/>
          <a:p>
            <a:pPr algn="l">
              <a:spcBef>
                <a:spcPts val="0"/>
              </a:spcBef>
              <a:spcAft>
                <a:spcPts val="200"/>
              </a:spcAft>
            </a:pPr>
            <a:r>
              <a:rPr sz="1250" b="1" i="0">
                <a:solidFill>
                  <a:srgbClr val="14243E"/>
                </a:solidFill>
                <a:latin typeface="Segoe UI"/>
              </a:rPr>
              <a:t>Webview panel</a:t>
            </a:r>
            <a:r>
              <a:rPr sz="1000" b="1" i="0">
                <a:solidFill>
                  <a:srgbClr val="0078D4"/>
                </a:solidFill>
                <a:latin typeface="Segoe UI"/>
              </a:rPr>
              <a:t>   for humans</a:t>
            </a:r>
          </a:p>
          <a:p>
            <a:pPr algn="l">
              <a:spcBef>
                <a:spcPts val="0"/>
              </a:spcBef>
              <a:spcAft>
                <a:spcPts val="0"/>
              </a:spcAft>
            </a:pPr>
            <a:r>
              <a:rPr sz="950" b="0" i="0">
                <a:solidFill>
                  <a:srgbClr val="605E5C"/>
                </a:solidFill>
                <a:latin typeface="Consolas"/>
              </a:rPr>
              <a:t>Home · Sessions · Traces · Metrics · Logs</a:t>
            </a:r>
          </a:p>
        </p:txBody>
      </p:sp>
      <p:sp>
        <p:nvSpPr>
          <p:cNvPr id="30" name="Rounded Rectangle 29"/>
          <p:cNvSpPr/>
          <p:nvPr/>
        </p:nvSpPr>
        <p:spPr>
          <a:xfrm>
            <a:off x="6199632" y="5468112"/>
            <a:ext cx="5330952" cy="640080"/>
          </a:xfrm>
          <a:prstGeom prst="roundRect">
            <a:avLst>
              <a:gd name="adj" fmla="val 6000"/>
            </a:avLst>
          </a:prstGeom>
          <a:solidFill>
            <a:srgbClr val="FFFFFF"/>
          </a:solidFill>
          <a:ln w="19050">
            <a:solidFill>
              <a:srgbClr val="0E700E"/>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a:lstStyle/>
          <a:p>
            <a:pPr algn="l">
              <a:spcBef>
                <a:spcPts val="0"/>
              </a:spcBef>
              <a:spcAft>
                <a:spcPts val="200"/>
              </a:spcAft>
            </a:pPr>
            <a:r>
              <a:rPr sz="1250" b="1" i="0">
                <a:solidFill>
                  <a:srgbClr val="14243E"/>
                </a:solidFill>
                <a:latin typeface="Segoe UI"/>
              </a:rPr>
              <a:t>12 language-model tools + 1 skill</a:t>
            </a:r>
            <a:r>
              <a:rPr sz="1000" b="1" i="0">
                <a:solidFill>
                  <a:srgbClr val="0E700E"/>
                </a:solidFill>
                <a:latin typeface="Segoe UI"/>
              </a:rPr>
              <a:t>   for agents</a:t>
            </a:r>
          </a:p>
          <a:p>
            <a:pPr algn="l">
              <a:spcBef>
                <a:spcPts val="0"/>
              </a:spcBef>
              <a:spcAft>
                <a:spcPts val="0"/>
              </a:spcAft>
            </a:pPr>
            <a:r>
              <a:rPr sz="950" b="0" i="0">
                <a:solidFill>
                  <a:srgbClr val="605E5C"/>
                </a:solidFill>
                <a:latin typeface="Consolas"/>
              </a:rPr>
              <a:t>#agentSession  #agentTranscript  #agentService  …</a:t>
            </a:r>
          </a:p>
        </p:txBody>
      </p:sp>
      <p:sp>
        <p:nvSpPr>
          <p:cNvPr id="31" name="TextBox 30"/>
          <p:cNvSpPr txBox="1"/>
          <p:nvPr/>
        </p:nvSpPr>
        <p:spPr>
          <a:xfrm>
            <a:off x="658368" y="6163056"/>
            <a:ext cx="10872216" cy="274320"/>
          </a:xfrm>
          <a:prstGeom prst="rect">
            <a:avLst/>
          </a:prstGeom>
          <a:noFill/>
        </p:spPr>
        <p:txBody>
          <a:bodyPr wrap="square" lIns="0" rIns="0" tIns="0" bIns="0" anchor="t">
            <a:spAutoFit/>
          </a:bodyPr>
          <a:lstStyle/>
          <a:p>
            <a:pPr algn="ctr">
              <a:spcBef>
                <a:spcPts val="0"/>
              </a:spcBef>
              <a:spcAft>
                <a:spcPts val="0"/>
              </a:spcAft>
            </a:pPr>
            <a:r>
              <a:rPr sz="1200" b="1" i="0">
                <a:solidFill>
                  <a:srgbClr val="0E700E"/>
                </a:solidFill>
                <a:latin typeface="Segoe UI"/>
              </a:rPr>
              <a:t>↔  </a:t>
            </a:r>
            <a:r>
              <a:rPr sz="1000" b="1" i="0">
                <a:solidFill>
                  <a:srgbClr val="14243E"/>
                </a:solidFill>
                <a:latin typeface="Segoe UI"/>
              </a:rPr>
              <a:t>both directions: </a:t>
            </a:r>
            <a:r>
              <a:rPr sz="1000" b="0" i="0">
                <a:solidFill>
                  <a:srgbClr val="605E5C"/>
                </a:solidFill>
                <a:latin typeface="Segoe UI"/>
              </a:rPr>
              <a:t>every tool result carries a deeplink  </a:t>
            </a:r>
            <a:r>
              <a:rPr sz="1000" b="0" i="0">
                <a:solidFill>
                  <a:srgbClr val="0078D4"/>
                </a:solidFill>
                <a:latin typeface="Consolas"/>
              </a:rPr>
              <a:t>vscode://…/navigate?sessionId=…</a:t>
            </a:r>
            <a:r>
              <a:rPr sz="1000" b="0" i="0">
                <a:solidFill>
                  <a:srgbClr val="605E5C"/>
                </a:solidFill>
                <a:latin typeface="Segoe UI"/>
              </a:rPr>
              <a:t>  ·  and “+ chat” stages a pre-built query back into the chat input</a:t>
            </a:r>
          </a:p>
        </p:txBody>
      </p:sp>
      <p:sp>
        <p:nvSpPr>
          <p:cNvPr id="32" name="TextBox 31"/>
          <p:cNvSpPr txBox="1"/>
          <p:nvPr/>
        </p:nvSpPr>
        <p:spPr>
          <a:xfrm>
            <a:off x="658368" y="6382512"/>
            <a:ext cx="8686800" cy="237744"/>
          </a:xfrm>
          <a:prstGeom prst="rect">
            <a:avLst/>
          </a:prstGeom>
          <a:noFill/>
        </p:spPr>
        <p:txBody>
          <a:bodyPr wrap="square" lIns="0" rIns="0" tIns="0" bIns="0" anchor="t">
            <a:spAutoFit/>
          </a:bodyPr>
          <a:lstStyle/>
          <a:p>
            <a:pPr algn="l">
              <a:spcBef>
                <a:spcPts val="0"/>
              </a:spcBef>
              <a:spcAft>
                <a:spcPts val="0"/>
              </a:spcAft>
            </a:pPr>
            <a:r>
              <a:rPr sz="900" b="0" i="0">
                <a:solidFill>
                  <a:srgbClr val="8A8886"/>
                </a:solidFill>
                <a:latin typeface="Segoe UI"/>
              </a:rPr>
              <a:t>Microsoft  ·  Agent Insights</a:t>
            </a:r>
          </a:p>
        </p:txBody>
      </p:sp>
      <p:sp>
        <p:nvSpPr>
          <p:cNvPr id="33" name="TextBox 32"/>
          <p:cNvSpPr txBox="1"/>
          <p:nvPr/>
        </p:nvSpPr>
        <p:spPr>
          <a:xfrm>
            <a:off x="10835640" y="6382512"/>
            <a:ext cx="694944" cy="237744"/>
          </a:xfrm>
          <a:prstGeom prst="rect">
            <a:avLst/>
          </a:prstGeom>
          <a:noFill/>
        </p:spPr>
        <p:txBody>
          <a:bodyPr wrap="square" lIns="0" rIns="0" tIns="0" bIns="0" anchor="t">
            <a:spAutoFit/>
          </a:bodyPr>
          <a:lstStyle/>
          <a:p>
            <a:pPr algn="r">
              <a:spcBef>
                <a:spcPts val="0"/>
              </a:spcBef>
              <a:spcAft>
                <a:spcPts val="0"/>
              </a:spcAft>
            </a:pPr>
            <a:r>
              <a:rPr sz="900" b="0" i="0">
                <a:solidFill>
                  <a:srgbClr val="8A8886"/>
                </a:solidFill>
                <a:latin typeface="Segoe U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47925" cy="685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47923" y="0"/>
            <a:ext cx="3047925" cy="68580"/>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6095847" y="0"/>
            <a:ext cx="3047925" cy="6858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143771" y="0"/>
            <a:ext cx="3047925" cy="68580"/>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384048"/>
            <a:ext cx="10872216" cy="237744"/>
          </a:xfrm>
          <a:prstGeom prst="rect">
            <a:avLst/>
          </a:prstGeom>
          <a:noFill/>
        </p:spPr>
        <p:txBody>
          <a:bodyPr wrap="square" lIns="0" rIns="0" tIns="0" bIns="0" anchor="t">
            <a:spAutoFit/>
          </a:bodyPr>
          <a:lstStyle/>
          <a:p>
            <a:pPr algn="l">
              <a:spcBef>
                <a:spcPts val="0"/>
              </a:spcBef>
              <a:spcAft>
                <a:spcPts val="0"/>
              </a:spcAft>
            </a:pPr>
            <a:r>
              <a:rPr sz="1050" b="1" i="0">
                <a:solidFill>
                  <a:srgbClr val="0078D4"/>
                </a:solidFill>
                <a:latin typeface="Segoe UI Semibold"/>
              </a:rPr>
              <a:t>03  APPROACH · THE CONTRIBUTION</a:t>
            </a:r>
          </a:p>
        </p:txBody>
      </p:sp>
      <p:sp>
        <p:nvSpPr>
          <p:cNvPr id="7" name="TextBox 6"/>
          <p:cNvSpPr txBox="1"/>
          <p:nvPr/>
        </p:nvSpPr>
        <p:spPr>
          <a:xfrm>
            <a:off x="658368" y="658368"/>
            <a:ext cx="10872216" cy="502920"/>
          </a:xfrm>
          <a:prstGeom prst="rect">
            <a:avLst/>
          </a:prstGeom>
          <a:noFill/>
        </p:spPr>
        <p:txBody>
          <a:bodyPr wrap="square" lIns="0" rIns="0" tIns="0" bIns="0" anchor="t">
            <a:spAutoFit/>
          </a:bodyPr>
          <a:lstStyle/>
          <a:p>
            <a:pPr algn="l">
              <a:spcBef>
                <a:spcPts val="0"/>
              </a:spcBef>
              <a:spcAft>
                <a:spcPts val="0"/>
              </a:spcAft>
            </a:pPr>
            <a:r>
              <a:rPr sz="2900" b="0" i="0">
                <a:solidFill>
                  <a:srgbClr val="14243E"/>
                </a:solidFill>
                <a:latin typeface="Segoe UI Light"/>
              </a:rPr>
              <a:t>Normalization — the token problem</a:t>
            </a:r>
          </a:p>
        </p:txBody>
      </p:sp>
      <p:sp>
        <p:nvSpPr>
          <p:cNvPr id="8" name="TextBox 7"/>
          <p:cNvSpPr txBox="1"/>
          <p:nvPr/>
        </p:nvSpPr>
        <p:spPr>
          <a:xfrm>
            <a:off x="658368" y="1207008"/>
            <a:ext cx="10872216" cy="329184"/>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605E5C"/>
                </a:solidFill>
                <a:latin typeface="Segoe UI"/>
              </a:rPr>
              <a:t>One worked example of the pattern: three incompatible counting schemes, one honest number.</a:t>
            </a:r>
          </a:p>
        </p:txBody>
      </p:sp>
      <p:sp>
        <p:nvSpPr>
          <p:cNvPr id="9" name="Rectangle 8"/>
          <p:cNvSpPr/>
          <p:nvPr/>
        </p:nvSpPr>
        <p:spPr>
          <a:xfrm>
            <a:off x="658368" y="1591056"/>
            <a:ext cx="960120" cy="320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58368" y="1737360"/>
            <a:ext cx="3502152" cy="1572768"/>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82880"/>
          <a:lstStyle/>
          <a:p>
            <a:pPr algn="l">
              <a:spcBef>
                <a:spcPts val="0"/>
              </a:spcBef>
              <a:spcAft>
                <a:spcPts val="600"/>
              </a:spcAft>
            </a:pPr>
            <a:r>
              <a:rPr sz="1350" b="1" i="0">
                <a:solidFill>
                  <a:srgbClr val="14243E"/>
                </a:solidFill>
                <a:latin typeface="Segoe UI"/>
              </a:rPr>
              <a:t>OTel semconv</a:t>
            </a:r>
            <a:r>
              <a:rPr sz="1000" b="1" i="0">
                <a:solidFill>
                  <a:srgbClr val="0078D4"/>
                </a:solidFill>
                <a:latin typeface="Segoe UI"/>
              </a:rPr>
              <a:t>    Copilot · Codex</a:t>
            </a:r>
          </a:p>
          <a:p>
            <a:pPr algn="l">
              <a:lnSpc>
                <a:spcPct val="120000"/>
              </a:lnSpc>
              <a:spcBef>
                <a:spcPts val="0"/>
              </a:spcBef>
              <a:spcAft>
                <a:spcPts val="700"/>
              </a:spcAft>
            </a:pPr>
            <a:r>
              <a:rPr sz="1150" b="1" i="0">
                <a:solidFill>
                  <a:srgbClr val="0078D4"/>
                </a:solidFill>
                <a:latin typeface="Segoe UI"/>
              </a:rPr>
              <a:t>cache_read ⊆ input</a:t>
            </a:r>
          </a:p>
          <a:p>
            <a:pPr algn="l">
              <a:lnSpc>
                <a:spcPct val="120000"/>
              </a:lnSpc>
              <a:spcBef>
                <a:spcPts val="0"/>
              </a:spcBef>
              <a:spcAft>
                <a:spcPts val="400"/>
              </a:spcAft>
            </a:pPr>
            <a:r>
              <a:rPr sz="1050" b="0" i="0">
                <a:solidFill>
                  <a:srgbClr val="1B1A19"/>
                </a:solidFill>
                <a:latin typeface="Consolas"/>
              </a:rPr>
              <a:t>prompt = input</a:t>
            </a:r>
          </a:p>
          <a:p>
            <a:pPr algn="l">
              <a:lnSpc>
                <a:spcPct val="120000"/>
              </a:lnSpc>
              <a:spcBef>
                <a:spcPts val="0"/>
              </a:spcBef>
              <a:spcAft>
                <a:spcPts val="0"/>
              </a:spcAft>
            </a:pPr>
            <a:r>
              <a:rPr sz="1050" b="0" i="0">
                <a:solidFill>
                  <a:srgbClr val="605E5C"/>
                </a:solidFill>
                <a:latin typeface="Consolas"/>
              </a:rPr>
              <a:t>already counted</a:t>
            </a:r>
          </a:p>
        </p:txBody>
      </p:sp>
      <p:sp>
        <p:nvSpPr>
          <p:cNvPr id="11" name="Rectangle 10"/>
          <p:cNvSpPr/>
          <p:nvPr/>
        </p:nvSpPr>
        <p:spPr>
          <a:xfrm>
            <a:off x="658368" y="1737360"/>
            <a:ext cx="3502152" cy="50292"/>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4343400" y="1737360"/>
            <a:ext cx="3502152" cy="1572768"/>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82880"/>
          <a:lstStyle/>
          <a:p>
            <a:pPr algn="l">
              <a:spcBef>
                <a:spcPts val="0"/>
              </a:spcBef>
              <a:spcAft>
                <a:spcPts val="600"/>
              </a:spcAft>
            </a:pPr>
            <a:r>
              <a:rPr sz="1350" b="1" i="0">
                <a:solidFill>
                  <a:srgbClr val="14243E"/>
                </a:solidFill>
                <a:latin typeface="Segoe UI"/>
              </a:rPr>
              <a:t>Anthropic</a:t>
            </a:r>
            <a:r>
              <a:rPr sz="1000" b="1" i="0">
                <a:solidFill>
                  <a:srgbClr val="E87C00"/>
                </a:solidFill>
                <a:latin typeface="Segoe UI"/>
              </a:rPr>
              <a:t>    Claude Code</a:t>
            </a:r>
          </a:p>
          <a:p>
            <a:pPr algn="l">
              <a:lnSpc>
                <a:spcPct val="120000"/>
              </a:lnSpc>
              <a:spcBef>
                <a:spcPts val="0"/>
              </a:spcBef>
              <a:spcAft>
                <a:spcPts val="700"/>
              </a:spcAft>
            </a:pPr>
            <a:r>
              <a:rPr sz="1150" b="1" i="0">
                <a:solidFill>
                  <a:srgbClr val="E87C00"/>
                </a:solidFill>
                <a:latin typeface="Segoe UI"/>
              </a:rPr>
              <a:t>cache is ADDITIVE, not a subset</a:t>
            </a:r>
          </a:p>
          <a:p>
            <a:pPr algn="l">
              <a:lnSpc>
                <a:spcPct val="120000"/>
              </a:lnSpc>
              <a:spcBef>
                <a:spcPts val="0"/>
              </a:spcBef>
              <a:spcAft>
                <a:spcPts val="400"/>
              </a:spcAft>
            </a:pPr>
            <a:r>
              <a:rPr sz="1050" b="0" i="0">
                <a:solidFill>
                  <a:srgbClr val="1B1A19"/>
                </a:solidFill>
                <a:latin typeface="Consolas"/>
              </a:rPr>
              <a:t>prompt = input + cache_read</a:t>
            </a:r>
          </a:p>
          <a:p>
            <a:pPr algn="l">
              <a:lnSpc>
                <a:spcPct val="120000"/>
              </a:lnSpc>
              <a:spcBef>
                <a:spcPts val="0"/>
              </a:spcBef>
              <a:spcAft>
                <a:spcPts val="0"/>
              </a:spcAft>
            </a:pPr>
            <a:r>
              <a:rPr sz="1050" b="0" i="0">
                <a:solidFill>
                  <a:srgbClr val="605E5C"/>
                </a:solidFill>
                <a:latin typeface="Consolas"/>
              </a:rPr>
              <a:t>         + cache_creation</a:t>
            </a:r>
          </a:p>
        </p:txBody>
      </p:sp>
      <p:sp>
        <p:nvSpPr>
          <p:cNvPr id="13" name="Rectangle 12"/>
          <p:cNvSpPr/>
          <p:nvPr/>
        </p:nvSpPr>
        <p:spPr>
          <a:xfrm>
            <a:off x="4343400" y="1737360"/>
            <a:ext cx="3502152" cy="50292"/>
          </a:xfrm>
          <a:prstGeom prst="rect">
            <a:avLst/>
          </a:prstGeom>
          <a:solidFill>
            <a:srgbClr val="E87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8028432" y="1737360"/>
            <a:ext cx="3502152" cy="1572768"/>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82880"/>
          <a:lstStyle/>
          <a:p>
            <a:pPr algn="l">
              <a:spcBef>
                <a:spcPts val="0"/>
              </a:spcBef>
              <a:spcAft>
                <a:spcPts val="600"/>
              </a:spcAft>
            </a:pPr>
            <a:r>
              <a:rPr sz="1350" b="1" i="0">
                <a:solidFill>
                  <a:srgbClr val="14243E"/>
                </a:solidFill>
                <a:latin typeface="Segoe UI"/>
              </a:rPr>
              <a:t>Rollup spans</a:t>
            </a:r>
            <a:r>
              <a:rPr sz="1000" b="1" i="0">
                <a:solidFill>
                  <a:srgbClr val="E3008C"/>
                </a:solidFill>
                <a:latin typeface="Segoe UI"/>
              </a:rPr>
              <a:t>    Copilot · Codex</a:t>
            </a:r>
          </a:p>
          <a:p>
            <a:pPr algn="l">
              <a:lnSpc>
                <a:spcPct val="120000"/>
              </a:lnSpc>
              <a:spcBef>
                <a:spcPts val="0"/>
              </a:spcBef>
              <a:spcAft>
                <a:spcPts val="700"/>
              </a:spcAft>
            </a:pPr>
            <a:r>
              <a:rPr sz="1150" b="1" i="0">
                <a:solidFill>
                  <a:srgbClr val="E3008C"/>
                </a:solidFill>
                <a:latin typeface="Segoe UI"/>
              </a:rPr>
              <a:t>parents re-report their children</a:t>
            </a:r>
          </a:p>
          <a:p>
            <a:pPr algn="l">
              <a:lnSpc>
                <a:spcPct val="120000"/>
              </a:lnSpc>
              <a:spcBef>
                <a:spcPts val="0"/>
              </a:spcBef>
              <a:spcAft>
                <a:spcPts val="400"/>
              </a:spcAft>
            </a:pPr>
            <a:r>
              <a:rPr sz="1050" b="0" i="0">
                <a:solidFill>
                  <a:srgbClr val="1B1A19"/>
                </a:solidFill>
                <a:latin typeface="Consolas"/>
              </a:rPr>
              <a:t>one call counted twice</a:t>
            </a:r>
          </a:p>
          <a:p>
            <a:pPr algn="l">
              <a:lnSpc>
                <a:spcPct val="120000"/>
              </a:lnSpc>
              <a:spcBef>
                <a:spcPts val="0"/>
              </a:spcBef>
              <a:spcAft>
                <a:spcPts val="0"/>
              </a:spcAft>
            </a:pPr>
            <a:r>
              <a:rPr sz="1050" b="0" i="0">
                <a:solidFill>
                  <a:srgbClr val="605E5C"/>
                </a:solidFill>
                <a:latin typeface="Consolas"/>
              </a:rPr>
              <a:t>silently</a:t>
            </a:r>
          </a:p>
        </p:txBody>
      </p:sp>
      <p:sp>
        <p:nvSpPr>
          <p:cNvPr id="15" name="Rectangle 14"/>
          <p:cNvSpPr/>
          <p:nvPr/>
        </p:nvSpPr>
        <p:spPr>
          <a:xfrm>
            <a:off x="8028432" y="1737360"/>
            <a:ext cx="3502152" cy="50292"/>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58368" y="3529584"/>
            <a:ext cx="10872216" cy="274320"/>
          </a:xfrm>
          <a:prstGeom prst="rect">
            <a:avLst/>
          </a:prstGeom>
          <a:noFill/>
        </p:spPr>
        <p:txBody>
          <a:bodyPr wrap="square" lIns="0" rIns="0" tIns="0" bIns="0" anchor="t">
            <a:spAutoFit/>
          </a:bodyPr>
          <a:lstStyle/>
          <a:p>
            <a:pPr algn="l">
              <a:spcBef>
                <a:spcPts val="0"/>
              </a:spcBef>
              <a:spcAft>
                <a:spcPts val="0"/>
              </a:spcAft>
            </a:pPr>
            <a:r>
              <a:rPr sz="1050" b="1" i="0">
                <a:solidFill>
                  <a:srgbClr val="00B7C3"/>
                </a:solidFill>
                <a:latin typeface="Segoe UI Semibold"/>
              </a:rPr>
              <a:t>HOW IT RESOLVES — ONE FACT TABLE, WRITTEN AT INSERT TIME</a:t>
            </a:r>
          </a:p>
        </p:txBody>
      </p:sp>
      <p:sp>
        <p:nvSpPr>
          <p:cNvPr id="17" name="Rounded Rectangle 16"/>
          <p:cNvSpPr/>
          <p:nvPr/>
        </p:nvSpPr>
        <p:spPr>
          <a:xfrm>
            <a:off x="658368" y="3840480"/>
            <a:ext cx="5852160" cy="1554480"/>
          </a:xfrm>
          <a:prstGeom prst="roundRect">
            <a:avLst>
              <a:gd name="adj" fmla="val 3000"/>
            </a:avLst>
          </a:prstGeom>
          <a:solidFill>
            <a:srgbClr val="14243E"/>
          </a:solidFill>
          <a:ln w="12700">
            <a:solidFill>
              <a:srgbClr val="14243E"/>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lnSpc>
                <a:spcPct val="116000"/>
              </a:lnSpc>
              <a:spcBef>
                <a:spcPts val="0"/>
              </a:spcBef>
              <a:spcAft>
                <a:spcPts val="100"/>
              </a:spcAft>
            </a:pPr>
            <a:r>
              <a:rPr sz="1100" b="1" i="0">
                <a:solidFill>
                  <a:srgbClr val="50E6FF"/>
                </a:solidFill>
                <a:latin typeface="Consolas"/>
              </a:rPr>
              <a:t>token_facts</a:t>
            </a:r>
            <a:r>
              <a:rPr sz="1100" b="0" i="0">
                <a:solidFill>
                  <a:srgbClr val="7A93B8"/>
                </a:solidFill>
                <a:latin typeface="Consolas"/>
              </a:rPr>
              <a:t>  — one row per span, exempt from retention</a:t>
            </a:r>
          </a:p>
          <a:p>
            <a:pPr algn="l">
              <a:lnSpc>
                <a:spcPct val="116000"/>
              </a:lnSpc>
              <a:spcBef>
                <a:spcPts val="0"/>
              </a:spcBef>
              <a:spcAft>
                <a:spcPts val="100"/>
              </a:spcAft>
            </a:pPr>
            <a:r>
              <a:rPr sz="1100" b="0" i="0">
                <a:solidFill>
                  <a:srgbClr val="E8EEF7"/>
                </a:solidFill>
                <a:latin typeface="Consolas"/>
              </a:rPr>
              <a:t>  input · output · cache_read · cache_creation · model</a:t>
            </a:r>
          </a:p>
          <a:p>
            <a:pPr algn="l">
              <a:lnSpc>
                <a:spcPct val="116000"/>
              </a:lnSpc>
              <a:spcBef>
                <a:spcPts val="0"/>
              </a:spcBef>
              <a:spcAft>
                <a:spcPts val="100"/>
              </a:spcAft>
            </a:pPr>
            <a:r>
              <a:rPr sz="1100" b="0" i="0">
                <a:solidFill>
                  <a:srgbClr val="E87C00"/>
                </a:solidFill>
                <a:latin typeface="Consolas"/>
              </a:rPr>
              <a:t>  is_additive</a:t>
            </a:r>
            <a:r>
              <a:rPr sz="1100" b="0" i="0">
                <a:solidFill>
                  <a:srgbClr val="7A93B8"/>
                </a:solidFill>
                <a:latin typeface="Consolas"/>
              </a:rPr>
              <a:t>   ← set when Anthropic’s bare</a:t>
            </a:r>
          </a:p>
          <a:p>
            <a:pPr algn="l">
              <a:lnSpc>
                <a:spcPct val="116000"/>
              </a:lnSpc>
              <a:spcBef>
                <a:spcPts val="0"/>
              </a:spcBef>
              <a:spcAft>
                <a:spcPts val="100"/>
              </a:spcAft>
            </a:pPr>
            <a:r>
              <a:rPr sz="1100" b="0" i="0">
                <a:solidFill>
                  <a:srgbClr val="7A93B8"/>
                </a:solidFill>
                <a:latin typeface="Consolas"/>
              </a:rPr>
              <a:t>                    cache_*_tokens keys appear</a:t>
            </a:r>
          </a:p>
          <a:p>
            <a:pPr algn="l">
              <a:lnSpc>
                <a:spcPct val="116000"/>
              </a:lnSpc>
              <a:spcBef>
                <a:spcPts val="0"/>
              </a:spcBef>
              <a:spcAft>
                <a:spcPts val="100"/>
              </a:spcAft>
            </a:pPr>
            <a:r>
              <a:rPr sz="1100" b="0" i="0">
                <a:solidFill>
                  <a:srgbClr val="E8EEF7"/>
                </a:solidFill>
                <a:latin typeface="Consolas"/>
              </a:rPr>
              <a:t/>
            </a:r>
          </a:p>
          <a:p>
            <a:pPr algn="l">
              <a:lnSpc>
                <a:spcPct val="116000"/>
              </a:lnSpc>
              <a:spcBef>
                <a:spcPts val="0"/>
              </a:spcBef>
              <a:spcAft>
                <a:spcPts val="100"/>
              </a:spcAft>
            </a:pPr>
            <a:r>
              <a:rPr sz="1100" b="0" i="0">
                <a:solidFill>
                  <a:srgbClr val="50E6FF"/>
                </a:solidFill>
                <a:latin typeface="Consolas"/>
              </a:rPr>
              <a:t>CASE WHEN</a:t>
            </a:r>
            <a:r>
              <a:rPr sz="1100" b="0" i="0">
                <a:solidFill>
                  <a:srgbClr val="E8EEF7"/>
                </a:solidFill>
                <a:latin typeface="Consolas"/>
              </a:rPr>
              <a:t> is_additive </a:t>
            </a:r>
            <a:r>
              <a:rPr sz="1100" b="0" i="0">
                <a:solidFill>
                  <a:srgbClr val="50E6FF"/>
                </a:solidFill>
                <a:latin typeface="Consolas"/>
              </a:rPr>
              <a:t>THEN</a:t>
            </a:r>
            <a:r>
              <a:rPr sz="1100" b="0" i="0">
                <a:solidFill>
                  <a:srgbClr val="E8EEF7"/>
                </a:solidFill>
                <a:latin typeface="Consolas"/>
              </a:rPr>
              <a:t> input+read+creation</a:t>
            </a:r>
          </a:p>
          <a:p>
            <a:pPr algn="l">
              <a:lnSpc>
                <a:spcPct val="116000"/>
              </a:lnSpc>
              <a:spcBef>
                <a:spcPts val="0"/>
              </a:spcBef>
              <a:spcAft>
                <a:spcPts val="100"/>
              </a:spcAft>
            </a:pPr>
            <a:r>
              <a:rPr sz="1100" b="0" i="0">
                <a:solidFill>
                  <a:srgbClr val="E8EEF7"/>
                </a:solidFill>
                <a:latin typeface="Consolas"/>
              </a:rPr>
              <a:t>                        </a:t>
            </a:r>
            <a:r>
              <a:rPr sz="1100" b="0" i="0">
                <a:solidFill>
                  <a:srgbClr val="50E6FF"/>
                </a:solidFill>
                <a:latin typeface="Consolas"/>
              </a:rPr>
              <a:t>ELSE</a:t>
            </a:r>
            <a:r>
              <a:rPr sz="1100" b="0" i="0">
                <a:solidFill>
                  <a:srgbClr val="E8EEF7"/>
                </a:solidFill>
                <a:latin typeface="Consolas"/>
              </a:rPr>
              <a:t> input </a:t>
            </a:r>
            <a:r>
              <a:rPr sz="1100" b="0" i="0">
                <a:solidFill>
                  <a:srgbClr val="50E6FF"/>
                </a:solidFill>
                <a:latin typeface="Consolas"/>
              </a:rPr>
              <a:t>END</a:t>
            </a:r>
            <a:r>
              <a:rPr sz="1100" b="0" i="0">
                <a:solidFill>
                  <a:srgbClr val="E8EEF7"/>
                </a:solidFill>
                <a:latin typeface="Consolas"/>
              </a:rPr>
              <a:t> AS prompt_tokens</a:t>
            </a:r>
          </a:p>
        </p:txBody>
      </p:sp>
      <p:sp>
        <p:nvSpPr>
          <p:cNvPr id="18" name="Rounded Rectangle 17"/>
          <p:cNvSpPr/>
          <p:nvPr/>
        </p:nvSpPr>
        <p:spPr>
          <a:xfrm>
            <a:off x="6748272" y="3474720"/>
            <a:ext cx="4782312" cy="621792"/>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lIns="219456" rIns="164592"/>
          <a:lstStyle/>
          <a:p>
            <a:pPr algn="l">
              <a:spcBef>
                <a:spcPts val="0"/>
              </a:spcBef>
              <a:spcAft>
                <a:spcPts val="200"/>
              </a:spcAft>
            </a:pPr>
            <a:r>
              <a:rPr sz="1150" b="1" i="0">
                <a:solidFill>
                  <a:srgbClr val="14243E"/>
                </a:solidFill>
                <a:latin typeface="Segoe UI"/>
              </a:rPr>
              <a:t>One key cascade</a:t>
            </a:r>
          </a:p>
          <a:p>
            <a:pPr algn="l">
              <a:lnSpc>
                <a:spcPct val="116000"/>
              </a:lnSpc>
              <a:spcBef>
                <a:spcPts val="0"/>
              </a:spcBef>
              <a:spcAft>
                <a:spcPts val="0"/>
              </a:spcAft>
            </a:pPr>
            <a:r>
              <a:rPr sz="950" b="0" i="0">
                <a:solidFill>
                  <a:srgbClr val="605E5C"/>
                </a:solidFill>
                <a:latin typeface="Segoe UI"/>
              </a:rPr>
              <a:t>Six vendor spellings per quantity collapse into one number.</a:t>
            </a:r>
          </a:p>
        </p:txBody>
      </p:sp>
      <p:sp>
        <p:nvSpPr>
          <p:cNvPr id="19" name="Rectangle 18"/>
          <p:cNvSpPr/>
          <p:nvPr/>
        </p:nvSpPr>
        <p:spPr>
          <a:xfrm>
            <a:off x="6748272" y="3474720"/>
            <a:ext cx="50292" cy="621792"/>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6748272" y="4169664"/>
            <a:ext cx="4782312" cy="621792"/>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lIns="219456" rIns="164592"/>
          <a:lstStyle/>
          <a:p>
            <a:pPr algn="l">
              <a:spcBef>
                <a:spcPts val="0"/>
              </a:spcBef>
              <a:spcAft>
                <a:spcPts val="200"/>
              </a:spcAft>
            </a:pPr>
            <a:r>
              <a:rPr sz="1150" b="1" i="0">
                <a:solidFill>
                  <a:srgbClr val="14243E"/>
                </a:solidFill>
                <a:latin typeface="Segoe UI"/>
              </a:rPr>
              <a:t>Rollups excluded</a:t>
            </a:r>
          </a:p>
          <a:p>
            <a:pPr algn="l">
              <a:lnSpc>
                <a:spcPct val="116000"/>
              </a:lnSpc>
              <a:spcBef>
                <a:spcPts val="0"/>
              </a:spcBef>
              <a:spcAft>
                <a:spcPts val="0"/>
              </a:spcAft>
            </a:pPr>
            <a:r>
              <a:rPr sz="950" b="0" i="0">
                <a:solidFill>
                  <a:srgbClr val="605E5C"/>
                </a:solidFill>
                <a:latin typeface="Segoe UI"/>
              </a:rPr>
              <a:t>Only real model calls contribute — parent spans never do.</a:t>
            </a:r>
          </a:p>
        </p:txBody>
      </p:sp>
      <p:sp>
        <p:nvSpPr>
          <p:cNvPr id="21" name="Rectangle 20"/>
          <p:cNvSpPr/>
          <p:nvPr/>
        </p:nvSpPr>
        <p:spPr>
          <a:xfrm>
            <a:off x="6748272" y="4169664"/>
            <a:ext cx="50292" cy="621792"/>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748272" y="4864608"/>
            <a:ext cx="4782312" cy="621792"/>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lIns="219456" rIns="164592"/>
          <a:lstStyle/>
          <a:p>
            <a:pPr algn="l">
              <a:spcBef>
                <a:spcPts val="0"/>
              </a:spcBef>
              <a:spcAft>
                <a:spcPts val="200"/>
              </a:spcAft>
            </a:pPr>
            <a:r>
              <a:rPr sz="1150" b="1" i="0">
                <a:solidFill>
                  <a:srgbClr val="14243E"/>
                </a:solidFill>
                <a:latin typeface="Segoe UI"/>
              </a:rPr>
              <a:t>Host spans contribute nothing</a:t>
            </a:r>
          </a:p>
          <a:p>
            <a:pPr algn="l">
              <a:lnSpc>
                <a:spcPct val="116000"/>
              </a:lnSpc>
              <a:spcBef>
                <a:spcPts val="0"/>
              </a:spcBef>
              <a:spcAft>
                <a:spcPts val="0"/>
              </a:spcAft>
            </a:pPr>
            <a:r>
              <a:rPr sz="950" b="0" i="0">
                <a:solidFill>
                  <a:srgbClr val="605E5C"/>
                </a:solidFill>
                <a:latin typeface="Segoe UI"/>
              </a:rPr>
              <a:t>Correlation wrappers can’t inflate a total.</a:t>
            </a:r>
          </a:p>
        </p:txBody>
      </p:sp>
      <p:sp>
        <p:nvSpPr>
          <p:cNvPr id="23" name="Rectangle 22"/>
          <p:cNvSpPr/>
          <p:nvPr/>
        </p:nvSpPr>
        <p:spPr>
          <a:xfrm>
            <a:off x="6748272" y="4864608"/>
            <a:ext cx="50292" cy="621792"/>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6748272" y="5559552"/>
            <a:ext cx="4782312" cy="621792"/>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lIns="219456" rIns="164592"/>
          <a:lstStyle/>
          <a:p>
            <a:pPr algn="l">
              <a:spcBef>
                <a:spcPts val="0"/>
              </a:spcBef>
              <a:spcAft>
                <a:spcPts val="200"/>
              </a:spcAft>
            </a:pPr>
            <a:r>
              <a:rPr sz="1150" b="1" i="0">
                <a:solidFill>
                  <a:srgbClr val="14243E"/>
                </a:solidFill>
                <a:latin typeface="Segoe UI"/>
              </a:rPr>
              <a:t>Missing model? Walk up.</a:t>
            </a:r>
          </a:p>
          <a:p>
            <a:pPr algn="l">
              <a:lnSpc>
                <a:spcPct val="116000"/>
              </a:lnSpc>
              <a:spcBef>
                <a:spcPts val="0"/>
              </a:spcBef>
              <a:spcAft>
                <a:spcPts val="0"/>
              </a:spcAft>
            </a:pPr>
            <a:r>
              <a:rPr sz="950" b="0" i="0">
                <a:solidFill>
                  <a:srgbClr val="605E5C"/>
                </a:solidFill>
                <a:latin typeface="Segoe UI"/>
              </a:rPr>
              <a:t>Codex puts tokens below the span that names the model.</a:t>
            </a:r>
          </a:p>
        </p:txBody>
      </p:sp>
      <p:sp>
        <p:nvSpPr>
          <p:cNvPr id="25" name="Rectangle 24"/>
          <p:cNvSpPr/>
          <p:nvPr/>
        </p:nvSpPr>
        <p:spPr>
          <a:xfrm>
            <a:off x="6748272" y="5559552"/>
            <a:ext cx="50292" cy="621792"/>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658368" y="5541264"/>
            <a:ext cx="5852160" cy="548640"/>
          </a:xfrm>
          <a:prstGeom prst="roundRect">
            <a:avLst>
              <a:gd name="adj" fmla="val 4500"/>
            </a:avLst>
          </a:prstGeom>
          <a:solidFill>
            <a:srgbClr val="DEECF9"/>
          </a:solidFill>
          <a:ln w="12700">
            <a:solidFill>
              <a:srgbClr val="DEECF9"/>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237744"/>
          <a:lstStyle/>
          <a:p>
            <a:pPr algn="l">
              <a:spcBef>
                <a:spcPts val="0"/>
              </a:spcBef>
              <a:spcAft>
                <a:spcPts val="0"/>
              </a:spcAft>
            </a:pPr>
            <a:r>
              <a:rPr sz="1150" b="0" i="0">
                <a:solidFill>
                  <a:srgbClr val="14243E"/>
                </a:solidFill>
                <a:latin typeface="Segoe UI"/>
              </a:rPr>
              <a:t>One test asserts all three at once: </a:t>
            </a:r>
            <a:r>
              <a:rPr sz="1150" b="1" i="0">
                <a:solidFill>
                  <a:srgbClr val="0078D4"/>
                </a:solidFill>
                <a:latin typeface="Consolas"/>
              </a:rPr>
              <a:t>292 input · 190 cached · 35 output · 3 calls</a:t>
            </a:r>
          </a:p>
        </p:txBody>
      </p:sp>
      <p:sp>
        <p:nvSpPr>
          <p:cNvPr id="27" name="TextBox 26"/>
          <p:cNvSpPr txBox="1"/>
          <p:nvPr/>
        </p:nvSpPr>
        <p:spPr>
          <a:xfrm>
            <a:off x="658368" y="6382512"/>
            <a:ext cx="8686800" cy="237744"/>
          </a:xfrm>
          <a:prstGeom prst="rect">
            <a:avLst/>
          </a:prstGeom>
          <a:noFill/>
        </p:spPr>
        <p:txBody>
          <a:bodyPr wrap="square" lIns="0" rIns="0" tIns="0" bIns="0" anchor="t">
            <a:spAutoFit/>
          </a:bodyPr>
          <a:lstStyle/>
          <a:p>
            <a:pPr algn="l">
              <a:spcBef>
                <a:spcPts val="0"/>
              </a:spcBef>
              <a:spcAft>
                <a:spcPts val="0"/>
              </a:spcAft>
            </a:pPr>
            <a:r>
              <a:rPr sz="900" b="0" i="0">
                <a:solidFill>
                  <a:srgbClr val="8A8886"/>
                </a:solidFill>
                <a:latin typeface="Segoe UI"/>
              </a:rPr>
              <a:t>Microsoft  ·  Agent Insights</a:t>
            </a:r>
          </a:p>
        </p:txBody>
      </p:sp>
      <p:sp>
        <p:nvSpPr>
          <p:cNvPr id="28" name="TextBox 27"/>
          <p:cNvSpPr txBox="1"/>
          <p:nvPr/>
        </p:nvSpPr>
        <p:spPr>
          <a:xfrm>
            <a:off x="10835640" y="6382512"/>
            <a:ext cx="694944" cy="237744"/>
          </a:xfrm>
          <a:prstGeom prst="rect">
            <a:avLst/>
          </a:prstGeom>
          <a:noFill/>
        </p:spPr>
        <p:txBody>
          <a:bodyPr wrap="square" lIns="0" rIns="0" tIns="0" bIns="0" anchor="t">
            <a:spAutoFit/>
          </a:bodyPr>
          <a:lstStyle/>
          <a:p>
            <a:pPr algn="r">
              <a:spcBef>
                <a:spcPts val="0"/>
              </a:spcBef>
              <a:spcAft>
                <a:spcPts val="0"/>
              </a:spcAft>
            </a:pPr>
            <a:r>
              <a:rPr sz="900" b="0" i="0">
                <a:solidFill>
                  <a:srgbClr val="8A8886"/>
                </a:solidFill>
                <a:latin typeface="Segoe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47925" cy="685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47923" y="0"/>
            <a:ext cx="3047925" cy="68580"/>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6095847" y="0"/>
            <a:ext cx="3047925" cy="6858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143771" y="0"/>
            <a:ext cx="3047925" cy="68580"/>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384048"/>
            <a:ext cx="10872216" cy="237744"/>
          </a:xfrm>
          <a:prstGeom prst="rect">
            <a:avLst/>
          </a:prstGeom>
          <a:noFill/>
        </p:spPr>
        <p:txBody>
          <a:bodyPr wrap="square" lIns="0" rIns="0" tIns="0" bIns="0" anchor="t">
            <a:spAutoFit/>
          </a:bodyPr>
          <a:lstStyle/>
          <a:p>
            <a:pPr algn="l">
              <a:spcBef>
                <a:spcPts val="0"/>
              </a:spcBef>
              <a:spcAft>
                <a:spcPts val="0"/>
              </a:spcAft>
            </a:pPr>
            <a:r>
              <a:rPr sz="1050" b="1" i="0">
                <a:solidFill>
                  <a:srgbClr val="0078D4"/>
                </a:solidFill>
                <a:latin typeface="Segoe UI Semibold"/>
              </a:rPr>
              <a:t>03  APPROACH · THE OUTPUT</a:t>
            </a:r>
          </a:p>
        </p:txBody>
      </p:sp>
      <p:sp>
        <p:nvSpPr>
          <p:cNvPr id="7" name="TextBox 6"/>
          <p:cNvSpPr txBox="1"/>
          <p:nvPr/>
        </p:nvSpPr>
        <p:spPr>
          <a:xfrm>
            <a:off x="658368" y="658368"/>
            <a:ext cx="10872216" cy="502920"/>
          </a:xfrm>
          <a:prstGeom prst="rect">
            <a:avLst/>
          </a:prstGeom>
          <a:noFill/>
        </p:spPr>
        <p:txBody>
          <a:bodyPr wrap="square" lIns="0" rIns="0" tIns="0" bIns="0" anchor="t">
            <a:spAutoFit/>
          </a:bodyPr>
          <a:lstStyle/>
          <a:p>
            <a:pPr algn="l">
              <a:spcBef>
                <a:spcPts val="0"/>
              </a:spcBef>
              <a:spcAft>
                <a:spcPts val="0"/>
              </a:spcAft>
            </a:pPr>
            <a:r>
              <a:rPr sz="2900" b="0" i="0">
                <a:solidFill>
                  <a:srgbClr val="14243E"/>
                </a:solidFill>
                <a:latin typeface="Segoe UI Light"/>
              </a:rPr>
              <a:t>One model out — what a session actually is</a:t>
            </a:r>
          </a:p>
        </p:txBody>
      </p:sp>
      <p:sp>
        <p:nvSpPr>
          <p:cNvPr id="8" name="TextBox 7"/>
          <p:cNvSpPr txBox="1"/>
          <p:nvPr/>
        </p:nvSpPr>
        <p:spPr>
          <a:xfrm>
            <a:off x="658368" y="1207008"/>
            <a:ext cx="10872216" cy="329184"/>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605E5C"/>
                </a:solidFill>
                <a:latin typeface="Segoe UI"/>
              </a:rPr>
              <a:t>The shape everything above produces, and the only shape the panel and the tools ever see.</a:t>
            </a:r>
          </a:p>
        </p:txBody>
      </p:sp>
      <p:sp>
        <p:nvSpPr>
          <p:cNvPr id="9" name="Rectangle 8"/>
          <p:cNvSpPr/>
          <p:nvPr/>
        </p:nvSpPr>
        <p:spPr>
          <a:xfrm>
            <a:off x="658368" y="1591056"/>
            <a:ext cx="960120" cy="320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58368" y="1773936"/>
            <a:ext cx="6309360" cy="3639312"/>
          </a:xfrm>
          <a:prstGeom prst="roundRect">
            <a:avLst>
              <a:gd name="adj" fmla="val 4500"/>
            </a:avLst>
          </a:prstGeom>
          <a:solidFill>
            <a:srgbClr val="F7F7F9"/>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58368" y="1773936"/>
            <a:ext cx="6309360" cy="420624"/>
          </a:xfrm>
          <a:prstGeom prst="roundRect">
            <a:avLst>
              <a:gd name="adj" fmla="val 4500"/>
            </a:avLst>
          </a:prstGeom>
          <a:solidFill>
            <a:srgbClr val="14243E"/>
          </a:solidFill>
          <a:ln w="12700">
            <a:solidFill>
              <a:srgbClr val="14243E"/>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a:lstStyle/>
          <a:p>
            <a:pPr algn="l">
              <a:spcBef>
                <a:spcPts val="0"/>
              </a:spcBef>
              <a:spcAft>
                <a:spcPts val="0"/>
              </a:spcAft>
            </a:pPr>
            <a:r>
              <a:rPr sz="1150" b="1" i="0">
                <a:solidFill>
                  <a:srgbClr val="FFFFFF"/>
                </a:solidFill>
                <a:latin typeface="Segoe UI Semibold"/>
              </a:rPr>
              <a:t>SESSION</a:t>
            </a:r>
            <a:r>
              <a:rPr sz="1050" b="0" i="0">
                <a:solidFill>
                  <a:srgbClr val="93A6C4"/>
                </a:solidFill>
                <a:latin typeface="Segoe UI"/>
              </a:rPr>
              <a:t>     agent · outcome · duration · total tokens · cache hit rate</a:t>
            </a:r>
          </a:p>
        </p:txBody>
      </p:sp>
      <p:sp>
        <p:nvSpPr>
          <p:cNvPr id="12" name="Rounded Rectangle 11"/>
          <p:cNvSpPr/>
          <p:nvPr/>
        </p:nvSpPr>
        <p:spPr>
          <a:xfrm>
            <a:off x="877824" y="2340864"/>
            <a:ext cx="5870448" cy="1371600"/>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877824" y="2340864"/>
            <a:ext cx="5870448" cy="4572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060704" y="2487168"/>
            <a:ext cx="5486400" cy="292608"/>
          </a:xfrm>
          <a:prstGeom prst="rect">
            <a:avLst/>
          </a:prstGeom>
          <a:noFill/>
        </p:spPr>
        <p:txBody>
          <a:bodyPr wrap="square" lIns="0" rIns="0" tIns="0" bIns="0" anchor="t">
            <a:spAutoFit/>
          </a:bodyPr>
          <a:lstStyle/>
          <a:p>
            <a:pPr algn="l">
              <a:spcBef>
                <a:spcPts val="0"/>
              </a:spcBef>
              <a:spcAft>
                <a:spcPts val="0"/>
              </a:spcAft>
            </a:pPr>
            <a:r>
              <a:rPr sz="1050" b="1" i="0">
                <a:solidFill>
                  <a:srgbClr val="0078D4"/>
                </a:solidFill>
                <a:latin typeface="Segoe UI Semibold"/>
              </a:rPr>
              <a:t>TURN 1</a:t>
            </a:r>
            <a:r>
              <a:rPr sz="1050" b="0" i="1">
                <a:solidFill>
                  <a:srgbClr val="605E5C"/>
                </a:solidFill>
                <a:latin typeface="Segoe UI"/>
              </a:rPr>
              <a:t>     “fix the flaky test”</a:t>
            </a:r>
          </a:p>
        </p:txBody>
      </p:sp>
      <p:sp>
        <p:nvSpPr>
          <p:cNvPr id="15" name="Rounded Rectangle 14"/>
          <p:cNvSpPr/>
          <p:nvPr/>
        </p:nvSpPr>
        <p:spPr>
          <a:xfrm>
            <a:off x="1060704" y="2944368"/>
            <a:ext cx="1874519" cy="457200"/>
          </a:xfrm>
          <a:prstGeom prst="roundRect">
            <a:avLst>
              <a:gd name="adj" fmla="val 4500"/>
            </a:avLst>
          </a:prstGeom>
          <a:solidFill>
            <a:srgbClr val="FFFFFF"/>
          </a:solidFill>
          <a:ln w="12700">
            <a:solidFill>
              <a:srgbClr val="8661C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a:lstStyle/>
          <a:p>
            <a:pPr algn="l">
              <a:lnSpc>
                <a:spcPct val="110000"/>
              </a:lnSpc>
              <a:spcBef>
                <a:spcPts val="0"/>
              </a:spcBef>
              <a:spcAft>
                <a:spcPts val="0"/>
              </a:spcAft>
            </a:pPr>
            <a:r>
              <a:rPr sz="950" b="1" i="0">
                <a:solidFill>
                  <a:srgbClr val="14243E"/>
                </a:solidFill>
                <a:latin typeface="Segoe UI"/>
              </a:rPr>
              <a:t>model call</a:t>
            </a:r>
          </a:p>
        </p:txBody>
      </p:sp>
      <p:sp>
        <p:nvSpPr>
          <p:cNvPr id="16" name="Rectangle 15"/>
          <p:cNvSpPr/>
          <p:nvPr/>
        </p:nvSpPr>
        <p:spPr>
          <a:xfrm>
            <a:off x="1060704" y="2944368"/>
            <a:ext cx="45720" cy="45720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3063239" y="2944368"/>
            <a:ext cx="1371600" cy="457200"/>
          </a:xfrm>
          <a:prstGeom prst="roundRect">
            <a:avLst>
              <a:gd name="adj" fmla="val 4500"/>
            </a:avLst>
          </a:prstGeom>
          <a:solidFill>
            <a:srgbClr val="FFFFFF"/>
          </a:solidFill>
          <a:ln w="12700">
            <a:solidFill>
              <a:srgbClr val="E87C0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a:lstStyle/>
          <a:p>
            <a:pPr algn="l">
              <a:lnSpc>
                <a:spcPct val="110000"/>
              </a:lnSpc>
              <a:spcBef>
                <a:spcPts val="0"/>
              </a:spcBef>
              <a:spcAft>
                <a:spcPts val="0"/>
              </a:spcAft>
            </a:pPr>
            <a:r>
              <a:rPr sz="950" b="1" i="0">
                <a:solidFill>
                  <a:srgbClr val="14243E"/>
                </a:solidFill>
                <a:latin typeface="Segoe UI"/>
              </a:rPr>
              <a:t>tool call · read_file</a:t>
            </a:r>
          </a:p>
        </p:txBody>
      </p:sp>
      <p:sp>
        <p:nvSpPr>
          <p:cNvPr id="18" name="Rectangle 17"/>
          <p:cNvSpPr/>
          <p:nvPr/>
        </p:nvSpPr>
        <p:spPr>
          <a:xfrm>
            <a:off x="3063239" y="2944368"/>
            <a:ext cx="45720" cy="457200"/>
          </a:xfrm>
          <a:prstGeom prst="rect">
            <a:avLst/>
          </a:prstGeom>
          <a:solidFill>
            <a:srgbClr val="E87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4562855" y="2944368"/>
            <a:ext cx="1371600" cy="457200"/>
          </a:xfrm>
          <a:prstGeom prst="roundRect">
            <a:avLst>
              <a:gd name="adj" fmla="val 4500"/>
            </a:avLst>
          </a:prstGeom>
          <a:solidFill>
            <a:srgbClr val="FFFFFF"/>
          </a:solidFill>
          <a:ln w="12700">
            <a:solidFill>
              <a:srgbClr val="E87C0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a:lstStyle/>
          <a:p>
            <a:pPr algn="l">
              <a:lnSpc>
                <a:spcPct val="110000"/>
              </a:lnSpc>
              <a:spcBef>
                <a:spcPts val="0"/>
              </a:spcBef>
              <a:spcAft>
                <a:spcPts val="0"/>
              </a:spcAft>
            </a:pPr>
            <a:r>
              <a:rPr sz="950" b="1" i="0">
                <a:solidFill>
                  <a:srgbClr val="14243E"/>
                </a:solidFill>
                <a:latin typeface="Segoe UI"/>
              </a:rPr>
              <a:t>tool call · edit_file</a:t>
            </a:r>
          </a:p>
        </p:txBody>
      </p:sp>
      <p:sp>
        <p:nvSpPr>
          <p:cNvPr id="20" name="Rectangle 19"/>
          <p:cNvSpPr/>
          <p:nvPr/>
        </p:nvSpPr>
        <p:spPr>
          <a:xfrm>
            <a:off x="4562855" y="2944368"/>
            <a:ext cx="45720" cy="457200"/>
          </a:xfrm>
          <a:prstGeom prst="rect">
            <a:avLst/>
          </a:prstGeom>
          <a:solidFill>
            <a:srgbClr val="E87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877824" y="3858768"/>
            <a:ext cx="5870448" cy="1371600"/>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877824" y="3858768"/>
            <a:ext cx="5870448" cy="4572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1060704" y="4005072"/>
            <a:ext cx="5486400" cy="292608"/>
          </a:xfrm>
          <a:prstGeom prst="rect">
            <a:avLst/>
          </a:prstGeom>
          <a:noFill/>
        </p:spPr>
        <p:txBody>
          <a:bodyPr wrap="square" lIns="0" rIns="0" tIns="0" bIns="0" anchor="t">
            <a:spAutoFit/>
          </a:bodyPr>
          <a:lstStyle/>
          <a:p>
            <a:pPr algn="l">
              <a:spcBef>
                <a:spcPts val="0"/>
              </a:spcBef>
              <a:spcAft>
                <a:spcPts val="0"/>
              </a:spcAft>
            </a:pPr>
            <a:r>
              <a:rPr sz="1050" b="1" i="0">
                <a:solidFill>
                  <a:srgbClr val="0078D4"/>
                </a:solidFill>
                <a:latin typeface="Segoe UI Semibold"/>
              </a:rPr>
              <a:t>TURN 2</a:t>
            </a:r>
            <a:r>
              <a:rPr sz="1050" b="0" i="1">
                <a:solidFill>
                  <a:srgbClr val="605E5C"/>
                </a:solidFill>
                <a:latin typeface="Segoe UI"/>
              </a:rPr>
              <a:t>     “now add a regression test”</a:t>
            </a:r>
          </a:p>
        </p:txBody>
      </p:sp>
      <p:sp>
        <p:nvSpPr>
          <p:cNvPr id="24" name="Rounded Rectangle 23"/>
          <p:cNvSpPr/>
          <p:nvPr/>
        </p:nvSpPr>
        <p:spPr>
          <a:xfrm>
            <a:off x="1060704" y="4462272"/>
            <a:ext cx="1874519" cy="457200"/>
          </a:xfrm>
          <a:prstGeom prst="roundRect">
            <a:avLst>
              <a:gd name="adj" fmla="val 4500"/>
            </a:avLst>
          </a:prstGeom>
          <a:solidFill>
            <a:srgbClr val="FFFFFF"/>
          </a:solidFill>
          <a:ln w="12700">
            <a:solidFill>
              <a:srgbClr val="8661C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a:lstStyle/>
          <a:p>
            <a:pPr algn="l">
              <a:lnSpc>
                <a:spcPct val="110000"/>
              </a:lnSpc>
              <a:spcBef>
                <a:spcPts val="0"/>
              </a:spcBef>
              <a:spcAft>
                <a:spcPts val="0"/>
              </a:spcAft>
            </a:pPr>
            <a:r>
              <a:rPr sz="950" b="1" i="0">
                <a:solidFill>
                  <a:srgbClr val="14243E"/>
                </a:solidFill>
                <a:latin typeface="Segoe UI"/>
              </a:rPr>
              <a:t>model call</a:t>
            </a:r>
          </a:p>
        </p:txBody>
      </p:sp>
      <p:sp>
        <p:nvSpPr>
          <p:cNvPr id="25" name="Rectangle 24"/>
          <p:cNvSpPr/>
          <p:nvPr/>
        </p:nvSpPr>
        <p:spPr>
          <a:xfrm>
            <a:off x="1060704" y="4462272"/>
            <a:ext cx="45720" cy="45720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3063239" y="4462272"/>
            <a:ext cx="1554480" cy="457200"/>
          </a:xfrm>
          <a:prstGeom prst="roundRect">
            <a:avLst>
              <a:gd name="adj" fmla="val 4500"/>
            </a:avLst>
          </a:prstGeom>
          <a:solidFill>
            <a:srgbClr val="FFFFFF"/>
          </a:solidFill>
          <a:ln w="12700">
            <a:solidFill>
              <a:srgbClr val="E87C0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a:lstStyle/>
          <a:p>
            <a:pPr algn="l">
              <a:lnSpc>
                <a:spcPct val="110000"/>
              </a:lnSpc>
              <a:spcBef>
                <a:spcPts val="0"/>
              </a:spcBef>
              <a:spcAft>
                <a:spcPts val="0"/>
              </a:spcAft>
            </a:pPr>
            <a:r>
              <a:rPr sz="950" b="1" i="0">
                <a:solidFill>
                  <a:srgbClr val="14243E"/>
                </a:solidFill>
                <a:latin typeface="Segoe UI"/>
              </a:rPr>
              <a:t>tool call · run_tests</a:t>
            </a:r>
          </a:p>
        </p:txBody>
      </p:sp>
      <p:sp>
        <p:nvSpPr>
          <p:cNvPr id="27" name="Rectangle 26"/>
          <p:cNvSpPr/>
          <p:nvPr/>
        </p:nvSpPr>
        <p:spPr>
          <a:xfrm>
            <a:off x="3063239" y="4462272"/>
            <a:ext cx="45720" cy="457200"/>
          </a:xfrm>
          <a:prstGeom prst="rect">
            <a:avLst/>
          </a:prstGeom>
          <a:solidFill>
            <a:srgbClr val="E87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58368" y="5522975"/>
            <a:ext cx="6309360" cy="365760"/>
          </a:xfrm>
          <a:prstGeom prst="rect">
            <a:avLst/>
          </a:prstGeom>
          <a:noFill/>
        </p:spPr>
        <p:txBody>
          <a:bodyPr wrap="square" lIns="0" rIns="0" tIns="0" bIns="0" anchor="t">
            <a:spAutoFit/>
          </a:bodyPr>
          <a:lstStyle/>
          <a:p>
            <a:pPr algn="l">
              <a:spcBef>
                <a:spcPts val="0"/>
              </a:spcBef>
              <a:spcAft>
                <a:spcPts val="0"/>
              </a:spcAft>
            </a:pPr>
            <a:r>
              <a:rPr sz="1100" b="1" i="0">
                <a:solidFill>
                  <a:srgbClr val="0078D4"/>
                </a:solidFill>
                <a:latin typeface="Segoe UI"/>
              </a:rPr>
              <a:t>Every number in the panel is an aggregate of this tree. </a:t>
            </a:r>
            <a:r>
              <a:rPr sz="1100" b="0" i="0">
                <a:solidFill>
                  <a:srgbClr val="605E5C"/>
                </a:solidFill>
                <a:latin typeface="Segoe UI"/>
              </a:rPr>
              <a:t>Nothing is stored twice.</a:t>
            </a:r>
          </a:p>
        </p:txBody>
      </p:sp>
      <p:sp>
        <p:nvSpPr>
          <p:cNvPr id="29" name="TextBox 28"/>
          <p:cNvSpPr txBox="1"/>
          <p:nvPr/>
        </p:nvSpPr>
        <p:spPr>
          <a:xfrm>
            <a:off x="7178040" y="1773936"/>
            <a:ext cx="4352544" cy="274320"/>
          </a:xfrm>
          <a:prstGeom prst="rect">
            <a:avLst/>
          </a:prstGeom>
          <a:noFill/>
        </p:spPr>
        <p:txBody>
          <a:bodyPr wrap="square" lIns="0" rIns="0" tIns="0" bIns="0" anchor="t">
            <a:spAutoFit/>
          </a:bodyPr>
          <a:lstStyle/>
          <a:p>
            <a:pPr algn="l">
              <a:spcBef>
                <a:spcPts val="0"/>
              </a:spcBef>
              <a:spcAft>
                <a:spcPts val="0"/>
              </a:spcAft>
            </a:pPr>
            <a:r>
              <a:rPr sz="1050" b="1" i="0">
                <a:solidFill>
                  <a:srgbClr val="E3008C"/>
                </a:solidFill>
                <a:latin typeface="Segoe UI Semibold"/>
              </a:rPr>
              <a:t>ONE CONCEPT, THREE SPELLINGS</a:t>
            </a:r>
          </a:p>
        </p:txBody>
      </p:sp>
      <p:sp>
        <p:nvSpPr>
          <p:cNvPr id="30" name="Rounded Rectangle 29"/>
          <p:cNvSpPr/>
          <p:nvPr/>
        </p:nvSpPr>
        <p:spPr>
          <a:xfrm>
            <a:off x="7178040" y="2121408"/>
            <a:ext cx="4352544" cy="658368"/>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7178040" y="2121408"/>
            <a:ext cx="50292" cy="658368"/>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397496" y="2212848"/>
            <a:ext cx="3968496" cy="566928"/>
          </a:xfrm>
          <a:prstGeom prst="rect">
            <a:avLst/>
          </a:prstGeom>
          <a:noFill/>
        </p:spPr>
        <p:txBody>
          <a:bodyPr wrap="square" lIns="0" rIns="0" tIns="0" bIns="0" anchor="t">
            <a:spAutoFit/>
          </a:bodyPr>
          <a:lstStyle/>
          <a:p>
            <a:pPr algn="l">
              <a:spcBef>
                <a:spcPts val="0"/>
              </a:spcBef>
              <a:spcAft>
                <a:spcPts val="200"/>
              </a:spcAft>
            </a:pPr>
            <a:r>
              <a:rPr sz="1150" b="1" i="0">
                <a:solidFill>
                  <a:srgbClr val="14243E"/>
                </a:solidFill>
                <a:latin typeface="Segoe UI"/>
              </a:rPr>
              <a:t>Session</a:t>
            </a:r>
          </a:p>
          <a:p>
            <a:pPr algn="l">
              <a:lnSpc>
                <a:spcPct val="116000"/>
              </a:lnSpc>
              <a:spcBef>
                <a:spcPts val="0"/>
              </a:spcBef>
              <a:spcAft>
                <a:spcPts val="0"/>
              </a:spcAft>
            </a:pPr>
            <a:r>
              <a:rPr sz="850" b="0" i="0">
                <a:solidFill>
                  <a:srgbClr val="605E5C"/>
                </a:solidFill>
                <a:latin typeface="Consolas"/>
              </a:rPr>
              <a:t>conversation.id  ·  session.id  ·  chat_session_id  ·  or nothing</a:t>
            </a:r>
          </a:p>
        </p:txBody>
      </p:sp>
      <p:sp>
        <p:nvSpPr>
          <p:cNvPr id="33" name="Rounded Rectangle 32"/>
          <p:cNvSpPr/>
          <p:nvPr/>
        </p:nvSpPr>
        <p:spPr>
          <a:xfrm>
            <a:off x="7178040" y="2834640"/>
            <a:ext cx="4352544" cy="658368"/>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7178040" y="2834640"/>
            <a:ext cx="50292" cy="658368"/>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397496" y="2926080"/>
            <a:ext cx="3968496" cy="566928"/>
          </a:xfrm>
          <a:prstGeom prst="rect">
            <a:avLst/>
          </a:prstGeom>
          <a:noFill/>
        </p:spPr>
        <p:txBody>
          <a:bodyPr wrap="square" lIns="0" rIns="0" tIns="0" bIns="0" anchor="t">
            <a:spAutoFit/>
          </a:bodyPr>
          <a:lstStyle/>
          <a:p>
            <a:pPr algn="l">
              <a:spcBef>
                <a:spcPts val="0"/>
              </a:spcBef>
              <a:spcAft>
                <a:spcPts val="200"/>
              </a:spcAft>
            </a:pPr>
            <a:r>
              <a:rPr sz="1150" b="1" i="0">
                <a:solidFill>
                  <a:srgbClr val="14243E"/>
                </a:solidFill>
                <a:latin typeface="Segoe UI"/>
              </a:rPr>
              <a:t>Turn</a:t>
            </a:r>
          </a:p>
          <a:p>
            <a:pPr algn="l">
              <a:lnSpc>
                <a:spcPct val="116000"/>
              </a:lnSpc>
              <a:spcBef>
                <a:spcPts val="0"/>
              </a:spcBef>
              <a:spcAft>
                <a:spcPts val="0"/>
              </a:spcAft>
            </a:pPr>
            <a:r>
              <a:rPr sz="850" b="0" i="0">
                <a:solidFill>
                  <a:srgbClr val="605E5C"/>
                </a:solidFill>
                <a:latin typeface="Consolas"/>
              </a:rPr>
              <a:t>one chat span  ·  api_request  ·  run_sampling_request</a:t>
            </a:r>
          </a:p>
        </p:txBody>
      </p:sp>
      <p:sp>
        <p:nvSpPr>
          <p:cNvPr id="36" name="Rounded Rectangle 35"/>
          <p:cNvSpPr/>
          <p:nvPr/>
        </p:nvSpPr>
        <p:spPr>
          <a:xfrm>
            <a:off x="7178040" y="3547872"/>
            <a:ext cx="4352544" cy="658368"/>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7178040" y="3547872"/>
            <a:ext cx="50292" cy="658368"/>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7397496" y="3639312"/>
            <a:ext cx="3968496" cy="566928"/>
          </a:xfrm>
          <a:prstGeom prst="rect">
            <a:avLst/>
          </a:prstGeom>
          <a:noFill/>
        </p:spPr>
        <p:txBody>
          <a:bodyPr wrap="square" lIns="0" rIns="0" tIns="0" bIns="0" anchor="t">
            <a:spAutoFit/>
          </a:bodyPr>
          <a:lstStyle/>
          <a:p>
            <a:pPr algn="l">
              <a:spcBef>
                <a:spcPts val="0"/>
              </a:spcBef>
              <a:spcAft>
                <a:spcPts val="200"/>
              </a:spcAft>
            </a:pPr>
            <a:r>
              <a:rPr sz="1150" b="1" i="0">
                <a:solidFill>
                  <a:srgbClr val="14243E"/>
                </a:solidFill>
                <a:latin typeface="Segoe UI"/>
              </a:rPr>
              <a:t>Model call</a:t>
            </a:r>
          </a:p>
          <a:p>
            <a:pPr algn="l">
              <a:lnSpc>
                <a:spcPct val="116000"/>
              </a:lnSpc>
              <a:spcBef>
                <a:spcPts val="0"/>
              </a:spcBef>
              <a:spcAft>
                <a:spcPts val="0"/>
              </a:spcAft>
            </a:pPr>
            <a:r>
              <a:rPr sz="850" b="0" i="0">
                <a:solidFill>
                  <a:srgbClr val="605E5C"/>
                </a:solidFill>
                <a:latin typeface="Consolas"/>
              </a:rPr>
              <a:t>one span  ·  one span  ·  outermost of five</a:t>
            </a:r>
          </a:p>
        </p:txBody>
      </p:sp>
      <p:sp>
        <p:nvSpPr>
          <p:cNvPr id="39" name="Rounded Rectangle 38"/>
          <p:cNvSpPr/>
          <p:nvPr/>
        </p:nvSpPr>
        <p:spPr>
          <a:xfrm>
            <a:off x="7178040" y="4261104"/>
            <a:ext cx="4352544" cy="658368"/>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7178040" y="4261104"/>
            <a:ext cx="50292" cy="658368"/>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7397496" y="4352544"/>
            <a:ext cx="3968496" cy="566928"/>
          </a:xfrm>
          <a:prstGeom prst="rect">
            <a:avLst/>
          </a:prstGeom>
          <a:noFill/>
        </p:spPr>
        <p:txBody>
          <a:bodyPr wrap="square" lIns="0" rIns="0" tIns="0" bIns="0" anchor="t">
            <a:spAutoFit/>
          </a:bodyPr>
          <a:lstStyle/>
          <a:p>
            <a:pPr algn="l">
              <a:spcBef>
                <a:spcPts val="0"/>
              </a:spcBef>
              <a:spcAft>
                <a:spcPts val="200"/>
              </a:spcAft>
            </a:pPr>
            <a:r>
              <a:rPr sz="1150" b="1" i="0">
                <a:solidFill>
                  <a:srgbClr val="14243E"/>
                </a:solidFill>
                <a:latin typeface="Segoe UI"/>
              </a:rPr>
              <a:t>Tool call</a:t>
            </a:r>
          </a:p>
          <a:p>
            <a:pPr algn="l">
              <a:lnSpc>
                <a:spcPct val="116000"/>
              </a:lnSpc>
              <a:spcBef>
                <a:spcPts val="0"/>
              </a:spcBef>
              <a:spcAft>
                <a:spcPts val="0"/>
              </a:spcAft>
            </a:pPr>
            <a:r>
              <a:rPr sz="850" b="0" i="0">
                <a:solidFill>
                  <a:srgbClr val="605E5C"/>
                </a:solidFill>
                <a:latin typeface="Consolas"/>
              </a:rPr>
              <a:t>execute_tool%  ·  claude_code.tool  ·  handle_tool_call</a:t>
            </a:r>
          </a:p>
        </p:txBody>
      </p:sp>
      <p:sp>
        <p:nvSpPr>
          <p:cNvPr id="42" name="Rounded Rectangle 41"/>
          <p:cNvSpPr/>
          <p:nvPr/>
        </p:nvSpPr>
        <p:spPr>
          <a:xfrm>
            <a:off x="7178040" y="4974336"/>
            <a:ext cx="4352544" cy="658368"/>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7178040" y="4974336"/>
            <a:ext cx="50292" cy="658368"/>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7397496" y="5065776"/>
            <a:ext cx="3968496" cy="566928"/>
          </a:xfrm>
          <a:prstGeom prst="rect">
            <a:avLst/>
          </a:prstGeom>
          <a:noFill/>
        </p:spPr>
        <p:txBody>
          <a:bodyPr wrap="square" lIns="0" rIns="0" tIns="0" bIns="0" anchor="t">
            <a:spAutoFit/>
          </a:bodyPr>
          <a:lstStyle/>
          <a:p>
            <a:pPr algn="l">
              <a:spcBef>
                <a:spcPts val="0"/>
              </a:spcBef>
              <a:spcAft>
                <a:spcPts val="200"/>
              </a:spcAft>
            </a:pPr>
            <a:r>
              <a:rPr sz="1150" b="1" i="0">
                <a:solidFill>
                  <a:srgbClr val="14243E"/>
                </a:solidFill>
                <a:latin typeface="Segoe UI"/>
              </a:rPr>
              <a:t>Tokens</a:t>
            </a:r>
          </a:p>
          <a:p>
            <a:pPr algn="l">
              <a:lnSpc>
                <a:spcPct val="116000"/>
              </a:lnSpc>
              <a:spcBef>
                <a:spcPts val="0"/>
              </a:spcBef>
              <a:spcAft>
                <a:spcPts val="0"/>
              </a:spcAft>
            </a:pPr>
            <a:r>
              <a:rPr sz="850" b="0" i="0">
                <a:solidFill>
                  <a:srgbClr val="605E5C"/>
                </a:solidFill>
                <a:latin typeface="Consolas"/>
              </a:rPr>
              <a:t>on the span  ·  additive cache keys  ·  walk up the tree</a:t>
            </a:r>
          </a:p>
        </p:txBody>
      </p:sp>
      <p:sp>
        <p:nvSpPr>
          <p:cNvPr id="45" name="Rounded Rectangle 44"/>
          <p:cNvSpPr/>
          <p:nvPr/>
        </p:nvSpPr>
        <p:spPr>
          <a:xfrm>
            <a:off x="7178040" y="5724144"/>
            <a:ext cx="4352544" cy="493776"/>
          </a:xfrm>
          <a:prstGeom prst="roundRect">
            <a:avLst>
              <a:gd name="adj" fmla="val 4500"/>
            </a:avLst>
          </a:prstGeom>
          <a:solidFill>
            <a:srgbClr val="14243E"/>
          </a:solidFill>
          <a:ln w="12700">
            <a:solidFill>
              <a:srgbClr val="14243E"/>
            </a:solidFill>
          </a:ln>
          <a:effectLst/>
        </p:spPr>
        <p:style>
          <a:lnRef idx="1">
            <a:schemeClr val="accent1"/>
          </a:lnRef>
          <a:fillRef idx="3">
            <a:schemeClr val="accent1"/>
          </a:fillRef>
          <a:effectRef idx="2">
            <a:schemeClr val="accent1"/>
          </a:effectRef>
          <a:fontRef idx="minor">
            <a:schemeClr val="lt1"/>
          </a:fontRef>
        </p:style>
        <p:txBody>
          <a:bodyPr rtlCol="0" anchor="ctr" wrap="square" lIns="219456" rIns="219456"/>
          <a:lstStyle/>
          <a:p>
            <a:pPr algn="l">
              <a:lnSpc>
                <a:spcPct val="115000"/>
              </a:lnSpc>
              <a:spcBef>
                <a:spcPts val="0"/>
              </a:spcBef>
              <a:spcAft>
                <a:spcPts val="0"/>
              </a:spcAft>
            </a:pPr>
            <a:r>
              <a:rPr sz="1100" b="1" i="0">
                <a:solidFill>
                  <a:srgbClr val="FFFFFF"/>
                </a:solidFill>
                <a:latin typeface="Segoe UI"/>
              </a:rPr>
              <a:t>Left side is the product. Right side is why it took a summer.</a:t>
            </a:r>
          </a:p>
        </p:txBody>
      </p:sp>
      <p:sp>
        <p:nvSpPr>
          <p:cNvPr id="46" name="TextBox 45"/>
          <p:cNvSpPr txBox="1"/>
          <p:nvPr/>
        </p:nvSpPr>
        <p:spPr>
          <a:xfrm>
            <a:off x="658368" y="6382512"/>
            <a:ext cx="8686800" cy="237744"/>
          </a:xfrm>
          <a:prstGeom prst="rect">
            <a:avLst/>
          </a:prstGeom>
          <a:noFill/>
        </p:spPr>
        <p:txBody>
          <a:bodyPr wrap="square" lIns="0" rIns="0" tIns="0" bIns="0" anchor="t">
            <a:spAutoFit/>
          </a:bodyPr>
          <a:lstStyle/>
          <a:p>
            <a:pPr algn="l">
              <a:spcBef>
                <a:spcPts val="0"/>
              </a:spcBef>
              <a:spcAft>
                <a:spcPts val="0"/>
              </a:spcAft>
            </a:pPr>
            <a:r>
              <a:rPr sz="900" b="0" i="0">
                <a:solidFill>
                  <a:srgbClr val="8A8886"/>
                </a:solidFill>
                <a:latin typeface="Segoe UI"/>
              </a:rPr>
              <a:t>Microsoft  ·  Agent Insights</a:t>
            </a:r>
          </a:p>
        </p:txBody>
      </p:sp>
      <p:sp>
        <p:nvSpPr>
          <p:cNvPr id="47" name="TextBox 46"/>
          <p:cNvSpPr txBox="1"/>
          <p:nvPr/>
        </p:nvSpPr>
        <p:spPr>
          <a:xfrm>
            <a:off x="10835640" y="6382512"/>
            <a:ext cx="694944" cy="237744"/>
          </a:xfrm>
          <a:prstGeom prst="rect">
            <a:avLst/>
          </a:prstGeom>
          <a:noFill/>
        </p:spPr>
        <p:txBody>
          <a:bodyPr wrap="square" lIns="0" rIns="0" tIns="0" bIns="0" anchor="t">
            <a:spAutoFit/>
          </a:bodyPr>
          <a:lstStyle/>
          <a:p>
            <a:pPr algn="r">
              <a:spcBef>
                <a:spcPts val="0"/>
              </a:spcBef>
              <a:spcAft>
                <a:spcPts val="0"/>
              </a:spcAft>
            </a:pPr>
            <a:r>
              <a:rPr sz="900" b="0" i="0">
                <a:solidFill>
                  <a:srgbClr val="8A8886"/>
                </a:solidFill>
                <a:latin typeface="Segoe U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47925" cy="685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47923" y="0"/>
            <a:ext cx="3047925" cy="68580"/>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6095847" y="0"/>
            <a:ext cx="3047925" cy="6858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143771" y="0"/>
            <a:ext cx="3047925" cy="68580"/>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384048"/>
            <a:ext cx="10872216" cy="237744"/>
          </a:xfrm>
          <a:prstGeom prst="rect">
            <a:avLst/>
          </a:prstGeom>
          <a:noFill/>
        </p:spPr>
        <p:txBody>
          <a:bodyPr wrap="square" lIns="0" rIns="0" tIns="0" bIns="0" anchor="t">
            <a:spAutoFit/>
          </a:bodyPr>
          <a:lstStyle/>
          <a:p>
            <a:pPr algn="l">
              <a:spcBef>
                <a:spcPts val="0"/>
              </a:spcBef>
              <a:spcAft>
                <a:spcPts val="0"/>
              </a:spcAft>
            </a:pPr>
            <a:r>
              <a:rPr sz="1050" b="1" i="0">
                <a:solidFill>
                  <a:srgbClr val="0078D4"/>
                </a:solidFill>
                <a:latin typeface="Segoe UI Semibold"/>
              </a:rPr>
              <a:t>03  APPROACH · SURFACES</a:t>
            </a:r>
          </a:p>
        </p:txBody>
      </p:sp>
      <p:sp>
        <p:nvSpPr>
          <p:cNvPr id="7" name="TextBox 6"/>
          <p:cNvSpPr txBox="1"/>
          <p:nvPr/>
        </p:nvSpPr>
        <p:spPr>
          <a:xfrm>
            <a:off x="658368" y="658368"/>
            <a:ext cx="10872216" cy="502920"/>
          </a:xfrm>
          <a:prstGeom prst="rect">
            <a:avLst/>
          </a:prstGeom>
          <a:noFill/>
        </p:spPr>
        <p:txBody>
          <a:bodyPr wrap="square" lIns="0" rIns="0" tIns="0" bIns="0" anchor="t">
            <a:spAutoFit/>
          </a:bodyPr>
          <a:lstStyle/>
          <a:p>
            <a:pPr algn="l">
              <a:spcBef>
                <a:spcPts val="0"/>
              </a:spcBef>
              <a:spcAft>
                <a:spcPts val="0"/>
              </a:spcAft>
            </a:pPr>
            <a:r>
              <a:rPr sz="2900" b="0" i="0">
                <a:solidFill>
                  <a:srgbClr val="14243E"/>
                </a:solidFill>
                <a:latin typeface="Segoe UI Light"/>
              </a:rPr>
              <a:t>Two consumers, one model</a:t>
            </a:r>
          </a:p>
        </p:txBody>
      </p:sp>
      <p:sp>
        <p:nvSpPr>
          <p:cNvPr id="8" name="TextBox 7"/>
          <p:cNvSpPr txBox="1"/>
          <p:nvPr/>
        </p:nvSpPr>
        <p:spPr>
          <a:xfrm>
            <a:off x="658368" y="1207008"/>
            <a:ext cx="10872216" cy="329184"/>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605E5C"/>
                </a:solidFill>
                <a:latin typeface="Segoe UI"/>
              </a:rPr>
              <a:t>Same engine, same objects — one rendered for a person, one written for a language model.</a:t>
            </a:r>
          </a:p>
        </p:txBody>
      </p:sp>
      <p:sp>
        <p:nvSpPr>
          <p:cNvPr id="9" name="Rectangle 8"/>
          <p:cNvSpPr/>
          <p:nvPr/>
        </p:nvSpPr>
        <p:spPr>
          <a:xfrm>
            <a:off x="658368" y="1591056"/>
            <a:ext cx="960120" cy="320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58368" y="1737360"/>
            <a:ext cx="5330952" cy="3200400"/>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19456"/>
          <a:lstStyle/>
          <a:p>
            <a:pPr algn="l">
              <a:spcBef>
                <a:spcPts val="0"/>
              </a:spcBef>
              <a:spcAft>
                <a:spcPts val="1000"/>
              </a:spcAft>
            </a:pPr>
            <a:r>
              <a:rPr sz="1050" b="1" i="0">
                <a:solidFill>
                  <a:srgbClr val="0078D4"/>
                </a:solidFill>
                <a:latin typeface="Segoe UI Semibold"/>
              </a:rPr>
              <a:t>THE PANEL — FOR HUMANS</a:t>
            </a:r>
          </a:p>
          <a:p>
            <a:pPr algn="l">
              <a:lnSpc>
                <a:spcPct val="120000"/>
              </a:lnSpc>
              <a:spcBef>
                <a:spcPts val="0"/>
              </a:spcBef>
              <a:spcAft>
                <a:spcPts val="800"/>
              </a:spcAft>
            </a:pPr>
            <a:r>
              <a:rPr sz="1100" b="1" i="0">
                <a:solidFill>
                  <a:srgbClr val="0078D4"/>
                </a:solidFill>
                <a:latin typeface="Segoe UI"/>
              </a:rPr>
              <a:t>·  </a:t>
            </a:r>
            <a:r>
              <a:rPr sz="1100" b="1" i="0">
                <a:solidFill>
                  <a:srgbClr val="14243E"/>
                </a:solidFill>
                <a:latin typeface="Segoe UI"/>
              </a:rPr>
              <a:t>Home  </a:t>
            </a:r>
            <a:r>
              <a:rPr sz="1100" b="0" i="0">
                <a:solidFill>
                  <a:srgbClr val="605E5C"/>
                </a:solidFill>
                <a:latin typeface="Segoe UI"/>
              </a:rPr>
              <a:t>totals, tokens by model, cache hit rate, errors</a:t>
            </a:r>
          </a:p>
          <a:p>
            <a:pPr algn="l">
              <a:lnSpc>
                <a:spcPct val="120000"/>
              </a:lnSpc>
              <a:spcBef>
                <a:spcPts val="0"/>
              </a:spcBef>
              <a:spcAft>
                <a:spcPts val="800"/>
              </a:spcAft>
            </a:pPr>
            <a:r>
              <a:rPr sz="1100" b="1" i="0">
                <a:solidFill>
                  <a:srgbClr val="0078D4"/>
                </a:solidFill>
                <a:latin typeface="Segoe UI"/>
              </a:rPr>
              <a:t>·  </a:t>
            </a:r>
            <a:r>
              <a:rPr sz="1100" b="1" i="0">
                <a:solidFill>
                  <a:srgbClr val="14243E"/>
                </a:solidFill>
                <a:latin typeface="Segoe UI"/>
              </a:rPr>
              <a:t>Sessions  </a:t>
            </a:r>
            <a:r>
              <a:rPr sz="1100" b="0" i="0">
                <a:solidFill>
                  <a:srgbClr val="605E5C"/>
                </a:solidFill>
                <a:latin typeface="Segoe UI"/>
              </a:rPr>
              <a:t>the headline surface — list → timeline → transcript</a:t>
            </a:r>
          </a:p>
          <a:p>
            <a:pPr algn="l">
              <a:lnSpc>
                <a:spcPct val="120000"/>
              </a:lnSpc>
              <a:spcBef>
                <a:spcPts val="0"/>
              </a:spcBef>
              <a:spcAft>
                <a:spcPts val="800"/>
              </a:spcAft>
            </a:pPr>
            <a:r>
              <a:rPr sz="1100" b="1" i="0">
                <a:solidFill>
                  <a:srgbClr val="0078D4"/>
                </a:solidFill>
                <a:latin typeface="Segoe UI"/>
              </a:rPr>
              <a:t>·  </a:t>
            </a:r>
            <a:r>
              <a:rPr sz="1100" b="1" i="0">
                <a:solidFill>
                  <a:srgbClr val="14243E"/>
                </a:solidFill>
                <a:latin typeface="Segoe UI"/>
              </a:rPr>
              <a:t>Traces / Metrics / Logs  </a:t>
            </a:r>
            <a:r>
              <a:rPr sz="1100" b="0" i="0">
                <a:solidFill>
                  <a:srgbClr val="605E5C"/>
                </a:solidFill>
                <a:latin typeface="Segoe UI"/>
              </a:rPr>
              <a:t>the conventional OTel views, kept</a:t>
            </a:r>
          </a:p>
          <a:p>
            <a:pPr algn="l">
              <a:spcBef>
                <a:spcPts val="800"/>
              </a:spcBef>
              <a:spcAft>
                <a:spcPts val="800"/>
              </a:spcAft>
            </a:pPr>
            <a:r>
              <a:rPr sz="1050" b="1" i="0">
                <a:solidFill>
                  <a:srgbClr val="0078D4"/>
                </a:solidFill>
                <a:latin typeface="Segoe UI Semibold"/>
              </a:rPr>
              <a:t>Two product decisions, not rendering decisions</a:t>
            </a:r>
          </a:p>
          <a:p>
            <a:pPr algn="l">
              <a:lnSpc>
                <a:spcPct val="120000"/>
              </a:lnSpc>
              <a:spcBef>
                <a:spcPts val="0"/>
              </a:spcBef>
              <a:spcAft>
                <a:spcPts val="700"/>
              </a:spcAft>
            </a:pPr>
            <a:r>
              <a:rPr sz="1100" b="1" i="0">
                <a:solidFill>
                  <a:srgbClr val="0078D4"/>
                </a:solidFill>
                <a:latin typeface="Segoe UI"/>
              </a:rPr>
              <a:t>·  </a:t>
            </a:r>
            <a:r>
              <a:rPr sz="1100" b="1" i="0">
                <a:solidFill>
                  <a:srgbClr val="14243E"/>
                </a:solidFill>
                <a:latin typeface="Segoe UI"/>
              </a:rPr>
              <a:t>Shared context is hoisted </a:t>
            </a:r>
            <a:r>
              <a:rPr sz="1100" b="0" i="0">
                <a:solidFill>
                  <a:srgbClr val="605E5C"/>
                </a:solidFill>
                <a:latin typeface="Segoe UI"/>
              </a:rPr>
              <a:t>out of turns — the harness repeats the preamble every time.</a:t>
            </a:r>
          </a:p>
          <a:p>
            <a:pPr algn="l">
              <a:lnSpc>
                <a:spcPct val="120000"/>
              </a:lnSpc>
              <a:spcBef>
                <a:spcPts val="0"/>
              </a:spcBef>
              <a:spcAft>
                <a:spcPts val="0"/>
              </a:spcAft>
            </a:pPr>
            <a:r>
              <a:rPr sz="1100" b="1" i="0">
                <a:solidFill>
                  <a:srgbClr val="0078D4"/>
                </a:solidFill>
                <a:latin typeface="Segoe UI"/>
              </a:rPr>
              <a:t>·  </a:t>
            </a:r>
            <a:r>
              <a:rPr sz="1100" b="1" i="0">
                <a:solidFill>
                  <a:srgbClr val="14243E"/>
                </a:solidFill>
                <a:latin typeface="Segoe UI"/>
              </a:rPr>
              <a:t>Every bubble knows its span </a:t>
            </a:r>
            <a:r>
              <a:rPr sz="1100" b="0" i="0">
                <a:solidFill>
                  <a:srgbClr val="605E5C"/>
                </a:solidFill>
                <a:latin typeface="Segoe UI"/>
              </a:rPr>
              <a:t>— click a sentence, land on it.</a:t>
            </a:r>
          </a:p>
        </p:txBody>
      </p:sp>
      <p:sp>
        <p:nvSpPr>
          <p:cNvPr id="11" name="Rectangle 10"/>
          <p:cNvSpPr/>
          <p:nvPr/>
        </p:nvSpPr>
        <p:spPr>
          <a:xfrm>
            <a:off x="658368" y="1737360"/>
            <a:ext cx="5330952" cy="50292"/>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199632" y="1737360"/>
            <a:ext cx="5330952" cy="3200400"/>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19456"/>
          <a:lstStyle/>
          <a:p>
            <a:pPr algn="l">
              <a:spcBef>
                <a:spcPts val="0"/>
              </a:spcBef>
              <a:spcAft>
                <a:spcPts val="1000"/>
              </a:spcAft>
            </a:pPr>
            <a:r>
              <a:rPr sz="1050" b="1" i="0">
                <a:solidFill>
                  <a:srgbClr val="0E700E"/>
                </a:solidFill>
                <a:latin typeface="Segoe UI Semibold"/>
              </a:rPr>
              <a:t>THE TOOLS — FOR AGENTS</a:t>
            </a:r>
          </a:p>
          <a:p>
            <a:pPr algn="l">
              <a:lnSpc>
                <a:spcPct val="120000"/>
              </a:lnSpc>
              <a:spcBef>
                <a:spcPts val="0"/>
              </a:spcBef>
              <a:spcAft>
                <a:spcPts val="800"/>
              </a:spcAft>
            </a:pPr>
            <a:r>
              <a:rPr sz="1100" b="1" i="0">
                <a:solidFill>
                  <a:srgbClr val="0E700E"/>
                </a:solidFill>
                <a:latin typeface="Segoe UI"/>
              </a:rPr>
              <a:t>·  </a:t>
            </a:r>
            <a:r>
              <a:rPr sz="1050" b="1" i="0">
                <a:solidFill>
                  <a:srgbClr val="0E700E"/>
                </a:solidFill>
                <a:latin typeface="Consolas"/>
              </a:rPr>
              <a:t>#agentSession</a:t>
            </a:r>
            <a:r>
              <a:rPr sz="1100" b="0" i="0">
                <a:solidFill>
                  <a:srgbClr val="605E5C"/>
                </a:solidFill>
                <a:latin typeface="Segoe UI"/>
              </a:rPr>
              <a:t>   outcome, timeline, tokens, tools, errors</a:t>
            </a:r>
          </a:p>
          <a:p>
            <a:pPr algn="l">
              <a:lnSpc>
                <a:spcPct val="120000"/>
              </a:lnSpc>
              <a:spcBef>
                <a:spcPts val="0"/>
              </a:spcBef>
              <a:spcAft>
                <a:spcPts val="800"/>
              </a:spcAft>
            </a:pPr>
            <a:r>
              <a:rPr sz="1100" b="1" i="0">
                <a:solidFill>
                  <a:srgbClr val="0E700E"/>
                </a:solidFill>
                <a:latin typeface="Segoe UI"/>
              </a:rPr>
              <a:t>·  </a:t>
            </a:r>
            <a:r>
              <a:rPr sz="1050" b="1" i="0">
                <a:solidFill>
                  <a:srgbClr val="0E700E"/>
                </a:solidFill>
                <a:latin typeface="Consolas"/>
              </a:rPr>
              <a:t>#agentTranscript</a:t>
            </a:r>
            <a:r>
              <a:rPr sz="1100" b="0" i="0">
                <a:solidFill>
                  <a:srgbClr val="605E5C"/>
                </a:solidFill>
                <a:latin typeface="Segoe UI"/>
              </a:rPr>
              <a:t>   what was actually said, paged</a:t>
            </a:r>
          </a:p>
          <a:p>
            <a:pPr algn="l">
              <a:lnSpc>
                <a:spcPct val="120000"/>
              </a:lnSpc>
              <a:spcBef>
                <a:spcPts val="0"/>
              </a:spcBef>
              <a:spcAft>
                <a:spcPts val="800"/>
              </a:spcAft>
            </a:pPr>
            <a:r>
              <a:rPr sz="1100" b="1" i="0">
                <a:solidFill>
                  <a:srgbClr val="0E700E"/>
                </a:solidFill>
                <a:latin typeface="Segoe UI"/>
              </a:rPr>
              <a:t>·  </a:t>
            </a:r>
            <a:r>
              <a:rPr sz="1050" b="1" i="0">
                <a:solidFill>
                  <a:srgbClr val="0E700E"/>
                </a:solidFill>
                <a:latin typeface="Consolas"/>
              </a:rPr>
              <a:t>#agentService</a:t>
            </a:r>
            <a:r>
              <a:rPr sz="1100" b="0" i="0">
                <a:solidFill>
                  <a:srgbClr val="605E5C"/>
                </a:solidFill>
                <a:latin typeface="Segoe UI"/>
              </a:rPr>
              <a:t>   per-agent profile — the comparison tool</a:t>
            </a:r>
          </a:p>
          <a:p>
            <a:pPr algn="l">
              <a:lnSpc>
                <a:spcPct val="120000"/>
              </a:lnSpc>
              <a:spcBef>
                <a:spcPts val="0"/>
              </a:spcBef>
              <a:spcAft>
                <a:spcPts val="800"/>
              </a:spcAft>
            </a:pPr>
            <a:r>
              <a:rPr sz="1100" b="1" i="0">
                <a:solidFill>
                  <a:srgbClr val="0E700E"/>
                </a:solidFill>
                <a:latin typeface="Segoe UI"/>
              </a:rPr>
              <a:t>·  </a:t>
            </a:r>
            <a:r>
              <a:rPr sz="1050" b="1" i="0">
                <a:solidFill>
                  <a:srgbClr val="0E700E"/>
                </a:solidFill>
                <a:latin typeface="Consolas"/>
              </a:rPr>
              <a:t>#agentErrors  #agentSlow</a:t>
            </a:r>
            <a:r>
              <a:rPr sz="1100" b="0" i="0">
                <a:solidFill>
                  <a:srgbClr val="605E5C"/>
                </a:solidFill>
                <a:latin typeface="Segoe UI"/>
              </a:rPr>
              <a:t>   what broke, what’s slow</a:t>
            </a:r>
          </a:p>
          <a:p>
            <a:pPr algn="l">
              <a:lnSpc>
                <a:spcPct val="120000"/>
              </a:lnSpc>
              <a:spcBef>
                <a:spcPts val="0"/>
              </a:spcBef>
              <a:spcAft>
                <a:spcPts val="1000"/>
              </a:spcAft>
            </a:pPr>
            <a:r>
              <a:rPr sz="1100" b="0" i="0">
                <a:solidFill>
                  <a:srgbClr val="605E5C"/>
                </a:solidFill>
                <a:latin typeface="Segoe UI"/>
              </a:rPr>
              <a:t>…and eight more for traces, spans, logs and metrics.</a:t>
            </a:r>
          </a:p>
          <a:p>
            <a:pPr algn="l">
              <a:lnSpc>
                <a:spcPct val="120000"/>
              </a:lnSpc>
              <a:spcBef>
                <a:spcPts val="0"/>
              </a:spcBef>
              <a:spcAft>
                <a:spcPts val="0"/>
              </a:spcAft>
            </a:pPr>
            <a:r>
              <a:rPr sz="1100" b="1" i="0">
                <a:solidFill>
                  <a:srgbClr val="14243E"/>
                </a:solidFill>
                <a:latin typeface="Segoe UI"/>
              </a:rPr>
              <a:t>A bundled skill routes the agent </a:t>
            </a:r>
            <a:r>
              <a:rPr sz="1100" b="0" i="0">
                <a:solidFill>
                  <a:srgbClr val="605E5C"/>
                </a:solidFill>
                <a:latin typeface="Segoe UI"/>
              </a:rPr>
              <a:t>to the right tool without anyone naming it.</a:t>
            </a:r>
          </a:p>
        </p:txBody>
      </p:sp>
      <p:sp>
        <p:nvSpPr>
          <p:cNvPr id="13" name="Rectangle 12"/>
          <p:cNvSpPr/>
          <p:nvPr/>
        </p:nvSpPr>
        <p:spPr>
          <a:xfrm>
            <a:off x="6199632" y="1737360"/>
            <a:ext cx="5330952" cy="50292"/>
          </a:xfrm>
          <a:prstGeom prst="rect">
            <a:avLst/>
          </a:prstGeom>
          <a:solidFill>
            <a:srgbClr val="0E70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658368" y="5175504"/>
            <a:ext cx="10872216" cy="914400"/>
          </a:xfrm>
          <a:prstGeom prst="roundRect">
            <a:avLst>
              <a:gd name="adj" fmla="val 4500"/>
            </a:avLst>
          </a:prstGeom>
          <a:solidFill>
            <a:srgbClr val="F0F3F9"/>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310896"/>
          <a:lstStyle/>
          <a:p>
            <a:pPr algn="l">
              <a:spcBef>
                <a:spcPts val="0"/>
              </a:spcBef>
              <a:spcAft>
                <a:spcPts val="700"/>
              </a:spcAft>
            </a:pPr>
            <a:r>
              <a:rPr sz="1000" b="1" i="0">
                <a:solidFill>
                  <a:srgbClr val="0E700E"/>
                </a:solidFill>
                <a:latin typeface="Segoe UI Semibold"/>
              </a:rPr>
              <a:t>WRITING TOOL OUTPUT FOR AN LLM IS ITS OWN DISCIPLINE</a:t>
            </a:r>
          </a:p>
          <a:p>
            <a:pPr algn="l">
              <a:lnSpc>
                <a:spcPct val="124000"/>
              </a:lnSpc>
              <a:spcBef>
                <a:spcPts val="0"/>
              </a:spcBef>
              <a:spcAft>
                <a:spcPts val="0"/>
              </a:spcAft>
            </a:pPr>
            <a:r>
              <a:rPr sz="1200" b="1" i="0">
                <a:solidFill>
                  <a:srgbClr val="14243E"/>
                </a:solidFill>
                <a:latin typeface="Segoe UI"/>
              </a:rPr>
              <a:t>Every call is guaranteed to settle.</a:t>
            </a:r>
            <a:r>
              <a:rPr sz="1200" b="1" i="0">
                <a:solidFill>
                  <a:srgbClr val="14243E"/>
                </a:solidFill>
                <a:latin typeface="Segoe UI"/>
              </a:rPr>
              <a:t>     Paged and budgeted, never truncated.</a:t>
            </a:r>
            <a:r>
              <a:rPr sz="1200" b="1" i="0">
                <a:solidFill>
                  <a:srgbClr val="14243E"/>
                </a:solidFill>
                <a:latin typeface="Segoe UI"/>
              </a:rPr>
              <a:t>     “No content captured” is an explicit answer.</a:t>
            </a:r>
            <a:r>
              <a:rPr sz="1200" b="1" i="0">
                <a:solidFill>
                  <a:srgbClr val="14243E"/>
                </a:solidFill>
                <a:latin typeface="Segoe UI"/>
              </a:rPr>
              <a:t>     Deeplinks are mandatory.</a:t>
            </a:r>
          </a:p>
        </p:txBody>
      </p:sp>
      <p:sp>
        <p:nvSpPr>
          <p:cNvPr id="15" name="TextBox 14"/>
          <p:cNvSpPr txBox="1"/>
          <p:nvPr/>
        </p:nvSpPr>
        <p:spPr>
          <a:xfrm>
            <a:off x="658368" y="6382512"/>
            <a:ext cx="8686800" cy="237744"/>
          </a:xfrm>
          <a:prstGeom prst="rect">
            <a:avLst/>
          </a:prstGeom>
          <a:noFill/>
        </p:spPr>
        <p:txBody>
          <a:bodyPr wrap="square" lIns="0" rIns="0" tIns="0" bIns="0" anchor="t">
            <a:spAutoFit/>
          </a:bodyPr>
          <a:lstStyle/>
          <a:p>
            <a:pPr algn="l">
              <a:spcBef>
                <a:spcPts val="0"/>
              </a:spcBef>
              <a:spcAft>
                <a:spcPts val="0"/>
              </a:spcAft>
            </a:pPr>
            <a:r>
              <a:rPr sz="900" b="0" i="0">
                <a:solidFill>
                  <a:srgbClr val="8A8886"/>
                </a:solidFill>
                <a:latin typeface="Segoe UI"/>
              </a:rPr>
              <a:t>Microsoft  ·  Agent Insights</a:t>
            </a:r>
          </a:p>
        </p:txBody>
      </p:sp>
      <p:sp>
        <p:nvSpPr>
          <p:cNvPr id="16" name="TextBox 15"/>
          <p:cNvSpPr txBox="1"/>
          <p:nvPr/>
        </p:nvSpPr>
        <p:spPr>
          <a:xfrm>
            <a:off x="10835640" y="6382512"/>
            <a:ext cx="694944" cy="237744"/>
          </a:xfrm>
          <a:prstGeom prst="rect">
            <a:avLst/>
          </a:prstGeom>
          <a:noFill/>
        </p:spPr>
        <p:txBody>
          <a:bodyPr wrap="square" lIns="0" rIns="0" tIns="0" bIns="0" anchor="t">
            <a:spAutoFit/>
          </a:bodyPr>
          <a:lstStyle/>
          <a:p>
            <a:pPr algn="r">
              <a:spcBef>
                <a:spcPts val="0"/>
              </a:spcBef>
              <a:spcAft>
                <a:spcPts val="0"/>
              </a:spcAft>
            </a:pPr>
            <a:r>
              <a:rPr sz="900" b="0" i="0">
                <a:solidFill>
                  <a:srgbClr val="8A8886"/>
                </a:solidFill>
                <a:latin typeface="Segoe U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4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64592" cy="6858000"/>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51560" y="2121408"/>
            <a:ext cx="1828800" cy="1280160"/>
          </a:xfrm>
          <a:prstGeom prst="rect">
            <a:avLst/>
          </a:prstGeom>
          <a:noFill/>
        </p:spPr>
        <p:txBody>
          <a:bodyPr wrap="square" lIns="0" rIns="0" tIns="0" bIns="0" anchor="t">
            <a:spAutoFit/>
          </a:bodyPr>
          <a:lstStyle/>
          <a:p>
            <a:pPr algn="l">
              <a:spcBef>
                <a:spcPts val="0"/>
              </a:spcBef>
              <a:spcAft>
                <a:spcPts val="0"/>
              </a:spcAft>
            </a:pPr>
            <a:r>
              <a:rPr sz="8800" b="1" i="0">
                <a:solidFill>
                  <a:srgbClr val="00B7C3"/>
                </a:solidFill>
                <a:latin typeface="Segoe UI Light"/>
              </a:rPr>
              <a:t>04</a:t>
            </a:r>
          </a:p>
        </p:txBody>
      </p:sp>
      <p:sp>
        <p:nvSpPr>
          <p:cNvPr id="5" name="Rectangle 4"/>
          <p:cNvSpPr/>
          <p:nvPr/>
        </p:nvSpPr>
        <p:spPr>
          <a:xfrm>
            <a:off x="2788920" y="2212848"/>
            <a:ext cx="27432" cy="1828800"/>
          </a:xfrm>
          <a:prstGeom prst="rect">
            <a:avLst/>
          </a:prstGeom>
          <a:solidFill>
            <a:srgbClr val="3A4E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3246120" y="2286000"/>
            <a:ext cx="7863840" cy="1737360"/>
          </a:xfrm>
          <a:prstGeom prst="rect">
            <a:avLst/>
          </a:prstGeom>
          <a:noFill/>
        </p:spPr>
        <p:txBody>
          <a:bodyPr wrap="square" lIns="0" rIns="0" tIns="0" bIns="0" anchor="t">
            <a:spAutoFit/>
          </a:bodyPr>
          <a:lstStyle/>
          <a:p>
            <a:pPr algn="l">
              <a:lnSpc>
                <a:spcPct val="110000"/>
              </a:lnSpc>
              <a:spcBef>
                <a:spcPts val="0"/>
              </a:spcBef>
              <a:spcAft>
                <a:spcPts val="1200"/>
              </a:spcAft>
            </a:pPr>
            <a:r>
              <a:rPr sz="4200" b="0" i="0">
                <a:solidFill>
                  <a:srgbClr val="FFFFFF"/>
                </a:solidFill>
                <a:latin typeface="Segoe UI Light"/>
              </a:rPr>
              <a:t>Demo</a:t>
            </a:r>
          </a:p>
          <a:p>
            <a:pPr algn="l">
              <a:lnSpc>
                <a:spcPct val="130000"/>
              </a:lnSpc>
              <a:spcBef>
                <a:spcPts val="0"/>
              </a:spcBef>
              <a:spcAft>
                <a:spcPts val="0"/>
              </a:spcAft>
            </a:pPr>
            <a:r>
              <a:rPr sz="1550" b="0" i="0">
                <a:solidFill>
                  <a:srgbClr val="93A6C4"/>
                </a:solidFill>
                <a:latin typeface="Segoe UI"/>
              </a:rPr>
              <a:t>Two scenarios, both ending on the loop closing.
Recorded on real multi-harness data.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47925" cy="685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47923" y="0"/>
            <a:ext cx="3047925" cy="68580"/>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6095847" y="0"/>
            <a:ext cx="3047925" cy="6858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143771" y="0"/>
            <a:ext cx="3047925" cy="68580"/>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384048"/>
            <a:ext cx="10872216" cy="237744"/>
          </a:xfrm>
          <a:prstGeom prst="rect">
            <a:avLst/>
          </a:prstGeom>
          <a:noFill/>
        </p:spPr>
        <p:txBody>
          <a:bodyPr wrap="square" lIns="0" rIns="0" tIns="0" bIns="0" anchor="t">
            <a:spAutoFit/>
          </a:bodyPr>
          <a:lstStyle/>
          <a:p>
            <a:pPr algn="l">
              <a:spcBef>
                <a:spcPts val="0"/>
              </a:spcBef>
              <a:spcAft>
                <a:spcPts val="0"/>
              </a:spcAft>
            </a:pPr>
            <a:r>
              <a:rPr sz="1050" b="1" i="0">
                <a:solidFill>
                  <a:srgbClr val="0078D4"/>
                </a:solidFill>
                <a:latin typeface="Segoe UI Semibold"/>
              </a:rPr>
              <a:t>04  DEMO · SCENARIO ONE</a:t>
            </a:r>
          </a:p>
        </p:txBody>
      </p:sp>
      <p:sp>
        <p:nvSpPr>
          <p:cNvPr id="7" name="TextBox 6"/>
          <p:cNvSpPr txBox="1"/>
          <p:nvPr/>
        </p:nvSpPr>
        <p:spPr>
          <a:xfrm>
            <a:off x="658368" y="658368"/>
            <a:ext cx="10872216" cy="502920"/>
          </a:xfrm>
          <a:prstGeom prst="rect">
            <a:avLst/>
          </a:prstGeom>
          <a:noFill/>
        </p:spPr>
        <p:txBody>
          <a:bodyPr wrap="square" lIns="0" rIns="0" tIns="0" bIns="0" anchor="t">
            <a:spAutoFit/>
          </a:bodyPr>
          <a:lstStyle/>
          <a:p>
            <a:pPr algn="l">
              <a:spcBef>
                <a:spcPts val="0"/>
              </a:spcBef>
              <a:spcAft>
                <a:spcPts val="0"/>
              </a:spcAft>
            </a:pPr>
            <a:r>
              <a:rPr sz="2900" b="0" i="0">
                <a:solidFill>
                  <a:srgbClr val="14243E"/>
                </a:solidFill>
                <a:latin typeface="Segoe UI Light"/>
              </a:rPr>
              <a:t>“Why did that session go wrong?”</a:t>
            </a:r>
          </a:p>
        </p:txBody>
      </p:sp>
      <p:sp>
        <p:nvSpPr>
          <p:cNvPr id="8" name="TextBox 7"/>
          <p:cNvSpPr txBox="1"/>
          <p:nvPr/>
        </p:nvSpPr>
        <p:spPr>
          <a:xfrm>
            <a:off x="658368" y="1207008"/>
            <a:ext cx="10872216" cy="329184"/>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605E5C"/>
                </a:solidFill>
                <a:latin typeface="Segoe UI"/>
              </a:rPr>
              <a:t>The semantic-failure demo — the one no existing tool can do at all.</a:t>
            </a:r>
          </a:p>
        </p:txBody>
      </p:sp>
      <p:sp>
        <p:nvSpPr>
          <p:cNvPr id="9" name="Rectangle 8"/>
          <p:cNvSpPr/>
          <p:nvPr/>
        </p:nvSpPr>
        <p:spPr>
          <a:xfrm>
            <a:off x="658368" y="1591056"/>
            <a:ext cx="960120" cy="320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58368" y="1773936"/>
            <a:ext cx="7223760" cy="4059936"/>
          </a:xfrm>
          <a:prstGeom prst="rect">
            <a:avLst/>
          </a:prstGeom>
          <a:solidFill>
            <a:srgbClr val="F0F3F9"/>
          </a:solidFill>
          <a:ln w="12700">
            <a:solidFill>
              <a:srgbClr val="A8B8D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800"/>
              </a:spcAft>
            </a:pPr>
            <a:r>
              <a:rPr sz="3000" b="0" i="0">
                <a:solidFill>
                  <a:srgbClr val="9FB2CE"/>
                </a:solidFill>
                <a:latin typeface="Segoe UI"/>
              </a:rPr>
              <a:t>▶</a:t>
            </a:r>
          </a:p>
          <a:p>
            <a:pPr algn="ctr">
              <a:spcBef>
                <a:spcPts val="0"/>
              </a:spcBef>
              <a:spcAft>
                <a:spcPts val="400"/>
              </a:spcAft>
            </a:pPr>
            <a:r>
              <a:rPr sz="1300" b="0" i="0">
                <a:solidFill>
                  <a:srgbClr val="605E5C"/>
                </a:solidFill>
                <a:latin typeface="Segoe UI"/>
              </a:rPr>
              <a:t>drop the screen recording here</a:t>
            </a:r>
          </a:p>
          <a:p>
            <a:pPr algn="ctr">
              <a:spcBef>
                <a:spcPts val="0"/>
              </a:spcBef>
              <a:spcAft>
                <a:spcPts val="0"/>
              </a:spcAft>
            </a:pPr>
            <a:r>
              <a:rPr sz="1050" b="0" i="0">
                <a:solidFill>
                  <a:srgbClr val="8A8886"/>
                </a:solidFill>
                <a:latin typeface="Segoe UI"/>
              </a:rPr>
              <a:t>~90 seconds  ·  1920×1080  ·  no audio</a:t>
            </a:r>
          </a:p>
        </p:txBody>
      </p:sp>
      <p:sp>
        <p:nvSpPr>
          <p:cNvPr id="11" name="TextBox 10"/>
          <p:cNvSpPr txBox="1"/>
          <p:nvPr/>
        </p:nvSpPr>
        <p:spPr>
          <a:xfrm>
            <a:off x="8083296" y="1773936"/>
            <a:ext cx="3447288" cy="274320"/>
          </a:xfrm>
          <a:prstGeom prst="rect">
            <a:avLst/>
          </a:prstGeom>
          <a:noFill/>
        </p:spPr>
        <p:txBody>
          <a:bodyPr wrap="square" lIns="0" rIns="0" tIns="0" bIns="0" anchor="t">
            <a:spAutoFit/>
          </a:bodyPr>
          <a:lstStyle/>
          <a:p>
            <a:pPr algn="l">
              <a:spcBef>
                <a:spcPts val="0"/>
              </a:spcBef>
              <a:spcAft>
                <a:spcPts val="0"/>
              </a:spcAft>
            </a:pPr>
            <a:r>
              <a:rPr sz="1000" b="1" i="0">
                <a:solidFill>
                  <a:srgbClr val="0078D4"/>
                </a:solidFill>
                <a:latin typeface="Segoe UI Semibold"/>
              </a:rPr>
              <a:t>WHAT TO WATCH FOR</a:t>
            </a:r>
          </a:p>
        </p:txBody>
      </p:sp>
      <p:sp>
        <p:nvSpPr>
          <p:cNvPr id="12" name="Rounded Rectangle 11"/>
          <p:cNvSpPr/>
          <p:nvPr/>
        </p:nvSpPr>
        <p:spPr>
          <a:xfrm>
            <a:off x="8083296" y="2121408"/>
            <a:ext cx="3447288" cy="932688"/>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8083296" y="2121408"/>
            <a:ext cx="50292" cy="932688"/>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8284464" y="2258568"/>
            <a:ext cx="292608" cy="292608"/>
          </a:xfrm>
          <a:prstGeom prst="roundRect">
            <a:avLst>
              <a:gd name="adj" fmla="val 50000"/>
            </a:avLst>
          </a:prstGeom>
          <a:solidFill>
            <a:srgbClr val="0078D4"/>
          </a:solidFill>
          <a:ln w="127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050" b="1" i="0">
                <a:solidFill>
                  <a:srgbClr val="FFFFFF"/>
                </a:solidFill>
                <a:latin typeface="Segoe UI"/>
              </a:rPr>
              <a:t>1</a:t>
            </a:r>
          </a:p>
        </p:txBody>
      </p:sp>
      <p:sp>
        <p:nvSpPr>
          <p:cNvPr id="15" name="TextBox 14"/>
          <p:cNvSpPr txBox="1"/>
          <p:nvPr/>
        </p:nvSpPr>
        <p:spPr>
          <a:xfrm>
            <a:off x="8650224" y="2240280"/>
            <a:ext cx="2715768" cy="329184"/>
          </a:xfrm>
          <a:prstGeom prst="rect">
            <a:avLst/>
          </a:prstGeom>
          <a:noFill/>
        </p:spPr>
        <p:txBody>
          <a:bodyPr wrap="square" lIns="0" rIns="0" tIns="0" bIns="0" anchor="t">
            <a:spAutoFit/>
          </a:bodyPr>
          <a:lstStyle/>
          <a:p>
            <a:pPr algn="l">
              <a:spcBef>
                <a:spcPts val="0"/>
              </a:spcBef>
              <a:spcAft>
                <a:spcPts val="0"/>
              </a:spcAft>
            </a:pPr>
            <a:r>
              <a:rPr sz="1150" b="1" i="0">
                <a:solidFill>
                  <a:srgbClr val="14243E"/>
                </a:solidFill>
                <a:latin typeface="Segoe UI"/>
              </a:rPr>
              <a:t>The session list</a:t>
            </a:r>
          </a:p>
        </p:txBody>
      </p:sp>
      <p:sp>
        <p:nvSpPr>
          <p:cNvPr id="16" name="TextBox 15"/>
          <p:cNvSpPr txBox="1"/>
          <p:nvPr/>
        </p:nvSpPr>
        <p:spPr>
          <a:xfrm>
            <a:off x="8284464" y="2596896"/>
            <a:ext cx="3063240" cy="402336"/>
          </a:xfrm>
          <a:prstGeom prst="rect">
            <a:avLst/>
          </a:prstGeom>
          <a:noFill/>
        </p:spPr>
        <p:txBody>
          <a:bodyPr wrap="square" lIns="0" rIns="0" tIns="0" bIns="0" anchor="t">
            <a:spAutoFit/>
          </a:bodyPr>
          <a:lstStyle/>
          <a:p>
            <a:pPr algn="l">
              <a:lnSpc>
                <a:spcPct val="116000"/>
              </a:lnSpc>
              <a:spcBef>
                <a:spcPts val="0"/>
              </a:spcBef>
              <a:spcAft>
                <a:spcPts val="0"/>
              </a:spcAft>
            </a:pPr>
            <a:r>
              <a:rPr sz="950" b="0" i="0">
                <a:solidFill>
                  <a:srgbClr val="605E5C"/>
                </a:solidFill>
                <a:latin typeface="Segoe UI"/>
              </a:rPr>
              <a:t>Every row assembled out of spans that never contained the word “session”. Three different agent badges.</a:t>
            </a:r>
          </a:p>
        </p:txBody>
      </p:sp>
      <p:sp>
        <p:nvSpPr>
          <p:cNvPr id="17" name="Rounded Rectangle 16"/>
          <p:cNvSpPr/>
          <p:nvPr/>
        </p:nvSpPr>
        <p:spPr>
          <a:xfrm>
            <a:off x="8083296" y="3127248"/>
            <a:ext cx="3447288" cy="932688"/>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083296" y="3127248"/>
            <a:ext cx="50292" cy="932688"/>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8284464" y="3264408"/>
            <a:ext cx="292608" cy="292608"/>
          </a:xfrm>
          <a:prstGeom prst="roundRect">
            <a:avLst>
              <a:gd name="adj" fmla="val 50000"/>
            </a:avLst>
          </a:prstGeom>
          <a:solidFill>
            <a:srgbClr val="0078D4"/>
          </a:solidFill>
          <a:ln w="127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050" b="1" i="0">
                <a:solidFill>
                  <a:srgbClr val="FFFFFF"/>
                </a:solidFill>
                <a:latin typeface="Segoe UI"/>
              </a:rPr>
              <a:t>2</a:t>
            </a:r>
          </a:p>
        </p:txBody>
      </p:sp>
      <p:sp>
        <p:nvSpPr>
          <p:cNvPr id="20" name="TextBox 19"/>
          <p:cNvSpPr txBox="1"/>
          <p:nvPr/>
        </p:nvSpPr>
        <p:spPr>
          <a:xfrm>
            <a:off x="8650224" y="3246120"/>
            <a:ext cx="2715768" cy="329184"/>
          </a:xfrm>
          <a:prstGeom prst="rect">
            <a:avLst/>
          </a:prstGeom>
          <a:noFill/>
        </p:spPr>
        <p:txBody>
          <a:bodyPr wrap="square" lIns="0" rIns="0" tIns="0" bIns="0" anchor="t">
            <a:spAutoFit/>
          </a:bodyPr>
          <a:lstStyle/>
          <a:p>
            <a:pPr algn="l">
              <a:spcBef>
                <a:spcPts val="0"/>
              </a:spcBef>
              <a:spcAft>
                <a:spcPts val="0"/>
              </a:spcAft>
            </a:pPr>
            <a:r>
              <a:rPr sz="1150" b="1" i="0">
                <a:solidFill>
                  <a:srgbClr val="14243E"/>
                </a:solidFill>
                <a:latin typeface="Segoe UI"/>
              </a:rPr>
              <a:t>Turn 5, in words</a:t>
            </a:r>
          </a:p>
        </p:txBody>
      </p:sp>
      <p:sp>
        <p:nvSpPr>
          <p:cNvPr id="21" name="TextBox 20"/>
          <p:cNvSpPr txBox="1"/>
          <p:nvPr/>
        </p:nvSpPr>
        <p:spPr>
          <a:xfrm>
            <a:off x="8284464" y="3602736"/>
            <a:ext cx="3063240" cy="402336"/>
          </a:xfrm>
          <a:prstGeom prst="rect">
            <a:avLst/>
          </a:prstGeom>
          <a:noFill/>
        </p:spPr>
        <p:txBody>
          <a:bodyPr wrap="square" lIns="0" rIns="0" tIns="0" bIns="0" anchor="t">
            <a:spAutoFit/>
          </a:bodyPr>
          <a:lstStyle/>
          <a:p>
            <a:pPr algn="l">
              <a:lnSpc>
                <a:spcPct val="116000"/>
              </a:lnSpc>
              <a:spcBef>
                <a:spcPts val="0"/>
              </a:spcBef>
              <a:spcAft>
                <a:spcPts val="0"/>
              </a:spcAft>
            </a:pPr>
            <a:r>
              <a:rPr sz="950" b="0" i="0">
                <a:solidFill>
                  <a:srgbClr val="605E5C"/>
                </a:solidFill>
                <a:latin typeface="Segoe UI"/>
              </a:rPr>
              <a:t>Duration and tokens spike. Open the transcript and the failure is a misread requirement, not an exception.</a:t>
            </a:r>
          </a:p>
        </p:txBody>
      </p:sp>
      <p:sp>
        <p:nvSpPr>
          <p:cNvPr id="22" name="Rounded Rectangle 21"/>
          <p:cNvSpPr/>
          <p:nvPr/>
        </p:nvSpPr>
        <p:spPr>
          <a:xfrm>
            <a:off x="8083296" y="4133088"/>
            <a:ext cx="3447288" cy="932688"/>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8083296" y="4133088"/>
            <a:ext cx="50292" cy="932688"/>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8284464" y="4270248"/>
            <a:ext cx="292608" cy="292608"/>
          </a:xfrm>
          <a:prstGeom prst="roundRect">
            <a:avLst>
              <a:gd name="adj" fmla="val 50000"/>
            </a:avLst>
          </a:prstGeom>
          <a:solidFill>
            <a:srgbClr val="0078D4"/>
          </a:solidFill>
          <a:ln w="127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050" b="1" i="0">
                <a:solidFill>
                  <a:srgbClr val="FFFFFF"/>
                </a:solidFill>
                <a:latin typeface="Segoe UI"/>
              </a:rPr>
              <a:t>3</a:t>
            </a:r>
          </a:p>
        </p:txBody>
      </p:sp>
      <p:sp>
        <p:nvSpPr>
          <p:cNvPr id="25" name="TextBox 24"/>
          <p:cNvSpPr txBox="1"/>
          <p:nvPr/>
        </p:nvSpPr>
        <p:spPr>
          <a:xfrm>
            <a:off x="8650224" y="4251960"/>
            <a:ext cx="2715768" cy="329184"/>
          </a:xfrm>
          <a:prstGeom prst="rect">
            <a:avLst/>
          </a:prstGeom>
          <a:noFill/>
        </p:spPr>
        <p:txBody>
          <a:bodyPr wrap="square" lIns="0" rIns="0" tIns="0" bIns="0" anchor="t">
            <a:spAutoFit/>
          </a:bodyPr>
          <a:lstStyle/>
          <a:p>
            <a:pPr algn="l">
              <a:spcBef>
                <a:spcPts val="0"/>
              </a:spcBef>
              <a:spcAft>
                <a:spcPts val="0"/>
              </a:spcAft>
            </a:pPr>
            <a:r>
              <a:rPr sz="1150" b="1" i="0">
                <a:solidFill>
                  <a:srgbClr val="14243E"/>
                </a:solidFill>
                <a:latin typeface="Segoe UI"/>
              </a:rPr>
              <a:t>Ask the agent about itself</a:t>
            </a:r>
          </a:p>
        </p:txBody>
      </p:sp>
      <p:sp>
        <p:nvSpPr>
          <p:cNvPr id="26" name="TextBox 25"/>
          <p:cNvSpPr txBox="1"/>
          <p:nvPr/>
        </p:nvSpPr>
        <p:spPr>
          <a:xfrm>
            <a:off x="8284464" y="4608576"/>
            <a:ext cx="3063240" cy="402336"/>
          </a:xfrm>
          <a:prstGeom prst="rect">
            <a:avLst/>
          </a:prstGeom>
          <a:noFill/>
        </p:spPr>
        <p:txBody>
          <a:bodyPr wrap="square" lIns="0" rIns="0" tIns="0" bIns="0" anchor="t">
            <a:spAutoFit/>
          </a:bodyPr>
          <a:lstStyle/>
          <a:p>
            <a:pPr algn="l">
              <a:lnSpc>
                <a:spcPct val="116000"/>
              </a:lnSpc>
              <a:spcBef>
                <a:spcPts val="0"/>
              </a:spcBef>
              <a:spcAft>
                <a:spcPts val="0"/>
              </a:spcAft>
            </a:pPr>
            <a:r>
              <a:rPr sz="950" b="0" i="0">
                <a:solidFill>
                  <a:srgbClr val="605E5C"/>
                </a:solidFill>
                <a:latin typeface="Segoe UI"/>
              </a:rPr>
              <a:t>“+ chat” pre-stages #agentSession. It reads its own telemetry and answers with deeplinks.</a:t>
            </a:r>
          </a:p>
        </p:txBody>
      </p:sp>
      <p:sp>
        <p:nvSpPr>
          <p:cNvPr id="27" name="Rounded Rectangle 26"/>
          <p:cNvSpPr/>
          <p:nvPr/>
        </p:nvSpPr>
        <p:spPr>
          <a:xfrm>
            <a:off x="8083296" y="5175504"/>
            <a:ext cx="3447288" cy="932688"/>
          </a:xfrm>
          <a:prstGeom prst="roundRect">
            <a:avLst>
              <a:gd name="adj" fmla="val 4500"/>
            </a:avLst>
          </a:prstGeom>
          <a:solidFill>
            <a:srgbClr val="14243E"/>
          </a:solidFill>
          <a:ln w="12700">
            <a:solidFill>
              <a:srgbClr val="14243E"/>
            </a:solidFill>
          </a:ln>
          <a:effectLst/>
        </p:spPr>
        <p:style>
          <a:lnRef idx="1">
            <a:schemeClr val="accent1"/>
          </a:lnRef>
          <a:fillRef idx="3">
            <a:schemeClr val="accent1"/>
          </a:fillRef>
          <a:effectRef idx="2">
            <a:schemeClr val="accent1"/>
          </a:effectRef>
          <a:fontRef idx="minor">
            <a:schemeClr val="lt1"/>
          </a:fontRef>
        </p:style>
        <p:txBody>
          <a:bodyPr rtlCol="0" anchor="ctr" wrap="square" lIns="219456" rIns="219456"/>
          <a:lstStyle/>
          <a:p>
            <a:pPr algn="l">
              <a:lnSpc>
                <a:spcPct val="115000"/>
              </a:lnSpc>
              <a:spcBef>
                <a:spcPts val="0"/>
              </a:spcBef>
              <a:spcAft>
                <a:spcPts val="400"/>
              </a:spcAft>
            </a:pPr>
            <a:r>
              <a:rPr sz="1250" b="1" i="0">
                <a:solidFill>
                  <a:srgbClr val="FFFFFF"/>
                </a:solidFill>
                <a:latin typeface="Segoe UI"/>
              </a:rPr>
              <a:t>The agent just diagnosed the agent.</a:t>
            </a:r>
          </a:p>
          <a:p>
            <a:pPr algn="l">
              <a:lnSpc>
                <a:spcPct val="118000"/>
              </a:lnSpc>
              <a:spcBef>
                <a:spcPts val="0"/>
              </a:spcBef>
              <a:spcAft>
                <a:spcPts val="0"/>
              </a:spcAft>
            </a:pPr>
            <a:r>
              <a:rPr sz="950" b="0" i="0">
                <a:solidFill>
                  <a:srgbClr val="93A6C4"/>
                </a:solidFill>
                <a:latin typeface="Segoe UI"/>
              </a:rPr>
              <a:t>And its answer is clickable — the whole loop closing, on this machine.</a:t>
            </a:r>
          </a:p>
        </p:txBody>
      </p:sp>
      <p:sp>
        <p:nvSpPr>
          <p:cNvPr id="28" name="Rectangle 27"/>
          <p:cNvSpPr/>
          <p:nvPr/>
        </p:nvSpPr>
        <p:spPr>
          <a:xfrm>
            <a:off x="8083296" y="5175504"/>
            <a:ext cx="3447288" cy="4572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58368" y="6382512"/>
            <a:ext cx="8686800" cy="237744"/>
          </a:xfrm>
          <a:prstGeom prst="rect">
            <a:avLst/>
          </a:prstGeom>
          <a:noFill/>
        </p:spPr>
        <p:txBody>
          <a:bodyPr wrap="square" lIns="0" rIns="0" tIns="0" bIns="0" anchor="t">
            <a:spAutoFit/>
          </a:bodyPr>
          <a:lstStyle/>
          <a:p>
            <a:pPr algn="l">
              <a:spcBef>
                <a:spcPts val="0"/>
              </a:spcBef>
              <a:spcAft>
                <a:spcPts val="0"/>
              </a:spcAft>
            </a:pPr>
            <a:r>
              <a:rPr sz="900" b="0" i="0">
                <a:solidFill>
                  <a:srgbClr val="8A8886"/>
                </a:solidFill>
                <a:latin typeface="Segoe UI"/>
              </a:rPr>
              <a:t>Microsoft  ·  Agent Insights</a:t>
            </a:r>
          </a:p>
        </p:txBody>
      </p:sp>
      <p:sp>
        <p:nvSpPr>
          <p:cNvPr id="30" name="TextBox 29"/>
          <p:cNvSpPr txBox="1"/>
          <p:nvPr/>
        </p:nvSpPr>
        <p:spPr>
          <a:xfrm>
            <a:off x="10835640" y="6382512"/>
            <a:ext cx="694944" cy="237744"/>
          </a:xfrm>
          <a:prstGeom prst="rect">
            <a:avLst/>
          </a:prstGeom>
          <a:noFill/>
        </p:spPr>
        <p:txBody>
          <a:bodyPr wrap="square" lIns="0" rIns="0" tIns="0" bIns="0" anchor="t">
            <a:spAutoFit/>
          </a:bodyPr>
          <a:lstStyle/>
          <a:p>
            <a:pPr algn="r">
              <a:spcBef>
                <a:spcPts val="0"/>
              </a:spcBef>
              <a:spcAft>
                <a:spcPts val="0"/>
              </a:spcAft>
            </a:pPr>
            <a:r>
              <a:rPr sz="900" b="0" i="0">
                <a:solidFill>
                  <a:srgbClr val="8A8886"/>
                </a:solidFill>
                <a:latin typeface="Segoe U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47925" cy="685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47923" y="0"/>
            <a:ext cx="3047925" cy="68580"/>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6095847" y="0"/>
            <a:ext cx="3047925" cy="6858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143771" y="0"/>
            <a:ext cx="3047925" cy="68580"/>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384048"/>
            <a:ext cx="10872216" cy="237744"/>
          </a:xfrm>
          <a:prstGeom prst="rect">
            <a:avLst/>
          </a:prstGeom>
          <a:noFill/>
        </p:spPr>
        <p:txBody>
          <a:bodyPr wrap="square" lIns="0" rIns="0" tIns="0" bIns="0" anchor="t">
            <a:spAutoFit/>
          </a:bodyPr>
          <a:lstStyle/>
          <a:p>
            <a:pPr algn="l">
              <a:spcBef>
                <a:spcPts val="0"/>
              </a:spcBef>
              <a:spcAft>
                <a:spcPts val="0"/>
              </a:spcAft>
            </a:pPr>
            <a:r>
              <a:rPr sz="1050" b="1" i="0">
                <a:solidFill>
                  <a:srgbClr val="0078D4"/>
                </a:solidFill>
                <a:latin typeface="Segoe UI Semibold"/>
              </a:rPr>
              <a:t>04  DEMO · SCENARIO TWO</a:t>
            </a:r>
          </a:p>
        </p:txBody>
      </p:sp>
      <p:sp>
        <p:nvSpPr>
          <p:cNvPr id="7" name="TextBox 6"/>
          <p:cNvSpPr txBox="1"/>
          <p:nvPr/>
        </p:nvSpPr>
        <p:spPr>
          <a:xfrm>
            <a:off x="658368" y="658368"/>
            <a:ext cx="10872216" cy="502920"/>
          </a:xfrm>
          <a:prstGeom prst="rect">
            <a:avLst/>
          </a:prstGeom>
          <a:noFill/>
        </p:spPr>
        <p:txBody>
          <a:bodyPr wrap="square" lIns="0" rIns="0" tIns="0" bIns="0" anchor="t">
            <a:spAutoFit/>
          </a:bodyPr>
          <a:lstStyle/>
          <a:p>
            <a:pPr algn="l">
              <a:spcBef>
                <a:spcPts val="0"/>
              </a:spcBef>
              <a:spcAft>
                <a:spcPts val="0"/>
              </a:spcAft>
            </a:pPr>
            <a:r>
              <a:rPr sz="2900" b="0" i="0">
                <a:solidFill>
                  <a:srgbClr val="14243E"/>
                </a:solidFill>
                <a:latin typeface="Segoe UI Light"/>
              </a:rPr>
              <a:t>“Which agent should I have used?”</a:t>
            </a:r>
          </a:p>
        </p:txBody>
      </p:sp>
      <p:sp>
        <p:nvSpPr>
          <p:cNvPr id="8" name="TextBox 7"/>
          <p:cNvSpPr txBox="1"/>
          <p:nvPr/>
        </p:nvSpPr>
        <p:spPr>
          <a:xfrm>
            <a:off x="658368" y="1207008"/>
            <a:ext cx="10872216" cy="329184"/>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605E5C"/>
                </a:solidFill>
                <a:latin typeface="Segoe UI"/>
              </a:rPr>
              <a:t>The normalization payoff — it looks boring and it is the hardest thing in the project.</a:t>
            </a:r>
          </a:p>
        </p:txBody>
      </p:sp>
      <p:sp>
        <p:nvSpPr>
          <p:cNvPr id="9" name="Rectangle 8"/>
          <p:cNvSpPr/>
          <p:nvPr/>
        </p:nvSpPr>
        <p:spPr>
          <a:xfrm>
            <a:off x="658368" y="1591056"/>
            <a:ext cx="960120" cy="320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58368" y="1773936"/>
            <a:ext cx="7223760" cy="4059936"/>
          </a:xfrm>
          <a:prstGeom prst="rect">
            <a:avLst/>
          </a:prstGeom>
          <a:solidFill>
            <a:srgbClr val="F0F3F9"/>
          </a:solidFill>
          <a:ln w="12700">
            <a:solidFill>
              <a:srgbClr val="A8B8D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800"/>
              </a:spcAft>
            </a:pPr>
            <a:r>
              <a:rPr sz="3000" b="0" i="0">
                <a:solidFill>
                  <a:srgbClr val="9FB2CE"/>
                </a:solidFill>
                <a:latin typeface="Segoe UI"/>
              </a:rPr>
              <a:t>▶</a:t>
            </a:r>
          </a:p>
          <a:p>
            <a:pPr algn="ctr">
              <a:spcBef>
                <a:spcPts val="0"/>
              </a:spcBef>
              <a:spcAft>
                <a:spcPts val="400"/>
              </a:spcAft>
            </a:pPr>
            <a:r>
              <a:rPr sz="1300" b="0" i="0">
                <a:solidFill>
                  <a:srgbClr val="605E5C"/>
                </a:solidFill>
                <a:latin typeface="Segoe UI"/>
              </a:rPr>
              <a:t>drop the screen recording here</a:t>
            </a:r>
          </a:p>
          <a:p>
            <a:pPr algn="ctr">
              <a:spcBef>
                <a:spcPts val="0"/>
              </a:spcBef>
              <a:spcAft>
                <a:spcPts val="0"/>
              </a:spcAft>
            </a:pPr>
            <a:r>
              <a:rPr sz="1050" b="0" i="0">
                <a:solidFill>
                  <a:srgbClr val="8A8886"/>
                </a:solidFill>
                <a:latin typeface="Segoe UI"/>
              </a:rPr>
              <a:t>~75 seconds  ·  1920×1080  ·  no audio</a:t>
            </a:r>
          </a:p>
        </p:txBody>
      </p:sp>
      <p:sp>
        <p:nvSpPr>
          <p:cNvPr id="11" name="TextBox 10"/>
          <p:cNvSpPr txBox="1"/>
          <p:nvPr/>
        </p:nvSpPr>
        <p:spPr>
          <a:xfrm>
            <a:off x="8083296" y="1773936"/>
            <a:ext cx="3447288" cy="274320"/>
          </a:xfrm>
          <a:prstGeom prst="rect">
            <a:avLst/>
          </a:prstGeom>
          <a:noFill/>
        </p:spPr>
        <p:txBody>
          <a:bodyPr wrap="square" lIns="0" rIns="0" tIns="0" bIns="0" anchor="t">
            <a:spAutoFit/>
          </a:bodyPr>
          <a:lstStyle/>
          <a:p>
            <a:pPr algn="l">
              <a:spcBef>
                <a:spcPts val="0"/>
              </a:spcBef>
              <a:spcAft>
                <a:spcPts val="0"/>
              </a:spcAft>
            </a:pPr>
            <a:r>
              <a:rPr sz="1000" b="1" i="0">
                <a:solidFill>
                  <a:srgbClr val="8661C5"/>
                </a:solidFill>
                <a:latin typeface="Segoe UI Semibold"/>
              </a:rPr>
              <a:t>WHAT TO WATCH FOR</a:t>
            </a:r>
          </a:p>
        </p:txBody>
      </p:sp>
      <p:sp>
        <p:nvSpPr>
          <p:cNvPr id="12" name="Rounded Rectangle 11"/>
          <p:cNvSpPr/>
          <p:nvPr/>
        </p:nvSpPr>
        <p:spPr>
          <a:xfrm>
            <a:off x="8083296" y="2121408"/>
            <a:ext cx="3447288" cy="932688"/>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8083296" y="2121408"/>
            <a:ext cx="50292" cy="932688"/>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8284464" y="2258568"/>
            <a:ext cx="292608" cy="292608"/>
          </a:xfrm>
          <a:prstGeom prst="roundRect">
            <a:avLst>
              <a:gd name="adj" fmla="val 50000"/>
            </a:avLst>
          </a:prstGeom>
          <a:solidFill>
            <a:srgbClr val="8661C5"/>
          </a:solidFill>
          <a:ln w="12700">
            <a:solidFill>
              <a:srgbClr val="8661C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050" b="1" i="0">
                <a:solidFill>
                  <a:srgbClr val="FFFFFF"/>
                </a:solidFill>
                <a:latin typeface="Segoe UI"/>
              </a:rPr>
              <a:t>1</a:t>
            </a:r>
          </a:p>
        </p:txBody>
      </p:sp>
      <p:sp>
        <p:nvSpPr>
          <p:cNvPr id="15" name="TextBox 14"/>
          <p:cNvSpPr txBox="1"/>
          <p:nvPr/>
        </p:nvSpPr>
        <p:spPr>
          <a:xfrm>
            <a:off x="8650224" y="2240280"/>
            <a:ext cx="2715768" cy="329184"/>
          </a:xfrm>
          <a:prstGeom prst="rect">
            <a:avLst/>
          </a:prstGeom>
          <a:noFill/>
        </p:spPr>
        <p:txBody>
          <a:bodyPr wrap="square" lIns="0" rIns="0" tIns="0" bIns="0" anchor="t">
            <a:spAutoFit/>
          </a:bodyPr>
          <a:lstStyle/>
          <a:p>
            <a:pPr algn="l">
              <a:spcBef>
                <a:spcPts val="0"/>
              </a:spcBef>
              <a:spcAft>
                <a:spcPts val="0"/>
              </a:spcAft>
            </a:pPr>
            <a:r>
              <a:rPr sz="1150" b="1" i="0">
                <a:solidFill>
                  <a:srgbClr val="14243E"/>
                </a:solidFill>
                <a:latin typeface="Segoe UI"/>
              </a:rPr>
              <a:t>Status bar → Home</a:t>
            </a:r>
          </a:p>
        </p:txBody>
      </p:sp>
      <p:sp>
        <p:nvSpPr>
          <p:cNvPr id="16" name="TextBox 15"/>
          <p:cNvSpPr txBox="1"/>
          <p:nvPr/>
        </p:nvSpPr>
        <p:spPr>
          <a:xfrm>
            <a:off x="8284464" y="2596896"/>
            <a:ext cx="3063240" cy="402336"/>
          </a:xfrm>
          <a:prstGeom prst="rect">
            <a:avLst/>
          </a:prstGeom>
          <a:noFill/>
        </p:spPr>
        <p:txBody>
          <a:bodyPr wrap="square" lIns="0" rIns="0" tIns="0" bIns="0" anchor="t">
            <a:spAutoFit/>
          </a:bodyPr>
          <a:lstStyle/>
          <a:p>
            <a:pPr algn="l">
              <a:lnSpc>
                <a:spcPct val="116000"/>
              </a:lnSpc>
              <a:spcBef>
                <a:spcPts val="0"/>
              </a:spcBef>
              <a:spcAft>
                <a:spcPts val="0"/>
              </a:spcAft>
            </a:pPr>
            <a:r>
              <a:rPr sz="950" b="0" i="0">
                <a:solidFill>
                  <a:srgbClr val="605E5C"/>
                </a:solidFill>
                <a:latin typeface="Segoe UI"/>
              </a:rPr>
              <a:t>↓12.4K  42% cached  ↑3.1K. Tokens by model, cache read vs write, tool error rates, background calls.</a:t>
            </a:r>
          </a:p>
        </p:txBody>
      </p:sp>
      <p:sp>
        <p:nvSpPr>
          <p:cNvPr id="17" name="Rounded Rectangle 16"/>
          <p:cNvSpPr/>
          <p:nvPr/>
        </p:nvSpPr>
        <p:spPr>
          <a:xfrm>
            <a:off x="8083296" y="3127248"/>
            <a:ext cx="3447288" cy="932688"/>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083296" y="3127248"/>
            <a:ext cx="50292" cy="932688"/>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8284464" y="3264408"/>
            <a:ext cx="292608" cy="292608"/>
          </a:xfrm>
          <a:prstGeom prst="roundRect">
            <a:avLst>
              <a:gd name="adj" fmla="val 50000"/>
            </a:avLst>
          </a:prstGeom>
          <a:solidFill>
            <a:srgbClr val="8661C5"/>
          </a:solidFill>
          <a:ln w="12700">
            <a:solidFill>
              <a:srgbClr val="8661C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050" b="1" i="0">
                <a:solidFill>
                  <a:srgbClr val="FFFFFF"/>
                </a:solidFill>
                <a:latin typeface="Segoe UI"/>
              </a:rPr>
              <a:t>2</a:t>
            </a:r>
          </a:p>
        </p:txBody>
      </p:sp>
      <p:sp>
        <p:nvSpPr>
          <p:cNvPr id="20" name="TextBox 19"/>
          <p:cNvSpPr txBox="1"/>
          <p:nvPr/>
        </p:nvSpPr>
        <p:spPr>
          <a:xfrm>
            <a:off x="8650224" y="3246120"/>
            <a:ext cx="2715768" cy="329184"/>
          </a:xfrm>
          <a:prstGeom prst="rect">
            <a:avLst/>
          </a:prstGeom>
          <a:noFill/>
        </p:spPr>
        <p:txBody>
          <a:bodyPr wrap="square" lIns="0" rIns="0" tIns="0" bIns="0" anchor="t">
            <a:spAutoFit/>
          </a:bodyPr>
          <a:lstStyle/>
          <a:p>
            <a:pPr algn="l">
              <a:spcBef>
                <a:spcPts val="0"/>
              </a:spcBef>
              <a:spcAft>
                <a:spcPts val="0"/>
              </a:spcAft>
            </a:pPr>
            <a:r>
              <a:rPr sz="1150" b="1" i="0">
                <a:solidFill>
                  <a:srgbClr val="14243E"/>
                </a:solidFill>
                <a:latin typeface="Segoe UI"/>
              </a:rPr>
              <a:t>Three harnesses, one task</a:t>
            </a:r>
          </a:p>
        </p:txBody>
      </p:sp>
      <p:sp>
        <p:nvSpPr>
          <p:cNvPr id="21" name="TextBox 20"/>
          <p:cNvSpPr txBox="1"/>
          <p:nvPr/>
        </p:nvSpPr>
        <p:spPr>
          <a:xfrm>
            <a:off x="8284464" y="3602736"/>
            <a:ext cx="3063240" cy="402336"/>
          </a:xfrm>
          <a:prstGeom prst="rect">
            <a:avLst/>
          </a:prstGeom>
          <a:noFill/>
        </p:spPr>
        <p:txBody>
          <a:bodyPr wrap="square" lIns="0" rIns="0" tIns="0" bIns="0" anchor="t">
            <a:spAutoFit/>
          </a:bodyPr>
          <a:lstStyle/>
          <a:p>
            <a:pPr algn="l">
              <a:lnSpc>
                <a:spcPct val="116000"/>
              </a:lnSpc>
              <a:spcBef>
                <a:spcPts val="0"/>
              </a:spcBef>
              <a:spcAft>
                <a:spcPts val="0"/>
              </a:spcAft>
            </a:pPr>
            <a:r>
              <a:rPr sz="950" b="0" i="0">
                <a:solidFill>
                  <a:srgbClr val="605E5C"/>
                </a:solidFill>
                <a:latin typeface="Segoe UI"/>
              </a:rPr>
              <a:t>Three session rows side by side. Same columns, same meaning — that is the entire contribution.</a:t>
            </a:r>
          </a:p>
        </p:txBody>
      </p:sp>
      <p:sp>
        <p:nvSpPr>
          <p:cNvPr id="22" name="Rounded Rectangle 21"/>
          <p:cNvSpPr/>
          <p:nvPr/>
        </p:nvSpPr>
        <p:spPr>
          <a:xfrm>
            <a:off x="8083296" y="4133088"/>
            <a:ext cx="3447288" cy="932688"/>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8083296" y="4133088"/>
            <a:ext cx="50292" cy="932688"/>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8284464" y="4270248"/>
            <a:ext cx="292608" cy="292608"/>
          </a:xfrm>
          <a:prstGeom prst="roundRect">
            <a:avLst>
              <a:gd name="adj" fmla="val 50000"/>
            </a:avLst>
          </a:prstGeom>
          <a:solidFill>
            <a:srgbClr val="8661C5"/>
          </a:solidFill>
          <a:ln w="12700">
            <a:solidFill>
              <a:srgbClr val="8661C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050" b="1" i="0">
                <a:solidFill>
                  <a:srgbClr val="FFFFFF"/>
                </a:solidFill>
                <a:latin typeface="Segoe UI"/>
              </a:rPr>
              <a:t>3</a:t>
            </a:r>
          </a:p>
        </p:txBody>
      </p:sp>
      <p:sp>
        <p:nvSpPr>
          <p:cNvPr id="25" name="TextBox 24"/>
          <p:cNvSpPr txBox="1"/>
          <p:nvPr/>
        </p:nvSpPr>
        <p:spPr>
          <a:xfrm>
            <a:off x="8650224" y="4251960"/>
            <a:ext cx="2715768" cy="329184"/>
          </a:xfrm>
          <a:prstGeom prst="rect">
            <a:avLst/>
          </a:prstGeom>
          <a:noFill/>
        </p:spPr>
        <p:txBody>
          <a:bodyPr wrap="square" lIns="0" rIns="0" tIns="0" bIns="0" anchor="t">
            <a:spAutoFit/>
          </a:bodyPr>
          <a:lstStyle/>
          <a:p>
            <a:pPr algn="l">
              <a:spcBef>
                <a:spcPts val="0"/>
              </a:spcBef>
              <a:spcAft>
                <a:spcPts val="0"/>
              </a:spcAft>
            </a:pPr>
            <a:r>
              <a:rPr sz="1150" b="1" i="0">
                <a:solidFill>
                  <a:srgbClr val="14243E"/>
                </a:solidFill>
                <a:latin typeface="Segoe UI"/>
              </a:rPr>
              <a:t>It states its own limits</a:t>
            </a:r>
          </a:p>
        </p:txBody>
      </p:sp>
      <p:sp>
        <p:nvSpPr>
          <p:cNvPr id="26" name="TextBox 25"/>
          <p:cNvSpPr txBox="1"/>
          <p:nvPr/>
        </p:nvSpPr>
        <p:spPr>
          <a:xfrm>
            <a:off x="8284464" y="4608576"/>
            <a:ext cx="3063240" cy="402336"/>
          </a:xfrm>
          <a:prstGeom prst="rect">
            <a:avLst/>
          </a:prstGeom>
          <a:noFill/>
        </p:spPr>
        <p:txBody>
          <a:bodyPr wrap="square" lIns="0" rIns="0" tIns="0" bIns="0" anchor="t">
            <a:spAutoFit/>
          </a:bodyPr>
          <a:lstStyle/>
          <a:p>
            <a:pPr algn="l">
              <a:lnSpc>
                <a:spcPct val="116000"/>
              </a:lnSpc>
              <a:spcBef>
                <a:spcPts val="0"/>
              </a:spcBef>
              <a:spcAft>
                <a:spcPts val="0"/>
              </a:spcAft>
            </a:pPr>
            <a:r>
              <a:rPr sz="950" b="0" i="0">
                <a:solidFill>
                  <a:srgbClr val="605E5C"/>
                </a:solidFill>
                <a:latin typeface="Segoe UI"/>
              </a:rPr>
              <a:t>Told that call counts are not like-for-like across harnesses, it describes rather than ranks.</a:t>
            </a:r>
          </a:p>
        </p:txBody>
      </p:sp>
      <p:sp>
        <p:nvSpPr>
          <p:cNvPr id="27" name="Rounded Rectangle 26"/>
          <p:cNvSpPr/>
          <p:nvPr/>
        </p:nvSpPr>
        <p:spPr>
          <a:xfrm>
            <a:off x="8083296" y="5175504"/>
            <a:ext cx="3447288" cy="932688"/>
          </a:xfrm>
          <a:prstGeom prst="roundRect">
            <a:avLst>
              <a:gd name="adj" fmla="val 4500"/>
            </a:avLst>
          </a:prstGeom>
          <a:solidFill>
            <a:srgbClr val="14243E"/>
          </a:solidFill>
          <a:ln w="12700">
            <a:solidFill>
              <a:srgbClr val="14243E"/>
            </a:solidFill>
          </a:ln>
          <a:effectLst/>
        </p:spPr>
        <p:style>
          <a:lnRef idx="1">
            <a:schemeClr val="accent1"/>
          </a:lnRef>
          <a:fillRef idx="3">
            <a:schemeClr val="accent1"/>
          </a:fillRef>
          <a:effectRef idx="2">
            <a:schemeClr val="accent1"/>
          </a:effectRef>
          <a:fontRef idx="minor">
            <a:schemeClr val="lt1"/>
          </a:fontRef>
        </p:style>
        <p:txBody>
          <a:bodyPr rtlCol="0" anchor="ctr" wrap="square" lIns="219456" rIns="219456"/>
          <a:lstStyle/>
          <a:p>
            <a:pPr algn="l">
              <a:lnSpc>
                <a:spcPct val="115000"/>
              </a:lnSpc>
              <a:spcBef>
                <a:spcPts val="0"/>
              </a:spcBef>
              <a:spcAft>
                <a:spcPts val="400"/>
              </a:spcAft>
            </a:pPr>
            <a:r>
              <a:rPr sz="1250" b="1" i="0">
                <a:solidFill>
                  <a:srgbClr val="FFFFFF"/>
                </a:solidFill>
                <a:latin typeface="Segoe UI"/>
              </a:rPr>
              <a:t>“Getting these three rows comparable is 90% of this project.”</a:t>
            </a:r>
          </a:p>
          <a:p>
            <a:pPr algn="l">
              <a:lnSpc>
                <a:spcPct val="118000"/>
              </a:lnSpc>
              <a:spcBef>
                <a:spcPts val="0"/>
              </a:spcBef>
              <a:spcAft>
                <a:spcPts val="0"/>
              </a:spcAft>
            </a:pPr>
            <a:r>
              <a:rPr sz="950" b="0" i="0">
                <a:solidFill>
                  <a:srgbClr val="93A6C4"/>
                </a:solidFill>
                <a:latin typeface="Segoe UI"/>
              </a:rPr>
              <a:t>One definition of a session, a turn, a call and a token — across three vocabularies.</a:t>
            </a:r>
          </a:p>
        </p:txBody>
      </p:sp>
      <p:sp>
        <p:nvSpPr>
          <p:cNvPr id="28" name="Rectangle 27"/>
          <p:cNvSpPr/>
          <p:nvPr/>
        </p:nvSpPr>
        <p:spPr>
          <a:xfrm>
            <a:off x="8083296" y="5175504"/>
            <a:ext cx="3447288" cy="4572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58368" y="6382512"/>
            <a:ext cx="8686800" cy="237744"/>
          </a:xfrm>
          <a:prstGeom prst="rect">
            <a:avLst/>
          </a:prstGeom>
          <a:noFill/>
        </p:spPr>
        <p:txBody>
          <a:bodyPr wrap="square" lIns="0" rIns="0" tIns="0" bIns="0" anchor="t">
            <a:spAutoFit/>
          </a:bodyPr>
          <a:lstStyle/>
          <a:p>
            <a:pPr algn="l">
              <a:spcBef>
                <a:spcPts val="0"/>
              </a:spcBef>
              <a:spcAft>
                <a:spcPts val="0"/>
              </a:spcAft>
            </a:pPr>
            <a:r>
              <a:rPr sz="900" b="0" i="0">
                <a:solidFill>
                  <a:srgbClr val="8A8886"/>
                </a:solidFill>
                <a:latin typeface="Segoe UI"/>
              </a:rPr>
              <a:t>Microsoft  ·  Agent Insights</a:t>
            </a:r>
          </a:p>
        </p:txBody>
      </p:sp>
      <p:sp>
        <p:nvSpPr>
          <p:cNvPr id="30" name="TextBox 29"/>
          <p:cNvSpPr txBox="1"/>
          <p:nvPr/>
        </p:nvSpPr>
        <p:spPr>
          <a:xfrm>
            <a:off x="10835640" y="6382512"/>
            <a:ext cx="694944" cy="237744"/>
          </a:xfrm>
          <a:prstGeom prst="rect">
            <a:avLst/>
          </a:prstGeom>
          <a:noFill/>
        </p:spPr>
        <p:txBody>
          <a:bodyPr wrap="square" lIns="0" rIns="0" tIns="0" bIns="0" anchor="t">
            <a:spAutoFit/>
          </a:bodyPr>
          <a:lstStyle/>
          <a:p>
            <a:pPr algn="r">
              <a:spcBef>
                <a:spcPts val="0"/>
              </a:spcBef>
              <a:spcAft>
                <a:spcPts val="0"/>
              </a:spcAft>
            </a:pPr>
            <a:r>
              <a:rPr sz="900" b="0" i="0">
                <a:solidFill>
                  <a:srgbClr val="8A8886"/>
                </a:solidFill>
                <a:latin typeface="Segoe U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4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64592" cy="6858000"/>
          </a:xfrm>
          <a:prstGeom prst="rect">
            <a:avLst/>
          </a:prstGeom>
          <a:solidFill>
            <a:srgbClr val="0E70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51560" y="2121408"/>
            <a:ext cx="1828800" cy="1280160"/>
          </a:xfrm>
          <a:prstGeom prst="rect">
            <a:avLst/>
          </a:prstGeom>
          <a:noFill/>
        </p:spPr>
        <p:txBody>
          <a:bodyPr wrap="square" lIns="0" rIns="0" tIns="0" bIns="0" anchor="t">
            <a:spAutoFit/>
          </a:bodyPr>
          <a:lstStyle/>
          <a:p>
            <a:pPr algn="l">
              <a:spcBef>
                <a:spcPts val="0"/>
              </a:spcBef>
              <a:spcAft>
                <a:spcPts val="0"/>
              </a:spcAft>
            </a:pPr>
            <a:r>
              <a:rPr sz="8800" b="1" i="0">
                <a:solidFill>
                  <a:srgbClr val="0E700E"/>
                </a:solidFill>
                <a:latin typeface="Segoe UI Light"/>
              </a:rPr>
              <a:t>05</a:t>
            </a:r>
          </a:p>
        </p:txBody>
      </p:sp>
      <p:sp>
        <p:nvSpPr>
          <p:cNvPr id="5" name="Rectangle 4"/>
          <p:cNvSpPr/>
          <p:nvPr/>
        </p:nvSpPr>
        <p:spPr>
          <a:xfrm>
            <a:off x="2788920" y="2212848"/>
            <a:ext cx="27432" cy="1828800"/>
          </a:xfrm>
          <a:prstGeom prst="rect">
            <a:avLst/>
          </a:prstGeom>
          <a:solidFill>
            <a:srgbClr val="3A4E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3246120" y="2286000"/>
            <a:ext cx="7863840" cy="1737360"/>
          </a:xfrm>
          <a:prstGeom prst="rect">
            <a:avLst/>
          </a:prstGeom>
          <a:noFill/>
        </p:spPr>
        <p:txBody>
          <a:bodyPr wrap="square" lIns="0" rIns="0" tIns="0" bIns="0" anchor="t">
            <a:spAutoFit/>
          </a:bodyPr>
          <a:lstStyle/>
          <a:p>
            <a:pPr algn="l">
              <a:lnSpc>
                <a:spcPct val="110000"/>
              </a:lnSpc>
              <a:spcBef>
                <a:spcPts val="0"/>
              </a:spcBef>
              <a:spcAft>
                <a:spcPts val="1200"/>
              </a:spcAft>
            </a:pPr>
            <a:r>
              <a:rPr sz="4200" b="0" i="0">
                <a:solidFill>
                  <a:srgbClr val="FFFFFF"/>
                </a:solidFill>
                <a:latin typeface="Segoe UI Light"/>
              </a:rPr>
              <a:t>Impact</a:t>
            </a:r>
          </a:p>
          <a:p>
            <a:pPr algn="l">
              <a:lnSpc>
                <a:spcPct val="130000"/>
              </a:lnSpc>
              <a:spcBef>
                <a:spcPts val="0"/>
              </a:spcBef>
              <a:spcAft>
                <a:spcPts val="0"/>
              </a:spcAft>
            </a:pPr>
            <a:r>
              <a:rPr sz="1550" b="0" i="0">
                <a:solidFill>
                  <a:srgbClr val="93A6C4"/>
                </a:solidFill>
                <a:latin typeface="Segoe UI"/>
              </a:rPr>
              <a:t>What is true now that wasn’t before — and where
it goes from here.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47925" cy="685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47923" y="0"/>
            <a:ext cx="3047925" cy="68580"/>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6095847" y="0"/>
            <a:ext cx="3047925" cy="6858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143771" y="0"/>
            <a:ext cx="3047925" cy="68580"/>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384048"/>
            <a:ext cx="10872216" cy="237744"/>
          </a:xfrm>
          <a:prstGeom prst="rect">
            <a:avLst/>
          </a:prstGeom>
          <a:noFill/>
        </p:spPr>
        <p:txBody>
          <a:bodyPr wrap="square" lIns="0" rIns="0" tIns="0" bIns="0" anchor="t">
            <a:spAutoFit/>
          </a:bodyPr>
          <a:lstStyle/>
          <a:p>
            <a:pPr algn="l">
              <a:spcBef>
                <a:spcPts val="0"/>
              </a:spcBef>
              <a:spcAft>
                <a:spcPts val="0"/>
              </a:spcAft>
            </a:pPr>
            <a:r>
              <a:rPr sz="1050" b="1" i="0">
                <a:solidFill>
                  <a:srgbClr val="0078D4"/>
                </a:solidFill>
                <a:latin typeface="Segoe UI Semibold"/>
              </a:rPr>
              <a:t>05  IMPACT</a:t>
            </a:r>
          </a:p>
        </p:txBody>
      </p:sp>
      <p:sp>
        <p:nvSpPr>
          <p:cNvPr id="7" name="TextBox 6"/>
          <p:cNvSpPr txBox="1"/>
          <p:nvPr/>
        </p:nvSpPr>
        <p:spPr>
          <a:xfrm>
            <a:off x="658368" y="658368"/>
            <a:ext cx="10872216" cy="502920"/>
          </a:xfrm>
          <a:prstGeom prst="rect">
            <a:avLst/>
          </a:prstGeom>
          <a:noFill/>
        </p:spPr>
        <p:txBody>
          <a:bodyPr wrap="square" lIns="0" rIns="0" tIns="0" bIns="0" anchor="t">
            <a:spAutoFit/>
          </a:bodyPr>
          <a:lstStyle/>
          <a:p>
            <a:pPr algn="l">
              <a:spcBef>
                <a:spcPts val="0"/>
              </a:spcBef>
              <a:spcAft>
                <a:spcPts val="0"/>
              </a:spcAft>
            </a:pPr>
            <a:r>
              <a:rPr sz="2900" b="0" i="0">
                <a:solidFill>
                  <a:srgbClr val="14243E"/>
                </a:solidFill>
                <a:latin typeface="Segoe UI Light"/>
              </a:rPr>
              <a:t>What is true now that wasn’t before</a:t>
            </a:r>
          </a:p>
        </p:txBody>
      </p:sp>
      <p:sp>
        <p:nvSpPr>
          <p:cNvPr id="8" name="Rectangle 7"/>
          <p:cNvSpPr/>
          <p:nvPr/>
        </p:nvSpPr>
        <p:spPr>
          <a:xfrm>
            <a:off x="658368" y="1152144"/>
            <a:ext cx="960120" cy="320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658368" y="1316736"/>
            <a:ext cx="5330952" cy="914400"/>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19456"/>
          <a:lstStyle/>
          <a:p>
            <a:pPr algn="l">
              <a:lnSpc>
                <a:spcPct val="114000"/>
              </a:lnSpc>
              <a:spcBef>
                <a:spcPts val="0"/>
              </a:spcBef>
              <a:spcAft>
                <a:spcPts val="400"/>
              </a:spcAft>
            </a:pPr>
            <a:r>
              <a:rPr sz="1300" b="1" i="0">
                <a:solidFill>
                  <a:srgbClr val="14243E"/>
                </a:solidFill>
                <a:latin typeface="Segoe UI"/>
              </a:rPr>
              <a:t>Agent sessions are a first-class, queryable object</a:t>
            </a:r>
          </a:p>
          <a:p>
            <a:pPr algn="l">
              <a:lnSpc>
                <a:spcPct val="122000"/>
              </a:lnSpc>
              <a:spcBef>
                <a:spcPts val="0"/>
              </a:spcBef>
              <a:spcAft>
                <a:spcPts val="0"/>
              </a:spcAft>
            </a:pPr>
            <a:r>
              <a:rPr sz="1050" b="0" i="0">
                <a:solidFill>
                  <a:srgbClr val="605E5C"/>
                </a:solidFill>
                <a:latin typeface="Segoe UI"/>
              </a:rPr>
              <a:t>On your own machine, across three harnesses, with one definition of a turn, a model call, a tool call and a token.</a:t>
            </a:r>
          </a:p>
        </p:txBody>
      </p:sp>
      <p:sp>
        <p:nvSpPr>
          <p:cNvPr id="10" name="Rectangle 9"/>
          <p:cNvSpPr/>
          <p:nvPr/>
        </p:nvSpPr>
        <p:spPr>
          <a:xfrm>
            <a:off x="658368" y="1316736"/>
            <a:ext cx="54864" cy="91440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199632" y="1316736"/>
            <a:ext cx="5330952" cy="914400"/>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19456"/>
          <a:lstStyle/>
          <a:p>
            <a:pPr algn="l">
              <a:lnSpc>
                <a:spcPct val="114000"/>
              </a:lnSpc>
              <a:spcBef>
                <a:spcPts val="0"/>
              </a:spcBef>
              <a:spcAft>
                <a:spcPts val="400"/>
              </a:spcAft>
            </a:pPr>
            <a:r>
              <a:rPr sz="1300" b="1" i="0">
                <a:solidFill>
                  <a:srgbClr val="14243E"/>
                </a:solidFill>
                <a:latin typeface="Segoe UI"/>
              </a:rPr>
              <a:t>Semantic failures are diagnosable</a:t>
            </a:r>
          </a:p>
          <a:p>
            <a:pPr algn="l">
              <a:lnSpc>
                <a:spcPct val="122000"/>
              </a:lnSpc>
              <a:spcBef>
                <a:spcPts val="0"/>
              </a:spcBef>
              <a:spcAft>
                <a:spcPts val="0"/>
              </a:spcAft>
            </a:pPr>
            <a:r>
              <a:rPr sz="1050" b="0" i="0">
                <a:solidFill>
                  <a:srgbClr val="605E5C"/>
                </a:solidFill>
                <a:latin typeface="Segoe UI"/>
              </a:rPr>
              <a:t>“It misunderstood me on turn 5” is now something you can point at.</a:t>
            </a:r>
          </a:p>
        </p:txBody>
      </p:sp>
      <p:sp>
        <p:nvSpPr>
          <p:cNvPr id="12" name="Rectangle 11"/>
          <p:cNvSpPr/>
          <p:nvPr/>
        </p:nvSpPr>
        <p:spPr>
          <a:xfrm>
            <a:off x="6199632" y="1316736"/>
            <a:ext cx="54864" cy="914400"/>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58368" y="2377440"/>
            <a:ext cx="5330952" cy="914400"/>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19456"/>
          <a:lstStyle/>
          <a:p>
            <a:pPr algn="l">
              <a:lnSpc>
                <a:spcPct val="114000"/>
              </a:lnSpc>
              <a:spcBef>
                <a:spcPts val="0"/>
              </a:spcBef>
              <a:spcAft>
                <a:spcPts val="400"/>
              </a:spcAft>
            </a:pPr>
            <a:r>
              <a:rPr sz="1300" b="1" i="0">
                <a:solidFill>
                  <a:srgbClr val="14243E"/>
                </a:solidFill>
                <a:latin typeface="Segoe UI"/>
              </a:rPr>
              <a:t>The agent can reason about itself</a:t>
            </a:r>
          </a:p>
          <a:p>
            <a:pPr algn="l">
              <a:lnSpc>
                <a:spcPct val="122000"/>
              </a:lnSpc>
              <a:spcBef>
                <a:spcPts val="0"/>
              </a:spcBef>
              <a:spcAft>
                <a:spcPts val="0"/>
              </a:spcAft>
            </a:pPr>
            <a:r>
              <a:rPr sz="1050" b="0" i="0">
                <a:solidFill>
                  <a:srgbClr val="605E5C"/>
                </a:solidFill>
                <a:latin typeface="Segoe UI"/>
              </a:rPr>
              <a:t>“Why was that slow” and “compare these two runs” are answerable in the editor — with clickable answers.</a:t>
            </a:r>
          </a:p>
        </p:txBody>
      </p:sp>
      <p:sp>
        <p:nvSpPr>
          <p:cNvPr id="14" name="Rectangle 13"/>
          <p:cNvSpPr/>
          <p:nvPr/>
        </p:nvSpPr>
        <p:spPr>
          <a:xfrm>
            <a:off x="658368" y="2377440"/>
            <a:ext cx="54864" cy="914400"/>
          </a:xfrm>
          <a:prstGeom prst="rect">
            <a:avLst/>
          </a:prstGeom>
          <a:solidFill>
            <a:srgbClr val="0E70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199632" y="2377440"/>
            <a:ext cx="5330952" cy="914400"/>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19456"/>
          <a:lstStyle/>
          <a:p>
            <a:pPr algn="l">
              <a:lnSpc>
                <a:spcPct val="114000"/>
              </a:lnSpc>
              <a:spcBef>
                <a:spcPts val="0"/>
              </a:spcBef>
              <a:spcAft>
                <a:spcPts val="400"/>
              </a:spcAft>
            </a:pPr>
            <a:r>
              <a:rPr sz="1300" b="1" i="0">
                <a:solidFill>
                  <a:srgbClr val="14243E"/>
                </a:solidFill>
                <a:latin typeface="Segoe UI"/>
              </a:rPr>
              <a:t>Cost is visible continuously</a:t>
            </a:r>
          </a:p>
          <a:p>
            <a:pPr algn="l">
              <a:lnSpc>
                <a:spcPct val="122000"/>
              </a:lnSpc>
              <a:spcBef>
                <a:spcPts val="0"/>
              </a:spcBef>
              <a:spcAft>
                <a:spcPts val="0"/>
              </a:spcAft>
            </a:pPr>
            <a:r>
              <a:rPr sz="1050" b="0" i="0">
                <a:solidFill>
                  <a:srgbClr val="605E5C"/>
                </a:solidFill>
                <a:latin typeface="Segoe UI"/>
              </a:rPr>
              <a:t>A live status-bar baseline, built from telemetry that was otherwise thrown away.</a:t>
            </a:r>
          </a:p>
        </p:txBody>
      </p:sp>
      <p:sp>
        <p:nvSpPr>
          <p:cNvPr id="16" name="Rectangle 15"/>
          <p:cNvSpPr/>
          <p:nvPr/>
        </p:nvSpPr>
        <p:spPr>
          <a:xfrm>
            <a:off x="6199632" y="2377440"/>
            <a:ext cx="54864" cy="914400"/>
          </a:xfrm>
          <a:prstGeom prst="rect">
            <a:avLst/>
          </a:prstGeom>
          <a:solidFill>
            <a:srgbClr val="E87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658368" y="3438144"/>
            <a:ext cx="5330952" cy="914400"/>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19456"/>
          <a:lstStyle/>
          <a:p>
            <a:pPr algn="l">
              <a:lnSpc>
                <a:spcPct val="114000"/>
              </a:lnSpc>
              <a:spcBef>
                <a:spcPts val="0"/>
              </a:spcBef>
              <a:spcAft>
                <a:spcPts val="400"/>
              </a:spcAft>
            </a:pPr>
            <a:r>
              <a:rPr sz="1300" b="1" i="0">
                <a:solidFill>
                  <a:srgbClr val="14243E"/>
                </a:solidFill>
                <a:latin typeface="Segoe UI"/>
              </a:rPr>
              <a:t>Local-first and private by construction</a:t>
            </a:r>
          </a:p>
          <a:p>
            <a:pPr algn="l">
              <a:lnSpc>
                <a:spcPct val="122000"/>
              </a:lnSpc>
              <a:spcBef>
                <a:spcPts val="0"/>
              </a:spcBef>
              <a:spcAft>
                <a:spcPts val="0"/>
              </a:spcAft>
            </a:pPr>
            <a:r>
              <a:rPr sz="1050" b="0" i="0">
                <a:solidFill>
                  <a:srgbClr val="605E5C"/>
                </a:solidFill>
                <a:latin typeface="Segoe UI"/>
              </a:rPr>
              <a:t>Nothing leaves the machine — which matters precisely because the data is prompts and source code.</a:t>
            </a:r>
          </a:p>
        </p:txBody>
      </p:sp>
      <p:sp>
        <p:nvSpPr>
          <p:cNvPr id="18" name="Rectangle 17"/>
          <p:cNvSpPr/>
          <p:nvPr/>
        </p:nvSpPr>
        <p:spPr>
          <a:xfrm>
            <a:off x="658368" y="3438144"/>
            <a:ext cx="54864" cy="914400"/>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6199632" y="3438144"/>
            <a:ext cx="5330952" cy="914400"/>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19456"/>
          <a:lstStyle/>
          <a:p>
            <a:pPr algn="l">
              <a:lnSpc>
                <a:spcPct val="114000"/>
              </a:lnSpc>
              <a:spcBef>
                <a:spcPts val="0"/>
              </a:spcBef>
              <a:spcAft>
                <a:spcPts val="400"/>
              </a:spcAft>
            </a:pPr>
            <a:r>
              <a:rPr sz="1300" b="1" i="0">
                <a:solidFill>
                  <a:srgbClr val="14243E"/>
                </a:solidFill>
                <a:latin typeface="Segoe UI"/>
              </a:rPr>
              <a:t>It survives real use</a:t>
            </a:r>
          </a:p>
          <a:p>
            <a:pPr algn="l">
              <a:lnSpc>
                <a:spcPct val="122000"/>
              </a:lnSpc>
              <a:spcBef>
                <a:spcPts val="0"/>
              </a:spcBef>
              <a:spcAft>
                <a:spcPts val="0"/>
              </a:spcAft>
            </a:pPr>
            <a:r>
              <a:rPr sz="1050" b="0" i="0">
                <a:solidFill>
                  <a:srgbClr val="605E5C"/>
                </a:solidFill>
                <a:latin typeface="Segoe UI"/>
              </a:rPr>
              <a:t>Multi-window handover, bounded retention, and a worker thread so a heavy query can’t freeze the editor.</a:t>
            </a:r>
          </a:p>
        </p:txBody>
      </p:sp>
      <p:sp>
        <p:nvSpPr>
          <p:cNvPr id="20" name="Rectangle 19"/>
          <p:cNvSpPr/>
          <p:nvPr/>
        </p:nvSpPr>
        <p:spPr>
          <a:xfrm>
            <a:off x="6199632" y="3438144"/>
            <a:ext cx="54864" cy="91440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658368" y="5065776"/>
            <a:ext cx="3502152" cy="1005840"/>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a:lstStyle/>
          <a:p>
            <a:pPr algn="l">
              <a:spcBef>
                <a:spcPts val="0"/>
              </a:spcBef>
              <a:spcAft>
                <a:spcPts val="100"/>
              </a:spcAft>
            </a:pPr>
            <a:r>
              <a:rPr sz="2600" b="1" i="0">
                <a:solidFill>
                  <a:srgbClr val="0078D4"/>
                </a:solidFill>
                <a:latin typeface="Segoe UI Light"/>
              </a:rPr>
              <a:t>3</a:t>
            </a:r>
          </a:p>
          <a:p>
            <a:pPr algn="l">
              <a:lnSpc>
                <a:spcPct val="115000"/>
              </a:lnSpc>
              <a:spcBef>
                <a:spcPts val="0"/>
              </a:spcBef>
              <a:spcAft>
                <a:spcPts val="0"/>
              </a:spcAft>
            </a:pPr>
            <a:r>
              <a:rPr sz="1100" b="0" i="0">
                <a:solidFill>
                  <a:srgbClr val="605E5C"/>
                </a:solidFill>
                <a:latin typeface="Segoe UI"/>
              </a:rPr>
              <a:t>agent harnesses normalized</a:t>
            </a:r>
          </a:p>
        </p:txBody>
      </p:sp>
      <p:sp>
        <p:nvSpPr>
          <p:cNvPr id="22" name="Rectangle 21"/>
          <p:cNvSpPr/>
          <p:nvPr/>
        </p:nvSpPr>
        <p:spPr>
          <a:xfrm>
            <a:off x="658368" y="5065776"/>
            <a:ext cx="3502152" cy="50292"/>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4343400" y="5065776"/>
            <a:ext cx="3502152" cy="1005840"/>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a:lstStyle/>
          <a:p>
            <a:pPr algn="l">
              <a:spcBef>
                <a:spcPts val="0"/>
              </a:spcBef>
              <a:spcAft>
                <a:spcPts val="100"/>
              </a:spcAft>
            </a:pPr>
            <a:r>
              <a:rPr sz="2600" b="1" i="0">
                <a:solidFill>
                  <a:srgbClr val="8661C5"/>
                </a:solidFill>
                <a:latin typeface="Segoe UI Light"/>
              </a:rPr>
              <a:t>12</a:t>
            </a:r>
          </a:p>
          <a:p>
            <a:pPr algn="l">
              <a:lnSpc>
                <a:spcPct val="115000"/>
              </a:lnSpc>
              <a:spcBef>
                <a:spcPts val="0"/>
              </a:spcBef>
              <a:spcAft>
                <a:spcPts val="0"/>
              </a:spcAft>
            </a:pPr>
            <a:r>
              <a:rPr sz="1100" b="0" i="0">
                <a:solidFill>
                  <a:srgbClr val="605E5C"/>
                </a:solidFill>
                <a:latin typeface="Segoe UI"/>
              </a:rPr>
              <a:t>language-model tools + 1 chat skill</a:t>
            </a:r>
          </a:p>
        </p:txBody>
      </p:sp>
      <p:sp>
        <p:nvSpPr>
          <p:cNvPr id="24" name="Rectangle 23"/>
          <p:cNvSpPr/>
          <p:nvPr/>
        </p:nvSpPr>
        <p:spPr>
          <a:xfrm>
            <a:off x="4343400" y="5065776"/>
            <a:ext cx="3502152" cy="50292"/>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8028432" y="5065776"/>
            <a:ext cx="3502152" cy="1005840"/>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a:lstStyle/>
          <a:p>
            <a:pPr algn="l">
              <a:spcBef>
                <a:spcPts val="0"/>
              </a:spcBef>
              <a:spcAft>
                <a:spcPts val="100"/>
              </a:spcAft>
            </a:pPr>
            <a:r>
              <a:rPr sz="2600" b="1" i="0">
                <a:solidFill>
                  <a:srgbClr val="00B7C3"/>
                </a:solidFill>
                <a:latin typeface="Segoe UI Light"/>
              </a:rPr>
              <a:t>100%</a:t>
            </a:r>
          </a:p>
          <a:p>
            <a:pPr algn="l">
              <a:lnSpc>
                <a:spcPct val="115000"/>
              </a:lnSpc>
              <a:spcBef>
                <a:spcPts val="0"/>
              </a:spcBef>
              <a:spcAft>
                <a:spcPts val="0"/>
              </a:spcAft>
            </a:pPr>
            <a:r>
              <a:rPr sz="1100" b="0" i="0">
                <a:solidFill>
                  <a:srgbClr val="605E5C"/>
                </a:solidFill>
                <a:latin typeface="Segoe UI"/>
              </a:rPr>
              <a:t>local — nothing leaves the machine</a:t>
            </a:r>
          </a:p>
        </p:txBody>
      </p:sp>
      <p:sp>
        <p:nvSpPr>
          <p:cNvPr id="26" name="Rectangle 25"/>
          <p:cNvSpPr/>
          <p:nvPr/>
        </p:nvSpPr>
        <p:spPr>
          <a:xfrm>
            <a:off x="8028432" y="5065776"/>
            <a:ext cx="3502152" cy="50292"/>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58368" y="6382512"/>
            <a:ext cx="8686800" cy="237744"/>
          </a:xfrm>
          <a:prstGeom prst="rect">
            <a:avLst/>
          </a:prstGeom>
          <a:noFill/>
        </p:spPr>
        <p:txBody>
          <a:bodyPr wrap="square" lIns="0" rIns="0" tIns="0" bIns="0" anchor="t">
            <a:spAutoFit/>
          </a:bodyPr>
          <a:lstStyle/>
          <a:p>
            <a:pPr algn="l">
              <a:spcBef>
                <a:spcPts val="0"/>
              </a:spcBef>
              <a:spcAft>
                <a:spcPts val="0"/>
              </a:spcAft>
            </a:pPr>
            <a:r>
              <a:rPr sz="900" b="0" i="0">
                <a:solidFill>
                  <a:srgbClr val="8A8886"/>
                </a:solidFill>
                <a:latin typeface="Segoe UI"/>
              </a:rPr>
              <a:t>Microsoft  ·  Agent Insights</a:t>
            </a:r>
          </a:p>
        </p:txBody>
      </p:sp>
      <p:sp>
        <p:nvSpPr>
          <p:cNvPr id="28" name="TextBox 27"/>
          <p:cNvSpPr txBox="1"/>
          <p:nvPr/>
        </p:nvSpPr>
        <p:spPr>
          <a:xfrm>
            <a:off x="10835640" y="6382512"/>
            <a:ext cx="694944" cy="237744"/>
          </a:xfrm>
          <a:prstGeom prst="rect">
            <a:avLst/>
          </a:prstGeom>
          <a:noFill/>
        </p:spPr>
        <p:txBody>
          <a:bodyPr wrap="square" lIns="0" rIns="0" tIns="0" bIns="0" anchor="t">
            <a:spAutoFit/>
          </a:bodyPr>
          <a:lstStyle/>
          <a:p>
            <a:pPr algn="r">
              <a:spcBef>
                <a:spcPts val="0"/>
              </a:spcBef>
              <a:spcAft>
                <a:spcPts val="0"/>
              </a:spcAft>
            </a:pPr>
            <a:r>
              <a:rPr sz="900" b="0" i="0">
                <a:solidFill>
                  <a:srgbClr val="8A8886"/>
                </a:solidFill>
                <a:latin typeface="Segoe U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47925" cy="685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47923" y="0"/>
            <a:ext cx="3047925" cy="68580"/>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6095847" y="0"/>
            <a:ext cx="3047925" cy="6858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143771" y="0"/>
            <a:ext cx="3047925" cy="68580"/>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384048"/>
            <a:ext cx="10872216" cy="237744"/>
          </a:xfrm>
          <a:prstGeom prst="rect">
            <a:avLst/>
          </a:prstGeom>
          <a:noFill/>
        </p:spPr>
        <p:txBody>
          <a:bodyPr wrap="square" lIns="0" rIns="0" tIns="0" bIns="0" anchor="t">
            <a:spAutoFit/>
          </a:bodyPr>
          <a:lstStyle/>
          <a:p>
            <a:pPr algn="l">
              <a:spcBef>
                <a:spcPts val="0"/>
              </a:spcBef>
              <a:spcAft>
                <a:spcPts val="0"/>
              </a:spcAft>
            </a:pPr>
            <a:r>
              <a:rPr sz="1050" b="1" i="0">
                <a:solidFill>
                  <a:srgbClr val="0078D4"/>
                </a:solidFill>
                <a:latin typeface="Segoe UI Semibold"/>
              </a:rPr>
              <a:t>05  IMPACT · WHAT’S NEXT</a:t>
            </a:r>
          </a:p>
        </p:txBody>
      </p:sp>
      <p:sp>
        <p:nvSpPr>
          <p:cNvPr id="7" name="TextBox 6"/>
          <p:cNvSpPr txBox="1"/>
          <p:nvPr/>
        </p:nvSpPr>
        <p:spPr>
          <a:xfrm>
            <a:off x="658368" y="658368"/>
            <a:ext cx="10872216" cy="502920"/>
          </a:xfrm>
          <a:prstGeom prst="rect">
            <a:avLst/>
          </a:prstGeom>
          <a:noFill/>
        </p:spPr>
        <p:txBody>
          <a:bodyPr wrap="square" lIns="0" rIns="0" tIns="0" bIns="0" anchor="t">
            <a:spAutoFit/>
          </a:bodyPr>
          <a:lstStyle/>
          <a:p>
            <a:pPr algn="l">
              <a:spcBef>
                <a:spcPts val="0"/>
              </a:spcBef>
              <a:spcAft>
                <a:spcPts val="0"/>
              </a:spcAft>
            </a:pPr>
            <a:r>
              <a:rPr sz="2900" b="0" i="0">
                <a:solidFill>
                  <a:srgbClr val="14243E"/>
                </a:solidFill>
                <a:latin typeface="Segoe UI Light"/>
              </a:rPr>
              <a:t>Where this goes from here</a:t>
            </a:r>
          </a:p>
        </p:txBody>
      </p:sp>
      <p:sp>
        <p:nvSpPr>
          <p:cNvPr id="8" name="TextBox 7"/>
          <p:cNvSpPr txBox="1"/>
          <p:nvPr/>
        </p:nvSpPr>
        <p:spPr>
          <a:xfrm>
            <a:off x="658368" y="1207008"/>
            <a:ext cx="10872216" cy="329184"/>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605E5C"/>
                </a:solidFill>
                <a:latin typeface="Segoe UI"/>
              </a:rPr>
              <a:t>Ranked by what I’d pick up first.</a:t>
            </a:r>
          </a:p>
        </p:txBody>
      </p:sp>
      <p:sp>
        <p:nvSpPr>
          <p:cNvPr id="9" name="Rectangle 8"/>
          <p:cNvSpPr/>
          <p:nvPr/>
        </p:nvSpPr>
        <p:spPr>
          <a:xfrm>
            <a:off x="658368" y="1591056"/>
            <a:ext cx="960120" cy="320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58368" y="1755648"/>
            <a:ext cx="5330952" cy="1225296"/>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58368" y="1755648"/>
            <a:ext cx="5330952" cy="50292"/>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896112" y="2157984"/>
            <a:ext cx="365760" cy="365760"/>
          </a:xfrm>
          <a:prstGeom prst="roundRect">
            <a:avLst>
              <a:gd name="adj" fmla="val 50000"/>
            </a:avLst>
          </a:prstGeom>
          <a:solidFill>
            <a:srgbClr val="E3008C"/>
          </a:solidFill>
          <a:ln w="12700">
            <a:solidFill>
              <a:srgbClr val="E3008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300" b="1" i="0">
                <a:solidFill>
                  <a:srgbClr val="FFFFFF"/>
                </a:solidFill>
                <a:latin typeface="Segoe UI"/>
              </a:rPr>
              <a:t>1</a:t>
            </a:r>
          </a:p>
        </p:txBody>
      </p:sp>
      <p:sp>
        <p:nvSpPr>
          <p:cNvPr id="13" name="TextBox 12"/>
          <p:cNvSpPr txBox="1"/>
          <p:nvPr/>
        </p:nvSpPr>
        <p:spPr>
          <a:xfrm>
            <a:off x="1426464" y="2029968"/>
            <a:ext cx="4325112" cy="914400"/>
          </a:xfrm>
          <a:prstGeom prst="rect">
            <a:avLst/>
          </a:prstGeom>
          <a:noFill/>
        </p:spPr>
        <p:txBody>
          <a:bodyPr wrap="square" lIns="0" rIns="0" tIns="0" bIns="0" anchor="t">
            <a:spAutoFit/>
          </a:bodyPr>
          <a:lstStyle/>
          <a:p>
            <a:pPr algn="l">
              <a:lnSpc>
                <a:spcPct val="114000"/>
              </a:lnSpc>
              <a:spcBef>
                <a:spcPts val="0"/>
              </a:spcBef>
              <a:spcAft>
                <a:spcPts val="400"/>
              </a:spcAft>
            </a:pPr>
            <a:r>
              <a:rPr sz="1250" b="1" i="0">
                <a:solidFill>
                  <a:srgbClr val="14243E"/>
                </a:solidFill>
                <a:latin typeface="Segoe UI"/>
              </a:rPr>
              <a:t>Codex assistant text</a:t>
            </a:r>
          </a:p>
          <a:p>
            <a:pPr algn="l">
              <a:lnSpc>
                <a:spcPct val="120000"/>
              </a:lnSpc>
              <a:spcBef>
                <a:spcPts val="0"/>
              </a:spcBef>
              <a:spcAft>
                <a:spcPts val="0"/>
              </a:spcAft>
            </a:pPr>
            <a:r>
              <a:rPr sz="1050" b="0" i="0">
                <a:solidFill>
                  <a:srgbClr val="605E5C"/>
                </a:solidFill>
                <a:latin typeface="Segoe UI"/>
              </a:rPr>
              <a:t>Codex never exports what the model said. The one gap nothing downstream can close — and an upstream ask worth making.</a:t>
            </a:r>
          </a:p>
        </p:txBody>
      </p:sp>
      <p:sp>
        <p:nvSpPr>
          <p:cNvPr id="14" name="Rounded Rectangle 13"/>
          <p:cNvSpPr/>
          <p:nvPr/>
        </p:nvSpPr>
        <p:spPr>
          <a:xfrm>
            <a:off x="6199632" y="1755648"/>
            <a:ext cx="5330952" cy="1225296"/>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199632" y="1755648"/>
            <a:ext cx="5330952" cy="50292"/>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6437376" y="2157984"/>
            <a:ext cx="365760" cy="365760"/>
          </a:xfrm>
          <a:prstGeom prst="roundRect">
            <a:avLst>
              <a:gd name="adj" fmla="val 50000"/>
            </a:avLst>
          </a:prstGeom>
          <a:solidFill>
            <a:srgbClr val="8661C5"/>
          </a:solidFill>
          <a:ln w="12700">
            <a:solidFill>
              <a:srgbClr val="8661C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300" b="1" i="0">
                <a:solidFill>
                  <a:srgbClr val="FFFFFF"/>
                </a:solidFill>
                <a:latin typeface="Segoe UI"/>
              </a:rPr>
              <a:t>2</a:t>
            </a:r>
          </a:p>
        </p:txBody>
      </p:sp>
      <p:sp>
        <p:nvSpPr>
          <p:cNvPr id="17" name="TextBox 16"/>
          <p:cNvSpPr txBox="1"/>
          <p:nvPr/>
        </p:nvSpPr>
        <p:spPr>
          <a:xfrm>
            <a:off x="6967728" y="2029968"/>
            <a:ext cx="4325112" cy="914400"/>
          </a:xfrm>
          <a:prstGeom prst="rect">
            <a:avLst/>
          </a:prstGeom>
          <a:noFill/>
        </p:spPr>
        <p:txBody>
          <a:bodyPr wrap="square" lIns="0" rIns="0" tIns="0" bIns="0" anchor="t">
            <a:spAutoFit/>
          </a:bodyPr>
          <a:lstStyle/>
          <a:p>
            <a:pPr algn="l">
              <a:lnSpc>
                <a:spcPct val="114000"/>
              </a:lnSpc>
              <a:spcBef>
                <a:spcPts val="0"/>
              </a:spcBef>
              <a:spcAft>
                <a:spcPts val="400"/>
              </a:spcAft>
            </a:pPr>
            <a:r>
              <a:rPr sz="1250" b="1" i="0">
                <a:solidFill>
                  <a:srgbClr val="14243E"/>
                </a:solidFill>
                <a:latin typeface="Segoe UI"/>
              </a:rPr>
              <a:t>Cross-process OTel inside VS Code</a:t>
            </a:r>
          </a:p>
          <a:p>
            <a:pPr algn="l">
              <a:lnSpc>
                <a:spcPct val="120000"/>
              </a:lnSpc>
              <a:spcBef>
                <a:spcPts val="0"/>
              </a:spcBef>
              <a:spcAft>
                <a:spcPts val="0"/>
              </a:spcAft>
            </a:pPr>
            <a:r>
              <a:rPr sz="1050" b="0" i="0">
                <a:solidFill>
                  <a:srgbClr val="605E5C"/>
                </a:solidFill>
                <a:latin typeface="Segoe UI"/>
              </a:rPr>
              <a:t>The natural next surface — and cheaper now, because this extension is already the consumer it needs.</a:t>
            </a:r>
          </a:p>
        </p:txBody>
      </p:sp>
      <p:sp>
        <p:nvSpPr>
          <p:cNvPr id="18" name="Rounded Rectangle 17"/>
          <p:cNvSpPr/>
          <p:nvPr/>
        </p:nvSpPr>
        <p:spPr>
          <a:xfrm>
            <a:off x="658368" y="3145536"/>
            <a:ext cx="5330952" cy="1225296"/>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58368" y="3145536"/>
            <a:ext cx="5330952" cy="50292"/>
          </a:xfrm>
          <a:prstGeom prst="rect">
            <a:avLst/>
          </a:prstGeom>
          <a:solidFill>
            <a:srgbClr val="E87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896112" y="3547872"/>
            <a:ext cx="365760" cy="365760"/>
          </a:xfrm>
          <a:prstGeom prst="roundRect">
            <a:avLst>
              <a:gd name="adj" fmla="val 50000"/>
            </a:avLst>
          </a:prstGeom>
          <a:solidFill>
            <a:srgbClr val="E87C00"/>
          </a:solidFill>
          <a:ln w="12700">
            <a:solidFill>
              <a:srgbClr val="E87C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300" b="1" i="0">
                <a:solidFill>
                  <a:srgbClr val="FFFFFF"/>
                </a:solidFill>
                <a:latin typeface="Segoe UI"/>
              </a:rPr>
              <a:t>3</a:t>
            </a:r>
          </a:p>
        </p:txBody>
      </p:sp>
      <p:sp>
        <p:nvSpPr>
          <p:cNvPr id="21" name="TextBox 20"/>
          <p:cNvSpPr txBox="1"/>
          <p:nvPr/>
        </p:nvSpPr>
        <p:spPr>
          <a:xfrm>
            <a:off x="1426464" y="3419856"/>
            <a:ext cx="4325112" cy="914400"/>
          </a:xfrm>
          <a:prstGeom prst="rect">
            <a:avLst/>
          </a:prstGeom>
          <a:noFill/>
        </p:spPr>
        <p:txBody>
          <a:bodyPr wrap="square" lIns="0" rIns="0" tIns="0" bIns="0" anchor="t">
            <a:spAutoFit/>
          </a:bodyPr>
          <a:lstStyle/>
          <a:p>
            <a:pPr algn="l">
              <a:lnSpc>
                <a:spcPct val="114000"/>
              </a:lnSpc>
              <a:spcBef>
                <a:spcPts val="0"/>
              </a:spcBef>
              <a:spcAft>
                <a:spcPts val="400"/>
              </a:spcAft>
            </a:pPr>
            <a:r>
              <a:rPr sz="1250" b="1" i="0">
                <a:solidFill>
                  <a:srgbClr val="14243E"/>
                </a:solidFill>
                <a:latin typeface="Segoe UI"/>
              </a:rPr>
              <a:t>Cost, not just tokens</a:t>
            </a:r>
          </a:p>
          <a:p>
            <a:pPr algn="l">
              <a:lnSpc>
                <a:spcPct val="120000"/>
              </a:lnSpc>
              <a:spcBef>
                <a:spcPts val="0"/>
              </a:spcBef>
              <a:spcAft>
                <a:spcPts val="0"/>
              </a:spcAft>
            </a:pPr>
            <a:r>
              <a:rPr sz="1050" b="0" i="0">
                <a:solidFill>
                  <a:srgbClr val="605E5C"/>
                </a:solidFill>
                <a:latin typeface="Segoe UI"/>
              </a:rPr>
              <a:t>Per-model pricing turns the status bar from a usage baseline into a spend baseline.</a:t>
            </a:r>
          </a:p>
        </p:txBody>
      </p:sp>
      <p:sp>
        <p:nvSpPr>
          <p:cNvPr id="22" name="Rounded Rectangle 21"/>
          <p:cNvSpPr/>
          <p:nvPr/>
        </p:nvSpPr>
        <p:spPr>
          <a:xfrm>
            <a:off x="6199632" y="3145536"/>
            <a:ext cx="5330952" cy="1225296"/>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6199632" y="3145536"/>
            <a:ext cx="5330952" cy="50292"/>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6437376" y="3547872"/>
            <a:ext cx="365760" cy="365760"/>
          </a:xfrm>
          <a:prstGeom prst="roundRect">
            <a:avLst>
              <a:gd name="adj" fmla="val 50000"/>
            </a:avLst>
          </a:prstGeom>
          <a:solidFill>
            <a:srgbClr val="0078D4"/>
          </a:solidFill>
          <a:ln w="127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300" b="1" i="0">
                <a:solidFill>
                  <a:srgbClr val="FFFFFF"/>
                </a:solidFill>
                <a:latin typeface="Segoe UI"/>
              </a:rPr>
              <a:t>4</a:t>
            </a:r>
          </a:p>
        </p:txBody>
      </p:sp>
      <p:sp>
        <p:nvSpPr>
          <p:cNvPr id="25" name="TextBox 24"/>
          <p:cNvSpPr txBox="1"/>
          <p:nvPr/>
        </p:nvSpPr>
        <p:spPr>
          <a:xfrm>
            <a:off x="6967728" y="3419856"/>
            <a:ext cx="4325112" cy="914400"/>
          </a:xfrm>
          <a:prstGeom prst="rect">
            <a:avLst/>
          </a:prstGeom>
          <a:noFill/>
        </p:spPr>
        <p:txBody>
          <a:bodyPr wrap="square" lIns="0" rIns="0" tIns="0" bIns="0" anchor="t">
            <a:spAutoFit/>
          </a:bodyPr>
          <a:lstStyle/>
          <a:p>
            <a:pPr algn="l">
              <a:lnSpc>
                <a:spcPct val="114000"/>
              </a:lnSpc>
              <a:spcBef>
                <a:spcPts val="0"/>
              </a:spcBef>
              <a:spcAft>
                <a:spcPts val="400"/>
              </a:spcAft>
            </a:pPr>
            <a:r>
              <a:rPr sz="1250" b="1" i="0">
                <a:solidFill>
                  <a:srgbClr val="14243E"/>
                </a:solidFill>
                <a:latin typeface="Segoe UI"/>
              </a:rPr>
              <a:t>Session diffing as a first-class view</a:t>
            </a:r>
          </a:p>
          <a:p>
            <a:pPr algn="l">
              <a:lnSpc>
                <a:spcPct val="120000"/>
              </a:lnSpc>
              <a:spcBef>
                <a:spcPts val="0"/>
              </a:spcBef>
              <a:spcAft>
                <a:spcPts val="0"/>
              </a:spcAft>
            </a:pPr>
            <a:r>
              <a:rPr sz="1050" b="0" i="0">
                <a:solidFill>
                  <a:srgbClr val="605E5C"/>
                </a:solidFill>
                <a:latin typeface="Segoe UI"/>
              </a:rPr>
              <a:t>“Same prompt, two agents” — currently something you assemble by reading two summaries side by side.</a:t>
            </a:r>
          </a:p>
        </p:txBody>
      </p:sp>
      <p:sp>
        <p:nvSpPr>
          <p:cNvPr id="26" name="Rounded Rectangle 25"/>
          <p:cNvSpPr/>
          <p:nvPr/>
        </p:nvSpPr>
        <p:spPr>
          <a:xfrm>
            <a:off x="658368" y="4535424"/>
            <a:ext cx="5330952" cy="1225296"/>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658368" y="4535424"/>
            <a:ext cx="5330952" cy="50292"/>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896112" y="4937760"/>
            <a:ext cx="365760" cy="365760"/>
          </a:xfrm>
          <a:prstGeom prst="roundRect">
            <a:avLst>
              <a:gd name="adj" fmla="val 50000"/>
            </a:avLst>
          </a:prstGeom>
          <a:solidFill>
            <a:srgbClr val="00B7C3"/>
          </a:solidFill>
          <a:ln w="12700">
            <a:solidFill>
              <a:srgbClr val="00B7C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300" b="1" i="0">
                <a:solidFill>
                  <a:srgbClr val="FFFFFF"/>
                </a:solidFill>
                <a:latin typeface="Segoe UI"/>
              </a:rPr>
              <a:t>5</a:t>
            </a:r>
          </a:p>
        </p:txBody>
      </p:sp>
      <p:sp>
        <p:nvSpPr>
          <p:cNvPr id="29" name="TextBox 28"/>
          <p:cNvSpPr txBox="1"/>
          <p:nvPr/>
        </p:nvSpPr>
        <p:spPr>
          <a:xfrm>
            <a:off x="1426464" y="4809744"/>
            <a:ext cx="4325112" cy="914400"/>
          </a:xfrm>
          <a:prstGeom prst="rect">
            <a:avLst/>
          </a:prstGeom>
          <a:noFill/>
        </p:spPr>
        <p:txBody>
          <a:bodyPr wrap="square" lIns="0" rIns="0" tIns="0" bIns="0" anchor="t">
            <a:spAutoFit/>
          </a:bodyPr>
          <a:lstStyle/>
          <a:p>
            <a:pPr algn="l">
              <a:lnSpc>
                <a:spcPct val="114000"/>
              </a:lnSpc>
              <a:spcBef>
                <a:spcPts val="0"/>
              </a:spcBef>
              <a:spcAft>
                <a:spcPts val="400"/>
              </a:spcAft>
            </a:pPr>
            <a:r>
              <a:rPr sz="1250" b="1" i="0">
                <a:solidFill>
                  <a:srgbClr val="14243E"/>
                </a:solidFill>
                <a:latin typeface="Segoe UI"/>
              </a:rPr>
              <a:t>Longer-horizon history</a:t>
            </a:r>
          </a:p>
          <a:p>
            <a:pPr algn="l">
              <a:lnSpc>
                <a:spcPct val="120000"/>
              </a:lnSpc>
              <a:spcBef>
                <a:spcPts val="0"/>
              </a:spcBef>
              <a:spcAft>
                <a:spcPts val="0"/>
              </a:spcAft>
            </a:pPr>
            <a:r>
              <a:rPr sz="1050" b="0" i="0">
                <a:solidFill>
                  <a:srgbClr val="605E5C"/>
                </a:solidFill>
                <a:latin typeface="Segoe UI"/>
              </a:rPr>
              <a:t>The projection pattern already survives pruning. It gives weeks of trend data without weeks of spans.</a:t>
            </a:r>
          </a:p>
        </p:txBody>
      </p:sp>
      <p:sp>
        <p:nvSpPr>
          <p:cNvPr id="30" name="Rounded Rectangle 29"/>
          <p:cNvSpPr/>
          <p:nvPr/>
        </p:nvSpPr>
        <p:spPr>
          <a:xfrm>
            <a:off x="6199632" y="4535424"/>
            <a:ext cx="5330952" cy="1225296"/>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6199632" y="4535424"/>
            <a:ext cx="5330952" cy="50292"/>
          </a:xfrm>
          <a:prstGeom prst="rect">
            <a:avLst/>
          </a:prstGeom>
          <a:solidFill>
            <a:srgbClr val="0E70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6437376" y="4937760"/>
            <a:ext cx="365760" cy="365760"/>
          </a:xfrm>
          <a:prstGeom prst="roundRect">
            <a:avLst>
              <a:gd name="adj" fmla="val 50000"/>
            </a:avLst>
          </a:prstGeom>
          <a:solidFill>
            <a:srgbClr val="0E700E"/>
          </a:solidFill>
          <a:ln w="12700">
            <a:solidFill>
              <a:srgbClr val="0E700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300" b="1" i="0">
                <a:solidFill>
                  <a:srgbClr val="FFFFFF"/>
                </a:solidFill>
                <a:latin typeface="Segoe UI"/>
              </a:rPr>
              <a:t>6</a:t>
            </a:r>
          </a:p>
        </p:txBody>
      </p:sp>
      <p:sp>
        <p:nvSpPr>
          <p:cNvPr id="33" name="TextBox 32"/>
          <p:cNvSpPr txBox="1"/>
          <p:nvPr/>
        </p:nvSpPr>
        <p:spPr>
          <a:xfrm>
            <a:off x="6967728" y="4809744"/>
            <a:ext cx="4325112" cy="914400"/>
          </a:xfrm>
          <a:prstGeom prst="rect">
            <a:avLst/>
          </a:prstGeom>
          <a:noFill/>
        </p:spPr>
        <p:txBody>
          <a:bodyPr wrap="square" lIns="0" rIns="0" tIns="0" bIns="0" anchor="t">
            <a:spAutoFit/>
          </a:bodyPr>
          <a:lstStyle/>
          <a:p>
            <a:pPr algn="l">
              <a:lnSpc>
                <a:spcPct val="114000"/>
              </a:lnSpc>
              <a:spcBef>
                <a:spcPts val="0"/>
              </a:spcBef>
              <a:spcAft>
                <a:spcPts val="400"/>
              </a:spcAft>
            </a:pPr>
            <a:r>
              <a:rPr sz="1250" b="1" i="0">
                <a:solidFill>
                  <a:srgbClr val="14243E"/>
                </a:solidFill>
                <a:latin typeface="Segoe UI"/>
              </a:rPr>
              <a:t>Discovery, and a Marketplace listing</a:t>
            </a:r>
          </a:p>
          <a:p>
            <a:pPr algn="l">
              <a:lnSpc>
                <a:spcPct val="120000"/>
              </a:lnSpc>
              <a:spcBef>
                <a:spcPts val="0"/>
              </a:spcBef>
              <a:spcAft>
                <a:spcPts val="0"/>
              </a:spcAft>
            </a:pPr>
            <a:r>
              <a:rPr sz="1050" b="0" i="0">
                <a:solidFill>
                  <a:srgbClr val="605E5C"/>
                </a:solidFill>
                <a:latin typeface="Segoe UI"/>
              </a:rPr>
              <a:t>Install tips at the moments that matter. The build already ships on every push.</a:t>
            </a:r>
          </a:p>
        </p:txBody>
      </p:sp>
      <p:sp>
        <p:nvSpPr>
          <p:cNvPr id="34" name="TextBox 33"/>
          <p:cNvSpPr txBox="1"/>
          <p:nvPr/>
        </p:nvSpPr>
        <p:spPr>
          <a:xfrm>
            <a:off x="658368" y="6382512"/>
            <a:ext cx="8686800" cy="237744"/>
          </a:xfrm>
          <a:prstGeom prst="rect">
            <a:avLst/>
          </a:prstGeom>
          <a:noFill/>
        </p:spPr>
        <p:txBody>
          <a:bodyPr wrap="square" lIns="0" rIns="0" tIns="0" bIns="0" anchor="t">
            <a:spAutoFit/>
          </a:bodyPr>
          <a:lstStyle/>
          <a:p>
            <a:pPr algn="l">
              <a:spcBef>
                <a:spcPts val="0"/>
              </a:spcBef>
              <a:spcAft>
                <a:spcPts val="0"/>
              </a:spcAft>
            </a:pPr>
            <a:r>
              <a:rPr sz="900" b="0" i="0">
                <a:solidFill>
                  <a:srgbClr val="8A8886"/>
                </a:solidFill>
                <a:latin typeface="Segoe UI"/>
              </a:rPr>
              <a:t>Microsoft  ·  Agent Insights</a:t>
            </a:r>
          </a:p>
        </p:txBody>
      </p:sp>
      <p:sp>
        <p:nvSpPr>
          <p:cNvPr id="35" name="TextBox 34"/>
          <p:cNvSpPr txBox="1"/>
          <p:nvPr/>
        </p:nvSpPr>
        <p:spPr>
          <a:xfrm>
            <a:off x="10835640" y="6382512"/>
            <a:ext cx="694944" cy="237744"/>
          </a:xfrm>
          <a:prstGeom prst="rect">
            <a:avLst/>
          </a:prstGeom>
          <a:noFill/>
        </p:spPr>
        <p:txBody>
          <a:bodyPr wrap="square" lIns="0" rIns="0" tIns="0" bIns="0" anchor="t">
            <a:spAutoFit/>
          </a:bodyPr>
          <a:lstStyle/>
          <a:p>
            <a:pPr algn="r">
              <a:spcBef>
                <a:spcPts val="0"/>
              </a:spcBef>
              <a:spcAft>
                <a:spcPts val="0"/>
              </a:spcAft>
            </a:pPr>
            <a:r>
              <a:rPr sz="900" b="0" i="0">
                <a:solidFill>
                  <a:srgbClr val="8A8886"/>
                </a:solidFill>
                <a:latin typeface="Segoe U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4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64592" cy="6858000"/>
          </a:xfrm>
          <a:prstGeom prst="rect">
            <a:avLst/>
          </a:prstGeom>
          <a:solidFill>
            <a:srgbClr val="E87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51560" y="2121408"/>
            <a:ext cx="1828800" cy="1280160"/>
          </a:xfrm>
          <a:prstGeom prst="rect">
            <a:avLst/>
          </a:prstGeom>
          <a:noFill/>
        </p:spPr>
        <p:txBody>
          <a:bodyPr wrap="square" lIns="0" rIns="0" tIns="0" bIns="0" anchor="t">
            <a:spAutoFit/>
          </a:bodyPr>
          <a:lstStyle/>
          <a:p>
            <a:pPr algn="l">
              <a:spcBef>
                <a:spcPts val="0"/>
              </a:spcBef>
              <a:spcAft>
                <a:spcPts val="0"/>
              </a:spcAft>
            </a:pPr>
            <a:r>
              <a:rPr sz="8800" b="1" i="0">
                <a:solidFill>
                  <a:srgbClr val="E87C00"/>
                </a:solidFill>
                <a:latin typeface="Segoe UI Light"/>
              </a:rPr>
              <a:t>06</a:t>
            </a:r>
          </a:p>
        </p:txBody>
      </p:sp>
      <p:sp>
        <p:nvSpPr>
          <p:cNvPr id="5" name="Rectangle 4"/>
          <p:cNvSpPr/>
          <p:nvPr/>
        </p:nvSpPr>
        <p:spPr>
          <a:xfrm>
            <a:off x="2788920" y="2212848"/>
            <a:ext cx="27432" cy="1828800"/>
          </a:xfrm>
          <a:prstGeom prst="rect">
            <a:avLst/>
          </a:prstGeom>
          <a:solidFill>
            <a:srgbClr val="3A4E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3246120" y="2286000"/>
            <a:ext cx="7863840" cy="1737360"/>
          </a:xfrm>
          <a:prstGeom prst="rect">
            <a:avLst/>
          </a:prstGeom>
          <a:noFill/>
        </p:spPr>
        <p:txBody>
          <a:bodyPr wrap="square" lIns="0" rIns="0" tIns="0" bIns="0" anchor="t">
            <a:spAutoFit/>
          </a:bodyPr>
          <a:lstStyle/>
          <a:p>
            <a:pPr algn="l">
              <a:lnSpc>
                <a:spcPct val="110000"/>
              </a:lnSpc>
              <a:spcBef>
                <a:spcPts val="0"/>
              </a:spcBef>
              <a:spcAft>
                <a:spcPts val="1200"/>
              </a:spcAft>
            </a:pPr>
            <a:r>
              <a:rPr sz="4200" b="0" i="0">
                <a:solidFill>
                  <a:srgbClr val="FFFFFF"/>
                </a:solidFill>
                <a:latin typeface="Segoe UI Light"/>
              </a:rPr>
              <a:t>Reflection</a:t>
            </a:r>
          </a:p>
          <a:p>
            <a:pPr algn="l">
              <a:lnSpc>
                <a:spcPct val="130000"/>
              </a:lnSpc>
              <a:spcBef>
                <a:spcPts val="0"/>
              </a:spcBef>
              <a:spcAft>
                <a:spcPts val="0"/>
              </a:spcAft>
            </a:pPr>
            <a:r>
              <a:rPr sz="1550" b="0" i="0">
                <a:solidFill>
                  <a:srgbClr val="93A6C4"/>
                </a:solidFill>
                <a:latin typeface="Segoe UI"/>
              </a:rPr>
              <a:t>What made it hard, and what I took
away from it.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47925" cy="685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47923" y="0"/>
            <a:ext cx="3047925" cy="68580"/>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6095847" y="0"/>
            <a:ext cx="3047925" cy="6858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143771" y="0"/>
            <a:ext cx="3047925" cy="68580"/>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384048"/>
            <a:ext cx="10872216" cy="237744"/>
          </a:xfrm>
          <a:prstGeom prst="rect">
            <a:avLst/>
          </a:prstGeom>
          <a:noFill/>
        </p:spPr>
        <p:txBody>
          <a:bodyPr wrap="square" lIns="0" rIns="0" tIns="0" bIns="0" anchor="t">
            <a:spAutoFit/>
          </a:bodyPr>
          <a:lstStyle/>
          <a:p>
            <a:pPr algn="l">
              <a:spcBef>
                <a:spcPts val="0"/>
              </a:spcBef>
              <a:spcAft>
                <a:spcPts val="0"/>
              </a:spcAft>
            </a:pPr>
            <a:r>
              <a:rPr sz="1050" b="1" i="0">
                <a:solidFill>
                  <a:srgbClr val="0078D4"/>
                </a:solidFill>
                <a:latin typeface="Segoe UI Semibold"/>
              </a:rPr>
              <a:t>06  REFLECTION</a:t>
            </a:r>
          </a:p>
        </p:txBody>
      </p:sp>
      <p:sp>
        <p:nvSpPr>
          <p:cNvPr id="7" name="TextBox 6"/>
          <p:cNvSpPr txBox="1"/>
          <p:nvPr/>
        </p:nvSpPr>
        <p:spPr>
          <a:xfrm>
            <a:off x="658368" y="658368"/>
            <a:ext cx="10872216" cy="502920"/>
          </a:xfrm>
          <a:prstGeom prst="rect">
            <a:avLst/>
          </a:prstGeom>
          <a:noFill/>
        </p:spPr>
        <p:txBody>
          <a:bodyPr wrap="square" lIns="0" rIns="0" tIns="0" bIns="0" anchor="t">
            <a:spAutoFit/>
          </a:bodyPr>
          <a:lstStyle/>
          <a:p>
            <a:pPr algn="l">
              <a:spcBef>
                <a:spcPts val="0"/>
              </a:spcBef>
              <a:spcAft>
                <a:spcPts val="0"/>
              </a:spcAft>
            </a:pPr>
            <a:r>
              <a:rPr sz="2900" b="0" i="0">
                <a:solidFill>
                  <a:srgbClr val="14243E"/>
                </a:solidFill>
                <a:latin typeface="Segoe UI Light"/>
              </a:rPr>
              <a:t>Challenges</a:t>
            </a:r>
          </a:p>
        </p:txBody>
      </p:sp>
      <p:sp>
        <p:nvSpPr>
          <p:cNvPr id="8" name="TextBox 7"/>
          <p:cNvSpPr txBox="1"/>
          <p:nvPr/>
        </p:nvSpPr>
        <p:spPr>
          <a:xfrm>
            <a:off x="658368" y="1207008"/>
            <a:ext cx="10872216" cy="329184"/>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605E5C"/>
                </a:solidFill>
                <a:latin typeface="Segoe UI"/>
              </a:rPr>
              <a:t>The six things that actually made this hard.</a:t>
            </a:r>
          </a:p>
        </p:txBody>
      </p:sp>
      <p:sp>
        <p:nvSpPr>
          <p:cNvPr id="9" name="Rectangle 8"/>
          <p:cNvSpPr/>
          <p:nvPr/>
        </p:nvSpPr>
        <p:spPr>
          <a:xfrm>
            <a:off x="658368" y="1591056"/>
            <a:ext cx="960120" cy="320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58368" y="1755648"/>
            <a:ext cx="5330952" cy="1207008"/>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37744"/>
          <a:lstStyle/>
          <a:p>
            <a:pPr algn="l">
              <a:lnSpc>
                <a:spcPct val="114000"/>
              </a:lnSpc>
              <a:spcBef>
                <a:spcPts val="0"/>
              </a:spcBef>
              <a:spcAft>
                <a:spcPts val="500"/>
              </a:spcAft>
            </a:pPr>
            <a:r>
              <a:rPr sz="1300" b="1" i="0">
                <a:solidFill>
                  <a:srgbClr val="14243E"/>
                </a:solidFill>
                <a:latin typeface="Segoe UI"/>
              </a:rPr>
              <a:t>The platform moved under me</a:t>
            </a:r>
          </a:p>
          <a:p>
            <a:pPr algn="l">
              <a:lnSpc>
                <a:spcPct val="122000"/>
              </a:lnSpc>
              <a:spcBef>
                <a:spcPts val="0"/>
              </a:spcBef>
              <a:spcAft>
                <a:spcPts val="0"/>
              </a:spcAft>
            </a:pPr>
            <a:r>
              <a:rPr sz="1050" b="0" i="0">
                <a:solidFill>
                  <a:srgbClr val="605E5C"/>
                </a:solidFill>
                <a:latin typeface="Segoe UI"/>
              </a:rPr>
              <a:t>Agent Host shipped mid-project. Collection got easier, interpretation got harder, and four assumptions stopped being true.</a:t>
            </a:r>
          </a:p>
        </p:txBody>
      </p:sp>
      <p:sp>
        <p:nvSpPr>
          <p:cNvPr id="11" name="Rectangle 10"/>
          <p:cNvSpPr/>
          <p:nvPr/>
        </p:nvSpPr>
        <p:spPr>
          <a:xfrm>
            <a:off x="658368" y="1755648"/>
            <a:ext cx="54864" cy="1207008"/>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199632" y="1755648"/>
            <a:ext cx="5330952" cy="1207008"/>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37744"/>
          <a:lstStyle/>
          <a:p>
            <a:pPr algn="l">
              <a:lnSpc>
                <a:spcPct val="114000"/>
              </a:lnSpc>
              <a:spcBef>
                <a:spcPts val="0"/>
              </a:spcBef>
              <a:spcAft>
                <a:spcPts val="500"/>
              </a:spcAft>
            </a:pPr>
            <a:r>
              <a:rPr sz="1300" b="1" i="0">
                <a:solidFill>
                  <a:srgbClr val="14243E"/>
                </a:solidFill>
                <a:latin typeface="Segoe UI"/>
              </a:rPr>
              <a:t>Three vendors, no shared vocabulary</a:t>
            </a:r>
          </a:p>
          <a:p>
            <a:pPr algn="l">
              <a:lnSpc>
                <a:spcPct val="122000"/>
              </a:lnSpc>
              <a:spcBef>
                <a:spcPts val="0"/>
              </a:spcBef>
              <a:spcAft>
                <a:spcPts val="0"/>
              </a:spcAft>
            </a:pPr>
            <a:r>
              <a:rPr sz="1050" b="0" i="0">
                <a:solidFill>
                  <a:srgbClr val="605E5C"/>
                </a:solidFill>
                <a:latin typeface="Segoe UI"/>
              </a:rPr>
              <a:t>Every harness spells the same concept differently — and all three ship weekly.</a:t>
            </a:r>
          </a:p>
        </p:txBody>
      </p:sp>
      <p:sp>
        <p:nvSpPr>
          <p:cNvPr id="13" name="Rectangle 12"/>
          <p:cNvSpPr/>
          <p:nvPr/>
        </p:nvSpPr>
        <p:spPr>
          <a:xfrm>
            <a:off x="6199632" y="1755648"/>
            <a:ext cx="54864" cy="1207008"/>
          </a:xfrm>
          <a:prstGeom prst="rect">
            <a:avLst/>
          </a:prstGeom>
          <a:solidFill>
            <a:srgbClr val="E87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658368" y="3127248"/>
            <a:ext cx="5330952" cy="1207008"/>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37744"/>
          <a:lstStyle/>
          <a:p>
            <a:pPr algn="l">
              <a:lnSpc>
                <a:spcPct val="114000"/>
              </a:lnSpc>
              <a:spcBef>
                <a:spcPts val="0"/>
              </a:spcBef>
              <a:spcAft>
                <a:spcPts val="500"/>
              </a:spcAft>
            </a:pPr>
            <a:r>
              <a:rPr sz="1300" b="1" i="0">
                <a:solidFill>
                  <a:srgbClr val="14243E"/>
                </a:solidFill>
                <a:latin typeface="Segoe UI"/>
              </a:rPr>
              <a:t>No ground truth to test against</a:t>
            </a:r>
          </a:p>
          <a:p>
            <a:pPr algn="l">
              <a:lnSpc>
                <a:spcPct val="122000"/>
              </a:lnSpc>
              <a:spcBef>
                <a:spcPts val="0"/>
              </a:spcBef>
              <a:spcAft>
                <a:spcPts val="0"/>
              </a:spcAft>
            </a:pPr>
            <a:r>
              <a:rPr sz="1050" b="0" i="0">
                <a:solidFill>
                  <a:srgbClr val="605E5C"/>
                </a:solidFill>
                <a:latin typeface="Segoe UI"/>
              </a:rPr>
              <a:t>There is no reference answer for “how many tokens did that session use”.</a:t>
            </a:r>
          </a:p>
        </p:txBody>
      </p:sp>
      <p:sp>
        <p:nvSpPr>
          <p:cNvPr id="15" name="Rectangle 14"/>
          <p:cNvSpPr/>
          <p:nvPr/>
        </p:nvSpPr>
        <p:spPr>
          <a:xfrm>
            <a:off x="658368" y="3127248"/>
            <a:ext cx="54864" cy="1207008"/>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6199632" y="3127248"/>
            <a:ext cx="5330952" cy="1207008"/>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37744"/>
          <a:lstStyle/>
          <a:p>
            <a:pPr algn="l">
              <a:lnSpc>
                <a:spcPct val="114000"/>
              </a:lnSpc>
              <a:spcBef>
                <a:spcPts val="0"/>
              </a:spcBef>
              <a:spcAft>
                <a:spcPts val="500"/>
              </a:spcAft>
            </a:pPr>
            <a:r>
              <a:rPr sz="1300" b="1" i="0">
                <a:solidFill>
                  <a:srgbClr val="14243E"/>
                </a:solidFill>
                <a:latin typeface="Segoe UI"/>
              </a:rPr>
              <a:t>One person, a moving target</a:t>
            </a:r>
          </a:p>
          <a:p>
            <a:pPr algn="l">
              <a:lnSpc>
                <a:spcPct val="122000"/>
              </a:lnSpc>
              <a:spcBef>
                <a:spcPts val="0"/>
              </a:spcBef>
              <a:spcAft>
                <a:spcPts val="0"/>
              </a:spcAft>
            </a:pPr>
            <a:r>
              <a:rPr sz="1050" b="0" i="0">
                <a:solidFill>
                  <a:srgbClr val="605E5C"/>
                </a:solidFill>
                <a:latin typeface="Segoe UI"/>
              </a:rPr>
              <a:t>Solo, against three harnesses that kept changing under the tests.</a:t>
            </a:r>
          </a:p>
        </p:txBody>
      </p:sp>
      <p:sp>
        <p:nvSpPr>
          <p:cNvPr id="17" name="Rectangle 16"/>
          <p:cNvSpPr/>
          <p:nvPr/>
        </p:nvSpPr>
        <p:spPr>
          <a:xfrm>
            <a:off x="6199632" y="3127248"/>
            <a:ext cx="54864" cy="1207008"/>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658368" y="4498848"/>
            <a:ext cx="5330952" cy="1207008"/>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37744"/>
          <a:lstStyle/>
          <a:p>
            <a:pPr algn="l">
              <a:lnSpc>
                <a:spcPct val="114000"/>
              </a:lnSpc>
              <a:spcBef>
                <a:spcPts val="0"/>
              </a:spcBef>
              <a:spcAft>
                <a:spcPts val="500"/>
              </a:spcAft>
            </a:pPr>
            <a:r>
              <a:rPr sz="1300" b="1" i="0">
                <a:solidFill>
                  <a:srgbClr val="14243E"/>
                </a:solidFill>
                <a:latin typeface="Segoe UI"/>
              </a:rPr>
              <a:t>Failures that were completely silent</a:t>
            </a:r>
          </a:p>
          <a:p>
            <a:pPr algn="l">
              <a:lnSpc>
                <a:spcPct val="122000"/>
              </a:lnSpc>
              <a:spcBef>
                <a:spcPts val="0"/>
              </a:spcBef>
              <a:spcAft>
                <a:spcPts val="0"/>
              </a:spcAft>
            </a:pPr>
            <a:r>
              <a:rPr sz="1050" b="0" i="0">
                <a:solidFill>
                  <a:srgbClr val="605E5C"/>
                </a:solidFill>
                <a:latin typeface="Segoe UI"/>
              </a:rPr>
              <a:t>A port mismatch dropped 100% of telemetry with no error anywhere.</a:t>
            </a:r>
          </a:p>
        </p:txBody>
      </p:sp>
      <p:sp>
        <p:nvSpPr>
          <p:cNvPr id="19" name="Rectangle 18"/>
          <p:cNvSpPr/>
          <p:nvPr/>
        </p:nvSpPr>
        <p:spPr>
          <a:xfrm>
            <a:off x="658368" y="4498848"/>
            <a:ext cx="54864" cy="1207008"/>
          </a:xfrm>
          <a:prstGeom prst="rect">
            <a:avLst/>
          </a:prstGeom>
          <a:solidFill>
            <a:srgbClr val="D134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6199632" y="4498848"/>
            <a:ext cx="5330952" cy="1207008"/>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37744"/>
          <a:lstStyle/>
          <a:p>
            <a:pPr algn="l">
              <a:lnSpc>
                <a:spcPct val="114000"/>
              </a:lnSpc>
              <a:spcBef>
                <a:spcPts val="0"/>
              </a:spcBef>
              <a:spcAft>
                <a:spcPts val="500"/>
              </a:spcAft>
            </a:pPr>
            <a:r>
              <a:rPr sz="1300" b="1" i="0">
                <a:solidFill>
                  <a:srgbClr val="14243E"/>
                </a:solidFill>
                <a:latin typeface="Segoe UI"/>
              </a:rPr>
              <a:t>Performance in a place I didn’t expect</a:t>
            </a:r>
          </a:p>
          <a:p>
            <a:pPr algn="l">
              <a:lnSpc>
                <a:spcPct val="122000"/>
              </a:lnSpc>
              <a:spcBef>
                <a:spcPts val="0"/>
              </a:spcBef>
              <a:spcAft>
                <a:spcPts val="0"/>
              </a:spcAft>
            </a:pPr>
            <a:r>
              <a:rPr sz="1050" b="0" i="0">
                <a:solidFill>
                  <a:srgbClr val="605E5C"/>
                </a:solidFill>
                <a:latin typeface="Segoe UI"/>
              </a:rPr>
              <a:t>A slow query froze the whole editor, not just the panel.</a:t>
            </a:r>
          </a:p>
        </p:txBody>
      </p:sp>
      <p:sp>
        <p:nvSpPr>
          <p:cNvPr id="21" name="Rectangle 20"/>
          <p:cNvSpPr/>
          <p:nvPr/>
        </p:nvSpPr>
        <p:spPr>
          <a:xfrm>
            <a:off x="6199632" y="4498848"/>
            <a:ext cx="54864" cy="1207008"/>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58368" y="6382512"/>
            <a:ext cx="8686800" cy="237744"/>
          </a:xfrm>
          <a:prstGeom prst="rect">
            <a:avLst/>
          </a:prstGeom>
          <a:noFill/>
        </p:spPr>
        <p:txBody>
          <a:bodyPr wrap="square" lIns="0" rIns="0" tIns="0" bIns="0" anchor="t">
            <a:spAutoFit/>
          </a:bodyPr>
          <a:lstStyle/>
          <a:p>
            <a:pPr algn="l">
              <a:spcBef>
                <a:spcPts val="0"/>
              </a:spcBef>
              <a:spcAft>
                <a:spcPts val="0"/>
              </a:spcAft>
            </a:pPr>
            <a:r>
              <a:rPr sz="900" b="0" i="0">
                <a:solidFill>
                  <a:srgbClr val="8A8886"/>
                </a:solidFill>
                <a:latin typeface="Segoe UI"/>
              </a:rPr>
              <a:t>Microsoft  ·  Agent Insights</a:t>
            </a:r>
          </a:p>
        </p:txBody>
      </p:sp>
      <p:sp>
        <p:nvSpPr>
          <p:cNvPr id="23" name="TextBox 22"/>
          <p:cNvSpPr txBox="1"/>
          <p:nvPr/>
        </p:nvSpPr>
        <p:spPr>
          <a:xfrm>
            <a:off x="10835640" y="6382512"/>
            <a:ext cx="694944" cy="237744"/>
          </a:xfrm>
          <a:prstGeom prst="rect">
            <a:avLst/>
          </a:prstGeom>
          <a:noFill/>
        </p:spPr>
        <p:txBody>
          <a:bodyPr wrap="square" lIns="0" rIns="0" tIns="0" bIns="0" anchor="t">
            <a:spAutoFit/>
          </a:bodyPr>
          <a:lstStyle/>
          <a:p>
            <a:pPr algn="r">
              <a:spcBef>
                <a:spcPts val="0"/>
              </a:spcBef>
              <a:spcAft>
                <a:spcPts val="0"/>
              </a:spcAft>
            </a:pPr>
            <a:r>
              <a:rPr sz="900" b="0" i="0">
                <a:solidFill>
                  <a:srgbClr val="8A8886"/>
                </a:solidFill>
                <a:latin typeface="Segoe U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47925" cy="685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47923" y="0"/>
            <a:ext cx="3047925" cy="68580"/>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6095847" y="0"/>
            <a:ext cx="3047925" cy="6858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143771" y="0"/>
            <a:ext cx="3047925" cy="68580"/>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384048"/>
            <a:ext cx="10872216" cy="237744"/>
          </a:xfrm>
          <a:prstGeom prst="rect">
            <a:avLst/>
          </a:prstGeom>
          <a:noFill/>
        </p:spPr>
        <p:txBody>
          <a:bodyPr wrap="square" lIns="0" rIns="0" tIns="0" bIns="0" anchor="t">
            <a:spAutoFit/>
          </a:bodyPr>
          <a:lstStyle/>
          <a:p>
            <a:pPr algn="l">
              <a:spcBef>
                <a:spcPts val="0"/>
              </a:spcBef>
              <a:spcAft>
                <a:spcPts val="0"/>
              </a:spcAft>
            </a:pPr>
            <a:r>
              <a:rPr sz="1050" b="1" i="0">
                <a:solidFill>
                  <a:srgbClr val="0078D4"/>
                </a:solidFill>
                <a:latin typeface="Segoe UI Semibold"/>
              </a:rPr>
              <a:t>06  REFLECTION</a:t>
            </a:r>
          </a:p>
        </p:txBody>
      </p:sp>
      <p:sp>
        <p:nvSpPr>
          <p:cNvPr id="7" name="TextBox 6"/>
          <p:cNvSpPr txBox="1"/>
          <p:nvPr/>
        </p:nvSpPr>
        <p:spPr>
          <a:xfrm>
            <a:off x="658368" y="658368"/>
            <a:ext cx="10872216" cy="502920"/>
          </a:xfrm>
          <a:prstGeom prst="rect">
            <a:avLst/>
          </a:prstGeom>
          <a:noFill/>
        </p:spPr>
        <p:txBody>
          <a:bodyPr wrap="square" lIns="0" rIns="0" tIns="0" bIns="0" anchor="t">
            <a:spAutoFit/>
          </a:bodyPr>
          <a:lstStyle/>
          <a:p>
            <a:pPr algn="l">
              <a:spcBef>
                <a:spcPts val="0"/>
              </a:spcBef>
              <a:spcAft>
                <a:spcPts val="0"/>
              </a:spcAft>
            </a:pPr>
            <a:r>
              <a:rPr sz="2900" b="0" i="0">
                <a:solidFill>
                  <a:srgbClr val="14243E"/>
                </a:solidFill>
                <a:latin typeface="Segoe UI Light"/>
              </a:rPr>
              <a:t>Learning outcomes</a:t>
            </a:r>
          </a:p>
        </p:txBody>
      </p:sp>
      <p:sp>
        <p:nvSpPr>
          <p:cNvPr id="8" name="TextBox 7"/>
          <p:cNvSpPr txBox="1"/>
          <p:nvPr/>
        </p:nvSpPr>
        <p:spPr>
          <a:xfrm>
            <a:off x="658368" y="1207008"/>
            <a:ext cx="10872216" cy="329184"/>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605E5C"/>
                </a:solidFill>
                <a:latin typeface="Segoe UI"/>
              </a:rPr>
              <a:t>What I am taking out of this summer, in three buckets.</a:t>
            </a:r>
          </a:p>
        </p:txBody>
      </p:sp>
      <p:sp>
        <p:nvSpPr>
          <p:cNvPr id="9" name="Rectangle 8"/>
          <p:cNvSpPr/>
          <p:nvPr/>
        </p:nvSpPr>
        <p:spPr>
          <a:xfrm>
            <a:off x="658368" y="1591056"/>
            <a:ext cx="960120" cy="320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58368" y="1737360"/>
            <a:ext cx="3502152" cy="4133087"/>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237744" tIns="237744"/>
          <a:lstStyle/>
          <a:p>
            <a:pPr algn="l">
              <a:spcBef>
                <a:spcPts val="0"/>
              </a:spcBef>
              <a:spcAft>
                <a:spcPts val="1200"/>
              </a:spcAft>
            </a:pPr>
            <a:r>
              <a:rPr sz="1300" b="1" i="0">
                <a:solidFill>
                  <a:srgbClr val="0078D4"/>
                </a:solidFill>
                <a:latin typeface="Segoe UI"/>
              </a:rPr>
              <a:t>⚙   </a:t>
            </a:r>
            <a:r>
              <a:rPr sz="1500" b="1" i="0">
                <a:solidFill>
                  <a:srgbClr val="14243E"/>
                </a:solidFill>
                <a:latin typeface="Segoe UI"/>
              </a:rPr>
              <a:t>Engineering</a:t>
            </a:r>
          </a:p>
          <a:p>
            <a:pPr algn="l">
              <a:lnSpc>
                <a:spcPct val="120000"/>
              </a:lnSpc>
              <a:spcBef>
                <a:spcPts val="0"/>
              </a:spcBef>
              <a:spcAft>
                <a:spcPts val="900"/>
              </a:spcAft>
            </a:pPr>
            <a:r>
              <a:rPr sz="1050" b="1" i="0">
                <a:solidFill>
                  <a:srgbClr val="0078D4"/>
                </a:solidFill>
                <a:latin typeface="Segoe UI"/>
              </a:rPr>
              <a:t>·  </a:t>
            </a:r>
            <a:r>
              <a:rPr sz="1050" b="0" i="0">
                <a:solidFill>
                  <a:srgbClr val="605E5C"/>
                </a:solidFill>
                <a:latin typeface="Segoe UI"/>
              </a:rPr>
              <a:t>OpenTelemetry end to end — OTLP and the GenAI conventions</a:t>
            </a:r>
          </a:p>
          <a:p>
            <a:pPr algn="l">
              <a:lnSpc>
                <a:spcPct val="120000"/>
              </a:lnSpc>
              <a:spcBef>
                <a:spcPts val="0"/>
              </a:spcBef>
              <a:spcAft>
                <a:spcPts val="900"/>
              </a:spcAft>
            </a:pPr>
            <a:r>
              <a:rPr sz="1050" b="1" i="0">
                <a:solidFill>
                  <a:srgbClr val="0078D4"/>
                </a:solidFill>
                <a:latin typeface="Segoe UI"/>
              </a:rPr>
              <a:t>·  </a:t>
            </a:r>
            <a:r>
              <a:rPr sz="1050" b="0" i="0">
                <a:solidFill>
                  <a:srgbClr val="605E5C"/>
                </a:solidFill>
                <a:latin typeface="Segoe UI"/>
              </a:rPr>
              <a:t>Matching on shape, not on vendor name</a:t>
            </a:r>
          </a:p>
          <a:p>
            <a:pPr algn="l">
              <a:lnSpc>
                <a:spcPct val="120000"/>
              </a:lnSpc>
              <a:spcBef>
                <a:spcPts val="0"/>
              </a:spcBef>
              <a:spcAft>
                <a:spcPts val="900"/>
              </a:spcAft>
            </a:pPr>
            <a:r>
              <a:rPr sz="1050" b="1" i="0">
                <a:solidFill>
                  <a:srgbClr val="0078D4"/>
                </a:solidFill>
                <a:latin typeface="Segoe UI"/>
              </a:rPr>
              <a:t>·  </a:t>
            </a:r>
            <a:r>
              <a:rPr sz="1050" b="0" i="0">
                <a:solidFill>
                  <a:srgbClr val="605E5C"/>
                </a:solidFill>
                <a:latin typeface="Segoe UI"/>
              </a:rPr>
              <a:t>Normalization is the hard part — 200 lines vs 2,600</a:t>
            </a:r>
          </a:p>
          <a:p>
            <a:pPr algn="l">
              <a:lnSpc>
                <a:spcPct val="120000"/>
              </a:lnSpc>
              <a:spcBef>
                <a:spcPts val="0"/>
              </a:spcBef>
              <a:spcAft>
                <a:spcPts val="900"/>
              </a:spcAft>
            </a:pPr>
            <a:r>
              <a:rPr sz="1050" b="1" i="0">
                <a:solidFill>
                  <a:srgbClr val="0078D4"/>
                </a:solidFill>
                <a:latin typeface="Segoe UI"/>
              </a:rPr>
              <a:t>·  </a:t>
            </a:r>
            <a:r>
              <a:rPr sz="1050" b="0" i="0">
                <a:solidFill>
                  <a:srgbClr val="605E5C"/>
                </a:solidFill>
                <a:latin typeface="Segoe UI"/>
              </a:rPr>
              <a:t>SQLite at speed — ANALYZE, indexes, column order</a:t>
            </a:r>
          </a:p>
          <a:p>
            <a:pPr algn="l">
              <a:lnSpc>
                <a:spcPct val="120000"/>
              </a:lnSpc>
              <a:spcBef>
                <a:spcPts val="0"/>
              </a:spcBef>
              <a:spcAft>
                <a:spcPts val="900"/>
              </a:spcAft>
            </a:pPr>
            <a:r>
              <a:rPr sz="1050" b="1" i="0">
                <a:solidFill>
                  <a:srgbClr val="0078D4"/>
                </a:solidFill>
                <a:latin typeface="Segoe UI"/>
              </a:rPr>
              <a:t>·  </a:t>
            </a:r>
            <a:r>
              <a:rPr sz="1050" b="0" i="0">
                <a:solidFill>
                  <a:srgbClr val="605E5C"/>
                </a:solidFill>
                <a:latin typeface="Segoe UI"/>
              </a:rPr>
              <a:t>Worker threads — never block the extension host</a:t>
            </a:r>
          </a:p>
          <a:p>
            <a:pPr algn="l">
              <a:lnSpc>
                <a:spcPct val="120000"/>
              </a:lnSpc>
              <a:spcBef>
                <a:spcPts val="0"/>
              </a:spcBef>
              <a:spcAft>
                <a:spcPts val="900"/>
              </a:spcAft>
            </a:pPr>
            <a:r>
              <a:rPr sz="1050" b="1" i="0">
                <a:solidFill>
                  <a:srgbClr val="0078D4"/>
                </a:solidFill>
                <a:latin typeface="Segoe UI"/>
              </a:rPr>
              <a:t>·  </a:t>
            </a:r>
            <a:r>
              <a:rPr sz="1050" b="0" i="0">
                <a:solidFill>
                  <a:srgbClr val="605E5C"/>
                </a:solidFill>
                <a:latin typeface="Segoe UI"/>
              </a:rPr>
              <a:t>Testing when there is no reference answer</a:t>
            </a:r>
          </a:p>
        </p:txBody>
      </p:sp>
      <p:sp>
        <p:nvSpPr>
          <p:cNvPr id="11" name="Rectangle 10"/>
          <p:cNvSpPr/>
          <p:nvPr/>
        </p:nvSpPr>
        <p:spPr>
          <a:xfrm>
            <a:off x="658368" y="1737360"/>
            <a:ext cx="3502152" cy="50292"/>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4343400" y="1737360"/>
            <a:ext cx="3502152" cy="4133087"/>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237744" tIns="237744"/>
          <a:lstStyle/>
          <a:p>
            <a:pPr algn="l">
              <a:spcBef>
                <a:spcPts val="0"/>
              </a:spcBef>
              <a:spcAft>
                <a:spcPts val="1200"/>
              </a:spcAft>
            </a:pPr>
            <a:r>
              <a:rPr sz="1300" b="1" i="0">
                <a:solidFill>
                  <a:srgbClr val="8661C5"/>
                </a:solidFill>
                <a:latin typeface="Segoe UI"/>
              </a:rPr>
              <a:t>◆   </a:t>
            </a:r>
            <a:r>
              <a:rPr sz="1500" b="1" i="0">
                <a:solidFill>
                  <a:srgbClr val="14243E"/>
                </a:solidFill>
                <a:latin typeface="Segoe UI"/>
              </a:rPr>
              <a:t>Product &amp; design</a:t>
            </a:r>
          </a:p>
          <a:p>
            <a:pPr algn="l">
              <a:lnSpc>
                <a:spcPct val="120000"/>
              </a:lnSpc>
              <a:spcBef>
                <a:spcPts val="0"/>
              </a:spcBef>
              <a:spcAft>
                <a:spcPts val="900"/>
              </a:spcAft>
            </a:pPr>
            <a:r>
              <a:rPr sz="1050" b="1" i="0">
                <a:solidFill>
                  <a:srgbClr val="8661C5"/>
                </a:solidFill>
                <a:latin typeface="Segoe UI"/>
              </a:rPr>
              <a:t>·  </a:t>
            </a:r>
            <a:r>
              <a:rPr sz="1050" b="0" i="0">
                <a:solidFill>
                  <a:srgbClr val="605E5C"/>
                </a:solidFill>
                <a:latin typeface="Segoe UI"/>
              </a:rPr>
              <a:t>Designing for two readers — a person and a model</a:t>
            </a:r>
          </a:p>
          <a:p>
            <a:pPr algn="l">
              <a:lnSpc>
                <a:spcPct val="120000"/>
              </a:lnSpc>
              <a:spcBef>
                <a:spcPts val="0"/>
              </a:spcBef>
              <a:spcAft>
                <a:spcPts val="900"/>
              </a:spcAft>
            </a:pPr>
            <a:r>
              <a:rPr sz="1050" b="1" i="0">
                <a:solidFill>
                  <a:srgbClr val="8661C5"/>
                </a:solidFill>
                <a:latin typeface="Segoe UI"/>
              </a:rPr>
              <a:t>·  </a:t>
            </a:r>
            <a:r>
              <a:rPr sz="1050" b="0" i="0">
                <a:solidFill>
                  <a:srgbClr val="605E5C"/>
                </a:solidFill>
                <a:latin typeface="Segoe UI"/>
              </a:rPr>
              <a:t>Writing for an LLM is its own discipline</a:t>
            </a:r>
          </a:p>
          <a:p>
            <a:pPr algn="l">
              <a:lnSpc>
                <a:spcPct val="120000"/>
              </a:lnSpc>
              <a:spcBef>
                <a:spcPts val="0"/>
              </a:spcBef>
              <a:spcAft>
                <a:spcPts val="900"/>
              </a:spcAft>
            </a:pPr>
            <a:r>
              <a:rPr sz="1050" b="1" i="0">
                <a:solidFill>
                  <a:srgbClr val="8661C5"/>
                </a:solidFill>
                <a:latin typeface="Segoe UI"/>
              </a:rPr>
              <a:t>·  </a:t>
            </a:r>
            <a:r>
              <a:rPr sz="1050" b="0" i="0">
                <a:solidFill>
                  <a:srgbClr val="605E5C"/>
                </a:solidFill>
                <a:latin typeface="Segoe UI"/>
              </a:rPr>
              <a:t>Choosing the unit of the product — session, not span</a:t>
            </a:r>
          </a:p>
          <a:p>
            <a:pPr algn="l">
              <a:lnSpc>
                <a:spcPct val="120000"/>
              </a:lnSpc>
              <a:spcBef>
                <a:spcPts val="0"/>
              </a:spcBef>
              <a:spcAft>
                <a:spcPts val="900"/>
              </a:spcAft>
            </a:pPr>
            <a:r>
              <a:rPr sz="1050" b="1" i="0">
                <a:solidFill>
                  <a:srgbClr val="8661C5"/>
                </a:solidFill>
                <a:latin typeface="Segoe UI"/>
              </a:rPr>
              <a:t>·  </a:t>
            </a:r>
            <a:r>
              <a:rPr sz="1050" b="0" i="0">
                <a:solidFill>
                  <a:srgbClr val="605E5C"/>
                </a:solidFill>
                <a:latin typeface="Segoe UI"/>
              </a:rPr>
              <a:t>Privacy as a design position, not a constraint</a:t>
            </a:r>
          </a:p>
          <a:p>
            <a:pPr algn="l">
              <a:lnSpc>
                <a:spcPct val="120000"/>
              </a:lnSpc>
              <a:spcBef>
                <a:spcPts val="0"/>
              </a:spcBef>
              <a:spcAft>
                <a:spcPts val="900"/>
              </a:spcAft>
            </a:pPr>
            <a:r>
              <a:rPr sz="1050" b="1" i="0">
                <a:solidFill>
                  <a:srgbClr val="8661C5"/>
                </a:solidFill>
                <a:latin typeface="Segoe UI"/>
              </a:rPr>
              <a:t>·  </a:t>
            </a:r>
            <a:r>
              <a:rPr sz="1050" b="0" i="0">
                <a:solidFill>
                  <a:srgbClr val="605E5C"/>
                </a:solidFill>
                <a:latin typeface="Segoe UI"/>
              </a:rPr>
              <a:t>Depth on one surface beat breadth across several</a:t>
            </a:r>
          </a:p>
        </p:txBody>
      </p:sp>
      <p:sp>
        <p:nvSpPr>
          <p:cNvPr id="13" name="Rectangle 12"/>
          <p:cNvSpPr/>
          <p:nvPr/>
        </p:nvSpPr>
        <p:spPr>
          <a:xfrm>
            <a:off x="4343400" y="1737360"/>
            <a:ext cx="3502152" cy="50292"/>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8028432" y="1737360"/>
            <a:ext cx="3502152" cy="4133087"/>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t" wrap="square" lIns="237744" rIns="237744" tIns="237744"/>
          <a:lstStyle/>
          <a:p>
            <a:pPr algn="l">
              <a:spcBef>
                <a:spcPts val="0"/>
              </a:spcBef>
              <a:spcAft>
                <a:spcPts val="1200"/>
              </a:spcAft>
            </a:pPr>
            <a:r>
              <a:rPr sz="1300" b="1" i="0">
                <a:solidFill>
                  <a:srgbClr val="00B7C3"/>
                </a:solidFill>
                <a:latin typeface="Segoe UI"/>
              </a:rPr>
              <a:t>★   </a:t>
            </a:r>
            <a:r>
              <a:rPr sz="1500" b="1" i="0">
                <a:solidFill>
                  <a:srgbClr val="14243E"/>
                </a:solidFill>
                <a:latin typeface="Segoe UI"/>
              </a:rPr>
              <a:t>Working here</a:t>
            </a:r>
          </a:p>
          <a:p>
            <a:pPr algn="l">
              <a:lnSpc>
                <a:spcPct val="120000"/>
              </a:lnSpc>
              <a:spcBef>
                <a:spcPts val="0"/>
              </a:spcBef>
              <a:spcAft>
                <a:spcPts val="900"/>
              </a:spcAft>
            </a:pPr>
            <a:r>
              <a:rPr sz="1050" b="1" i="0">
                <a:solidFill>
                  <a:srgbClr val="00B7C3"/>
                </a:solidFill>
                <a:latin typeface="Segoe UI"/>
              </a:rPr>
              <a:t>·  </a:t>
            </a:r>
            <a:r>
              <a:rPr sz="1050" b="0" i="0">
                <a:solidFill>
                  <a:srgbClr val="605E5C"/>
                </a:solidFill>
                <a:latin typeface="Segoe UI"/>
              </a:rPr>
              <a:t>Building on a platform that is still being built</a:t>
            </a:r>
          </a:p>
          <a:p>
            <a:pPr algn="l">
              <a:lnSpc>
                <a:spcPct val="120000"/>
              </a:lnSpc>
              <a:spcBef>
                <a:spcPts val="0"/>
              </a:spcBef>
              <a:spcAft>
                <a:spcPts val="900"/>
              </a:spcAft>
            </a:pPr>
            <a:r>
              <a:rPr sz="1050" b="1" i="0">
                <a:solidFill>
                  <a:srgbClr val="00B7C3"/>
                </a:solidFill>
                <a:latin typeface="Segoe UI"/>
              </a:rPr>
              <a:t>·  </a:t>
            </a:r>
            <a:r>
              <a:rPr sz="1050" b="0" i="0">
                <a:solidFill>
                  <a:srgbClr val="605E5C"/>
                </a:solidFill>
                <a:latin typeface="Segoe UI"/>
              </a:rPr>
              <a:t>Reading an unfamiliar codebase to find what it emits</a:t>
            </a:r>
          </a:p>
          <a:p>
            <a:pPr algn="l">
              <a:lnSpc>
                <a:spcPct val="120000"/>
              </a:lnSpc>
              <a:spcBef>
                <a:spcPts val="0"/>
              </a:spcBef>
              <a:spcAft>
                <a:spcPts val="900"/>
              </a:spcAft>
            </a:pPr>
            <a:r>
              <a:rPr sz="1050" b="1" i="0">
                <a:solidFill>
                  <a:srgbClr val="00B7C3"/>
                </a:solidFill>
                <a:latin typeface="Segoe UI"/>
              </a:rPr>
              <a:t>·  </a:t>
            </a:r>
            <a:r>
              <a:rPr sz="1050" b="0" i="0">
                <a:solidFill>
                  <a:srgbClr val="605E5C"/>
                </a:solidFill>
                <a:latin typeface="Segoe UI"/>
              </a:rPr>
              <a:t>Turning a written brief into a plan I could execute</a:t>
            </a:r>
          </a:p>
          <a:p>
            <a:pPr algn="l">
              <a:lnSpc>
                <a:spcPct val="120000"/>
              </a:lnSpc>
              <a:spcBef>
                <a:spcPts val="0"/>
              </a:spcBef>
              <a:spcAft>
                <a:spcPts val="900"/>
              </a:spcAft>
            </a:pPr>
            <a:r>
              <a:rPr sz="1050" b="1" i="0">
                <a:solidFill>
                  <a:srgbClr val="00B7C3"/>
                </a:solidFill>
                <a:latin typeface="Segoe UI"/>
              </a:rPr>
              <a:t>·  </a:t>
            </a:r>
            <a:r>
              <a:rPr sz="1050" b="0" i="0">
                <a:solidFill>
                  <a:srgbClr val="605E5C"/>
                </a:solidFill>
                <a:latin typeface="Segoe UI"/>
              </a:rPr>
              <a:t>Knowing when to ship the narrower thing</a:t>
            </a:r>
          </a:p>
          <a:p>
            <a:pPr algn="l">
              <a:lnSpc>
                <a:spcPct val="120000"/>
              </a:lnSpc>
              <a:spcBef>
                <a:spcPts val="0"/>
              </a:spcBef>
              <a:spcAft>
                <a:spcPts val="900"/>
              </a:spcAft>
            </a:pPr>
            <a:r>
              <a:rPr sz="1050" b="1" i="0">
                <a:solidFill>
                  <a:srgbClr val="00B7C3"/>
                </a:solidFill>
                <a:latin typeface="Segoe UI"/>
              </a:rPr>
              <a:t>·  </a:t>
            </a:r>
            <a:r>
              <a:rPr sz="1050" b="0" i="0">
                <a:solidFill>
                  <a:srgbClr val="605E5C"/>
                </a:solidFill>
                <a:latin typeface="Segoe UI"/>
              </a:rPr>
              <a:t>Asking upstream teams for what only they can fix</a:t>
            </a:r>
          </a:p>
        </p:txBody>
      </p:sp>
      <p:sp>
        <p:nvSpPr>
          <p:cNvPr id="15" name="Rectangle 14"/>
          <p:cNvSpPr/>
          <p:nvPr/>
        </p:nvSpPr>
        <p:spPr>
          <a:xfrm>
            <a:off x="8028432" y="1737360"/>
            <a:ext cx="3502152" cy="50292"/>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58368" y="6382512"/>
            <a:ext cx="8686800" cy="237744"/>
          </a:xfrm>
          <a:prstGeom prst="rect">
            <a:avLst/>
          </a:prstGeom>
          <a:noFill/>
        </p:spPr>
        <p:txBody>
          <a:bodyPr wrap="square" lIns="0" rIns="0" tIns="0" bIns="0" anchor="t">
            <a:spAutoFit/>
          </a:bodyPr>
          <a:lstStyle/>
          <a:p>
            <a:pPr algn="l">
              <a:spcBef>
                <a:spcPts val="0"/>
              </a:spcBef>
              <a:spcAft>
                <a:spcPts val="0"/>
              </a:spcAft>
            </a:pPr>
            <a:r>
              <a:rPr sz="900" b="0" i="0">
                <a:solidFill>
                  <a:srgbClr val="8A8886"/>
                </a:solidFill>
                <a:latin typeface="Segoe UI"/>
              </a:rPr>
              <a:t>Microsoft  ·  Agent Insights</a:t>
            </a:r>
          </a:p>
        </p:txBody>
      </p:sp>
      <p:sp>
        <p:nvSpPr>
          <p:cNvPr id="17" name="TextBox 16"/>
          <p:cNvSpPr txBox="1"/>
          <p:nvPr/>
        </p:nvSpPr>
        <p:spPr>
          <a:xfrm>
            <a:off x="10835640" y="6382512"/>
            <a:ext cx="694944" cy="237744"/>
          </a:xfrm>
          <a:prstGeom prst="rect">
            <a:avLst/>
          </a:prstGeom>
          <a:noFill/>
        </p:spPr>
        <p:txBody>
          <a:bodyPr wrap="square" lIns="0" rIns="0" tIns="0" bIns="0" anchor="t">
            <a:spAutoFit/>
          </a:bodyPr>
          <a:lstStyle/>
          <a:p>
            <a:pPr algn="r">
              <a:spcBef>
                <a:spcPts val="0"/>
              </a:spcBef>
              <a:spcAft>
                <a:spcPts val="0"/>
              </a:spcAft>
            </a:pPr>
            <a:r>
              <a:rPr sz="900" b="0" i="0">
                <a:solidFill>
                  <a:srgbClr val="8A8886"/>
                </a:solidFill>
                <a:latin typeface="Segoe U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4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3047925" cy="685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3047923" y="0"/>
            <a:ext cx="3047925" cy="68580"/>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6095847" y="0"/>
            <a:ext cx="3047925" cy="6858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9143771" y="0"/>
            <a:ext cx="3047925" cy="68580"/>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457200"/>
            <a:ext cx="10872216" cy="274320"/>
          </a:xfrm>
          <a:prstGeom prst="rect">
            <a:avLst/>
          </a:prstGeom>
          <a:noFill/>
        </p:spPr>
        <p:txBody>
          <a:bodyPr wrap="square" lIns="0" rIns="0" tIns="0" bIns="0" anchor="t">
            <a:spAutoFit/>
          </a:bodyPr>
          <a:lstStyle/>
          <a:p>
            <a:pPr algn="l">
              <a:spcBef>
                <a:spcPts val="0"/>
              </a:spcBef>
              <a:spcAft>
                <a:spcPts val="0"/>
              </a:spcAft>
            </a:pPr>
            <a:r>
              <a:rPr sz="1050" b="1" i="0">
                <a:solidFill>
                  <a:srgbClr val="50E6FF"/>
                </a:solidFill>
                <a:latin typeface="Segoe UI Semibold"/>
              </a:rPr>
              <a:t>ACKNOWLEDGEMENTS</a:t>
            </a:r>
          </a:p>
        </p:txBody>
      </p:sp>
      <p:sp>
        <p:nvSpPr>
          <p:cNvPr id="8" name="TextBox 7"/>
          <p:cNvSpPr txBox="1"/>
          <p:nvPr/>
        </p:nvSpPr>
        <p:spPr>
          <a:xfrm>
            <a:off x="658368" y="768096"/>
            <a:ext cx="10872216" cy="502920"/>
          </a:xfrm>
          <a:prstGeom prst="rect">
            <a:avLst/>
          </a:prstGeom>
          <a:noFill/>
        </p:spPr>
        <p:txBody>
          <a:bodyPr wrap="square" lIns="0" rIns="0" tIns="0" bIns="0" anchor="t">
            <a:spAutoFit/>
          </a:bodyPr>
          <a:lstStyle/>
          <a:p>
            <a:pPr algn="l">
              <a:spcBef>
                <a:spcPts val="0"/>
              </a:spcBef>
              <a:spcAft>
                <a:spcPts val="0"/>
              </a:spcAft>
            </a:pPr>
            <a:r>
              <a:rPr sz="3000" b="0" i="0">
                <a:solidFill>
                  <a:srgbClr val="FFFFFF"/>
                </a:solidFill>
                <a:latin typeface="Segoe UI Light"/>
              </a:rPr>
              <a:t>Special thank you</a:t>
            </a:r>
          </a:p>
        </p:txBody>
      </p:sp>
      <p:sp>
        <p:nvSpPr>
          <p:cNvPr id="9" name="Rectangle 8"/>
          <p:cNvSpPr/>
          <p:nvPr/>
        </p:nvSpPr>
        <p:spPr>
          <a:xfrm>
            <a:off x="658368" y="1408176"/>
            <a:ext cx="960120" cy="32004"/>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585216" y="1965960"/>
            <a:ext cx="1298448" cy="1298448"/>
          </a:xfrm>
          <a:prstGeom prst="ellipse">
            <a:avLst/>
          </a:prstGeom>
          <a:solidFill>
            <a:srgbClr val="F0F3F9"/>
          </a:solidFill>
          <a:ln w="15875">
            <a:solidFill>
              <a:srgbClr val="B3C4D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900" b="0" i="0">
                <a:solidFill>
                  <a:srgbClr val="8A8886"/>
                </a:solidFill>
                <a:latin typeface="Segoe UI"/>
              </a:rPr>
              <a:t>add
photo</a:t>
            </a:r>
          </a:p>
        </p:txBody>
      </p:sp>
      <p:sp>
        <p:nvSpPr>
          <p:cNvPr id="11" name="TextBox 10"/>
          <p:cNvSpPr txBox="1"/>
          <p:nvPr/>
        </p:nvSpPr>
        <p:spPr>
          <a:xfrm>
            <a:off x="457200" y="3401568"/>
            <a:ext cx="1554480" cy="274320"/>
          </a:xfrm>
          <a:prstGeom prst="rect">
            <a:avLst/>
          </a:prstGeom>
          <a:noFill/>
        </p:spPr>
        <p:txBody>
          <a:bodyPr wrap="square" lIns="0" rIns="0" tIns="0" bIns="0" anchor="t">
            <a:spAutoFit/>
          </a:bodyPr>
          <a:lstStyle/>
          <a:p>
            <a:pPr algn="ctr">
              <a:spcBef>
                <a:spcPts val="0"/>
              </a:spcBef>
              <a:spcAft>
                <a:spcPts val="200"/>
              </a:spcAft>
            </a:pPr>
            <a:r>
              <a:rPr sz="1150" b="1" i="0">
                <a:solidFill>
                  <a:srgbClr val="FFFFFF"/>
                </a:solidFill>
                <a:latin typeface="Segoe UI"/>
              </a:rPr>
              <a:t>@zhichli</a:t>
            </a:r>
          </a:p>
        </p:txBody>
      </p:sp>
      <p:sp>
        <p:nvSpPr>
          <p:cNvPr id="12" name="TextBox 11"/>
          <p:cNvSpPr txBox="1"/>
          <p:nvPr/>
        </p:nvSpPr>
        <p:spPr>
          <a:xfrm>
            <a:off x="457200" y="3675887"/>
            <a:ext cx="1554480" cy="457200"/>
          </a:xfrm>
          <a:prstGeom prst="rect">
            <a:avLst/>
          </a:prstGeom>
          <a:noFill/>
        </p:spPr>
        <p:txBody>
          <a:bodyPr wrap="square" lIns="0" rIns="0" tIns="0" bIns="0" anchor="t">
            <a:spAutoFit/>
          </a:bodyPr>
          <a:lstStyle/>
          <a:p>
            <a:pPr algn="ctr">
              <a:lnSpc>
                <a:spcPct val="115000"/>
              </a:lnSpc>
              <a:spcBef>
                <a:spcPts val="0"/>
              </a:spcBef>
              <a:spcAft>
                <a:spcPts val="0"/>
              </a:spcAft>
            </a:pPr>
            <a:r>
              <a:rPr sz="950" b="0" i="0">
                <a:solidFill>
                  <a:srgbClr val="93A6C4"/>
                </a:solidFill>
                <a:latin typeface="Segoe UI"/>
              </a:rPr>
              <a:t>Framed the project</a:t>
            </a:r>
          </a:p>
        </p:txBody>
      </p:sp>
      <p:sp>
        <p:nvSpPr>
          <p:cNvPr id="13" name="Oval 12"/>
          <p:cNvSpPr/>
          <p:nvPr/>
        </p:nvSpPr>
        <p:spPr>
          <a:xfrm>
            <a:off x="3008376" y="1965960"/>
            <a:ext cx="1298448" cy="1298448"/>
          </a:xfrm>
          <a:prstGeom prst="ellipse">
            <a:avLst/>
          </a:prstGeom>
          <a:solidFill>
            <a:srgbClr val="F0F3F9"/>
          </a:solidFill>
          <a:ln w="15875">
            <a:solidFill>
              <a:srgbClr val="B3C4D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900" b="0" i="0">
                <a:solidFill>
                  <a:srgbClr val="8A8886"/>
                </a:solidFill>
                <a:latin typeface="Segoe UI"/>
              </a:rPr>
              <a:t>add
photo</a:t>
            </a:r>
          </a:p>
        </p:txBody>
      </p:sp>
      <p:sp>
        <p:nvSpPr>
          <p:cNvPr id="14" name="TextBox 13"/>
          <p:cNvSpPr txBox="1"/>
          <p:nvPr/>
        </p:nvSpPr>
        <p:spPr>
          <a:xfrm>
            <a:off x="2880360" y="3401568"/>
            <a:ext cx="1554480" cy="274320"/>
          </a:xfrm>
          <a:prstGeom prst="rect">
            <a:avLst/>
          </a:prstGeom>
          <a:noFill/>
        </p:spPr>
        <p:txBody>
          <a:bodyPr wrap="square" lIns="0" rIns="0" tIns="0" bIns="0" anchor="t">
            <a:spAutoFit/>
          </a:bodyPr>
          <a:lstStyle/>
          <a:p>
            <a:pPr algn="ctr">
              <a:spcBef>
                <a:spcPts val="0"/>
              </a:spcBef>
              <a:spcAft>
                <a:spcPts val="200"/>
              </a:spcAft>
            </a:pPr>
            <a:r>
              <a:rPr sz="1150" b="1" i="0">
                <a:solidFill>
                  <a:srgbClr val="FFFFFF"/>
                </a:solidFill>
                <a:latin typeface="Segoe UI"/>
              </a:rPr>
              <a:t>@karthiknadig</a:t>
            </a:r>
          </a:p>
        </p:txBody>
      </p:sp>
      <p:sp>
        <p:nvSpPr>
          <p:cNvPr id="15" name="TextBox 14"/>
          <p:cNvSpPr txBox="1"/>
          <p:nvPr/>
        </p:nvSpPr>
        <p:spPr>
          <a:xfrm>
            <a:off x="2880360" y="3675887"/>
            <a:ext cx="1554480" cy="457200"/>
          </a:xfrm>
          <a:prstGeom prst="rect">
            <a:avLst/>
          </a:prstGeom>
          <a:noFill/>
        </p:spPr>
        <p:txBody>
          <a:bodyPr wrap="square" lIns="0" rIns="0" tIns="0" bIns="0" anchor="t">
            <a:spAutoFit/>
          </a:bodyPr>
          <a:lstStyle/>
          <a:p>
            <a:pPr algn="ctr">
              <a:lnSpc>
                <a:spcPct val="115000"/>
              </a:lnSpc>
              <a:spcBef>
                <a:spcPts val="0"/>
              </a:spcBef>
              <a:spcAft>
                <a:spcPts val="0"/>
              </a:spcAft>
            </a:pPr>
            <a:r>
              <a:rPr sz="950" b="0" i="0">
                <a:solidFill>
                  <a:srgbClr val="93A6C4"/>
                </a:solidFill>
                <a:latin typeface="Segoe UI"/>
              </a:rPr>
              <a:t>Early direction</a:t>
            </a:r>
          </a:p>
        </p:txBody>
      </p:sp>
      <p:sp>
        <p:nvSpPr>
          <p:cNvPr id="16" name="Oval 15"/>
          <p:cNvSpPr/>
          <p:nvPr/>
        </p:nvSpPr>
        <p:spPr>
          <a:xfrm>
            <a:off x="5431536" y="1965960"/>
            <a:ext cx="1298448" cy="1298448"/>
          </a:xfrm>
          <a:prstGeom prst="ellipse">
            <a:avLst/>
          </a:prstGeom>
          <a:solidFill>
            <a:srgbClr val="F0F3F9"/>
          </a:solidFill>
          <a:ln w="15875">
            <a:solidFill>
              <a:srgbClr val="B3C4D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900" b="0" i="0">
                <a:solidFill>
                  <a:srgbClr val="8A8886"/>
                </a:solidFill>
                <a:latin typeface="Segoe UI"/>
              </a:rPr>
              <a:t>add
photo</a:t>
            </a:r>
          </a:p>
        </p:txBody>
      </p:sp>
      <p:sp>
        <p:nvSpPr>
          <p:cNvPr id="17" name="TextBox 16"/>
          <p:cNvSpPr txBox="1"/>
          <p:nvPr/>
        </p:nvSpPr>
        <p:spPr>
          <a:xfrm>
            <a:off x="5303520" y="3401568"/>
            <a:ext cx="1554480" cy="274320"/>
          </a:xfrm>
          <a:prstGeom prst="rect">
            <a:avLst/>
          </a:prstGeom>
          <a:noFill/>
        </p:spPr>
        <p:txBody>
          <a:bodyPr wrap="square" lIns="0" rIns="0" tIns="0" bIns="0" anchor="t">
            <a:spAutoFit/>
          </a:bodyPr>
          <a:lstStyle/>
          <a:p>
            <a:pPr algn="ctr">
              <a:spcBef>
                <a:spcPts val="0"/>
              </a:spcBef>
              <a:spcAft>
                <a:spcPts val="200"/>
              </a:spcAft>
            </a:pPr>
            <a:r>
              <a:rPr sz="1150" b="1" i="0">
                <a:solidFill>
                  <a:srgbClr val="FFFFFF"/>
                </a:solidFill>
                <a:latin typeface="Segoe UI"/>
              </a:rPr>
              <a:t>@kieferrm</a:t>
            </a:r>
          </a:p>
        </p:txBody>
      </p:sp>
      <p:sp>
        <p:nvSpPr>
          <p:cNvPr id="18" name="TextBox 17"/>
          <p:cNvSpPr txBox="1"/>
          <p:nvPr/>
        </p:nvSpPr>
        <p:spPr>
          <a:xfrm>
            <a:off x="5303520" y="3675887"/>
            <a:ext cx="1554480" cy="457200"/>
          </a:xfrm>
          <a:prstGeom prst="rect">
            <a:avLst/>
          </a:prstGeom>
          <a:noFill/>
        </p:spPr>
        <p:txBody>
          <a:bodyPr wrap="square" lIns="0" rIns="0" tIns="0" bIns="0" anchor="t">
            <a:spAutoFit/>
          </a:bodyPr>
          <a:lstStyle/>
          <a:p>
            <a:pPr algn="ctr">
              <a:lnSpc>
                <a:spcPct val="115000"/>
              </a:lnSpc>
              <a:spcBef>
                <a:spcPts val="0"/>
              </a:spcBef>
              <a:spcAft>
                <a:spcPts val="0"/>
              </a:spcAft>
            </a:pPr>
            <a:r>
              <a:rPr sz="950" b="0" i="0">
                <a:solidFill>
                  <a:srgbClr val="93A6C4"/>
                </a:solidFill>
                <a:latin typeface="Segoe UI"/>
              </a:rPr>
              <a:t>Early direction</a:t>
            </a:r>
          </a:p>
        </p:txBody>
      </p:sp>
      <p:sp>
        <p:nvSpPr>
          <p:cNvPr id="19" name="Oval 18"/>
          <p:cNvSpPr/>
          <p:nvPr/>
        </p:nvSpPr>
        <p:spPr>
          <a:xfrm>
            <a:off x="7854696" y="1965960"/>
            <a:ext cx="1298448" cy="1298448"/>
          </a:xfrm>
          <a:prstGeom prst="ellipse">
            <a:avLst/>
          </a:prstGeom>
          <a:solidFill>
            <a:srgbClr val="F0F3F9"/>
          </a:solidFill>
          <a:ln w="15875">
            <a:solidFill>
              <a:srgbClr val="B3C4D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900" b="0" i="0">
                <a:solidFill>
                  <a:srgbClr val="8A8886"/>
                </a:solidFill>
                <a:latin typeface="Segoe UI"/>
              </a:rPr>
              <a:t>add
photo</a:t>
            </a:r>
          </a:p>
        </p:txBody>
      </p:sp>
      <p:sp>
        <p:nvSpPr>
          <p:cNvPr id="20" name="TextBox 19"/>
          <p:cNvSpPr txBox="1"/>
          <p:nvPr/>
        </p:nvSpPr>
        <p:spPr>
          <a:xfrm>
            <a:off x="7726680" y="3401568"/>
            <a:ext cx="1554480" cy="274320"/>
          </a:xfrm>
          <a:prstGeom prst="rect">
            <a:avLst/>
          </a:prstGeom>
          <a:noFill/>
        </p:spPr>
        <p:txBody>
          <a:bodyPr wrap="square" lIns="0" rIns="0" tIns="0" bIns="0" anchor="t">
            <a:spAutoFit/>
          </a:bodyPr>
          <a:lstStyle/>
          <a:p>
            <a:pPr algn="ctr">
              <a:spcBef>
                <a:spcPts val="0"/>
              </a:spcBef>
              <a:spcAft>
                <a:spcPts val="200"/>
              </a:spcAft>
            </a:pPr>
            <a:r>
              <a:rPr sz="1150" b="1" i="0">
                <a:solidFill>
                  <a:srgbClr val="FFFFFF"/>
                </a:solidFill>
                <a:latin typeface="Segoe UI"/>
              </a:rPr>
              <a:t>add name</a:t>
            </a:r>
          </a:p>
        </p:txBody>
      </p:sp>
      <p:sp>
        <p:nvSpPr>
          <p:cNvPr id="21" name="TextBox 20"/>
          <p:cNvSpPr txBox="1"/>
          <p:nvPr/>
        </p:nvSpPr>
        <p:spPr>
          <a:xfrm>
            <a:off x="7726680" y="3675887"/>
            <a:ext cx="1554480" cy="457200"/>
          </a:xfrm>
          <a:prstGeom prst="rect">
            <a:avLst/>
          </a:prstGeom>
          <a:noFill/>
        </p:spPr>
        <p:txBody>
          <a:bodyPr wrap="square" lIns="0" rIns="0" tIns="0" bIns="0" anchor="t">
            <a:spAutoFit/>
          </a:bodyPr>
          <a:lstStyle/>
          <a:p>
            <a:pPr algn="ctr">
              <a:lnSpc>
                <a:spcPct val="115000"/>
              </a:lnSpc>
              <a:spcBef>
                <a:spcPts val="0"/>
              </a:spcBef>
              <a:spcAft>
                <a:spcPts val="0"/>
              </a:spcAft>
            </a:pPr>
            <a:r>
              <a:rPr sz="950" b="0" i="0">
                <a:solidFill>
                  <a:srgbClr val="93A6C4"/>
                </a:solidFill>
                <a:latin typeface="Segoe UI"/>
              </a:rPr>
              <a:t>Manager / mentor</a:t>
            </a:r>
          </a:p>
        </p:txBody>
      </p:sp>
      <p:sp>
        <p:nvSpPr>
          <p:cNvPr id="22" name="Oval 21"/>
          <p:cNvSpPr/>
          <p:nvPr/>
        </p:nvSpPr>
        <p:spPr>
          <a:xfrm>
            <a:off x="10277856" y="1965960"/>
            <a:ext cx="1298448" cy="1298448"/>
          </a:xfrm>
          <a:prstGeom prst="ellipse">
            <a:avLst/>
          </a:prstGeom>
          <a:solidFill>
            <a:srgbClr val="F0F3F9"/>
          </a:solidFill>
          <a:ln w="15875">
            <a:solidFill>
              <a:srgbClr val="B3C4D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900" b="0" i="0">
                <a:solidFill>
                  <a:srgbClr val="8A8886"/>
                </a:solidFill>
                <a:latin typeface="Segoe UI"/>
              </a:rPr>
              <a:t>add
photo</a:t>
            </a:r>
          </a:p>
        </p:txBody>
      </p:sp>
      <p:sp>
        <p:nvSpPr>
          <p:cNvPr id="23" name="TextBox 22"/>
          <p:cNvSpPr txBox="1"/>
          <p:nvPr/>
        </p:nvSpPr>
        <p:spPr>
          <a:xfrm>
            <a:off x="10149840" y="3401568"/>
            <a:ext cx="1554480" cy="274320"/>
          </a:xfrm>
          <a:prstGeom prst="rect">
            <a:avLst/>
          </a:prstGeom>
          <a:noFill/>
        </p:spPr>
        <p:txBody>
          <a:bodyPr wrap="square" lIns="0" rIns="0" tIns="0" bIns="0" anchor="t">
            <a:spAutoFit/>
          </a:bodyPr>
          <a:lstStyle/>
          <a:p>
            <a:pPr algn="ctr">
              <a:spcBef>
                <a:spcPts val="0"/>
              </a:spcBef>
              <a:spcAft>
                <a:spcPts val="200"/>
              </a:spcAft>
            </a:pPr>
            <a:r>
              <a:rPr sz="1150" b="1" i="0">
                <a:solidFill>
                  <a:srgbClr val="FFFFFF"/>
                </a:solidFill>
                <a:latin typeface="Segoe UI"/>
              </a:rPr>
              <a:t>add name</a:t>
            </a:r>
          </a:p>
        </p:txBody>
      </p:sp>
      <p:sp>
        <p:nvSpPr>
          <p:cNvPr id="24" name="TextBox 23"/>
          <p:cNvSpPr txBox="1"/>
          <p:nvPr/>
        </p:nvSpPr>
        <p:spPr>
          <a:xfrm>
            <a:off x="10149840" y="3675887"/>
            <a:ext cx="1554480" cy="457200"/>
          </a:xfrm>
          <a:prstGeom prst="rect">
            <a:avLst/>
          </a:prstGeom>
          <a:noFill/>
        </p:spPr>
        <p:txBody>
          <a:bodyPr wrap="square" lIns="0" rIns="0" tIns="0" bIns="0" anchor="t">
            <a:spAutoFit/>
          </a:bodyPr>
          <a:lstStyle/>
          <a:p>
            <a:pPr algn="ctr">
              <a:lnSpc>
                <a:spcPct val="115000"/>
              </a:lnSpc>
              <a:spcBef>
                <a:spcPts val="0"/>
              </a:spcBef>
              <a:spcAft>
                <a:spcPts val="0"/>
              </a:spcAft>
            </a:pPr>
            <a:r>
              <a:rPr sz="950" b="0" i="0">
                <a:solidFill>
                  <a:srgbClr val="93A6C4"/>
                </a:solidFill>
                <a:latin typeface="Segoe UI"/>
              </a:rPr>
              <a:t>Mentor / reviewer</a:t>
            </a:r>
          </a:p>
        </p:txBody>
      </p:sp>
      <p:sp>
        <p:nvSpPr>
          <p:cNvPr id="25" name="Rounded Rectangle 24"/>
          <p:cNvSpPr/>
          <p:nvPr/>
        </p:nvSpPr>
        <p:spPr>
          <a:xfrm>
            <a:off x="658368" y="4370832"/>
            <a:ext cx="3502152" cy="1371600"/>
          </a:xfrm>
          <a:prstGeom prst="roundRect">
            <a:avLst>
              <a:gd name="adj" fmla="val 4500"/>
            </a:avLst>
          </a:prstGeom>
          <a:solidFill>
            <a:srgbClr val="1E3354"/>
          </a:solidFill>
          <a:ln w="12700">
            <a:solidFill>
              <a:srgbClr val="30456B"/>
            </a:solidFill>
          </a:ln>
          <a:effectLst/>
        </p:spPr>
        <p:style>
          <a:lnRef idx="1">
            <a:schemeClr val="accent1"/>
          </a:lnRef>
          <a:fillRef idx="3">
            <a:schemeClr val="accent1"/>
          </a:fillRef>
          <a:effectRef idx="2">
            <a:schemeClr val="accent1"/>
          </a:effectRef>
          <a:fontRef idx="minor">
            <a:schemeClr val="lt1"/>
          </a:fontRef>
        </p:style>
        <p:txBody>
          <a:bodyPr rtlCol="0" anchor="ctr" wrap="square" lIns="219456" rIns="219456"/>
          <a:lstStyle/>
          <a:p>
            <a:pPr algn="l">
              <a:lnSpc>
                <a:spcPct val="115000"/>
              </a:lnSpc>
              <a:spcBef>
                <a:spcPts val="0"/>
              </a:spcBef>
              <a:spcAft>
                <a:spcPts val="600"/>
              </a:spcAft>
            </a:pPr>
            <a:r>
              <a:rPr sz="1250" b="1" i="0">
                <a:solidFill>
                  <a:srgbClr val="8661C5"/>
                </a:solidFill>
                <a:latin typeface="Segoe UI"/>
              </a:rPr>
              <a:t>The VS Code agent-host team</a:t>
            </a:r>
          </a:p>
          <a:p>
            <a:pPr algn="l">
              <a:lnSpc>
                <a:spcPct val="122000"/>
              </a:lnSpc>
              <a:spcBef>
                <a:spcPts val="0"/>
              </a:spcBef>
              <a:spcAft>
                <a:spcPts val="0"/>
              </a:spcAft>
            </a:pPr>
            <a:r>
              <a:rPr sz="1050" b="0" i="0">
                <a:solidFill>
                  <a:srgbClr val="B9C8E0"/>
                </a:solidFill>
                <a:latin typeface="Segoe UI"/>
              </a:rPr>
              <a:t>For microsoft/vscode#328529 — the session anchor span — and the chat.agentHost.otel.* surface this is built on.</a:t>
            </a:r>
          </a:p>
        </p:txBody>
      </p:sp>
      <p:sp>
        <p:nvSpPr>
          <p:cNvPr id="26" name="Rectangle 25"/>
          <p:cNvSpPr/>
          <p:nvPr/>
        </p:nvSpPr>
        <p:spPr>
          <a:xfrm>
            <a:off x="658368" y="4370832"/>
            <a:ext cx="3502152" cy="50292"/>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4343400" y="4370832"/>
            <a:ext cx="3502152" cy="1371600"/>
          </a:xfrm>
          <a:prstGeom prst="roundRect">
            <a:avLst>
              <a:gd name="adj" fmla="val 4500"/>
            </a:avLst>
          </a:prstGeom>
          <a:solidFill>
            <a:srgbClr val="1E3354"/>
          </a:solidFill>
          <a:ln w="12700">
            <a:solidFill>
              <a:srgbClr val="30456B"/>
            </a:solidFill>
          </a:ln>
          <a:effectLst/>
        </p:spPr>
        <p:style>
          <a:lnRef idx="1">
            <a:schemeClr val="accent1"/>
          </a:lnRef>
          <a:fillRef idx="3">
            <a:schemeClr val="accent1"/>
          </a:fillRef>
          <a:effectRef idx="2">
            <a:schemeClr val="accent1"/>
          </a:effectRef>
          <a:fontRef idx="minor">
            <a:schemeClr val="lt1"/>
          </a:fontRef>
        </p:style>
        <p:txBody>
          <a:bodyPr rtlCol="0" anchor="ctr" wrap="square" lIns="219456" rIns="219456"/>
          <a:lstStyle/>
          <a:p>
            <a:pPr algn="l">
              <a:lnSpc>
                <a:spcPct val="115000"/>
              </a:lnSpc>
              <a:spcBef>
                <a:spcPts val="0"/>
              </a:spcBef>
              <a:spcAft>
                <a:spcPts val="600"/>
              </a:spcAft>
            </a:pPr>
            <a:r>
              <a:rPr sz="1250" b="1" i="0">
                <a:solidFill>
                  <a:srgbClr val="E3008C"/>
                </a:solidFill>
                <a:latin typeface="Segoe UI"/>
              </a:rPr>
              <a:t>The OpenTelemetry GenAI semconv WG</a:t>
            </a:r>
          </a:p>
          <a:p>
            <a:pPr algn="l">
              <a:lnSpc>
                <a:spcPct val="122000"/>
              </a:lnSpc>
              <a:spcBef>
                <a:spcPts val="0"/>
              </a:spcBef>
              <a:spcAft>
                <a:spcPts val="0"/>
              </a:spcAft>
            </a:pPr>
            <a:r>
              <a:rPr sz="1050" b="0" i="0">
                <a:solidFill>
                  <a:srgbClr val="B9C8E0"/>
                </a:solidFill>
                <a:latin typeface="Segoe UI"/>
              </a:rPr>
              <a:t>gen_ai.* is the only reason a shared vocabulary exists to normalize toward. Without it this is three parsers and a prayer.</a:t>
            </a:r>
          </a:p>
        </p:txBody>
      </p:sp>
      <p:sp>
        <p:nvSpPr>
          <p:cNvPr id="28" name="Rectangle 27"/>
          <p:cNvSpPr/>
          <p:nvPr/>
        </p:nvSpPr>
        <p:spPr>
          <a:xfrm>
            <a:off x="4343400" y="4370832"/>
            <a:ext cx="3502152" cy="50292"/>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8028432" y="4370832"/>
            <a:ext cx="3502152" cy="1371600"/>
          </a:xfrm>
          <a:prstGeom prst="roundRect">
            <a:avLst>
              <a:gd name="adj" fmla="val 4500"/>
            </a:avLst>
          </a:prstGeom>
          <a:solidFill>
            <a:srgbClr val="1E3354"/>
          </a:solidFill>
          <a:ln w="12700">
            <a:solidFill>
              <a:srgbClr val="30456B"/>
            </a:solidFill>
          </a:ln>
          <a:effectLst/>
        </p:spPr>
        <p:style>
          <a:lnRef idx="1">
            <a:schemeClr val="accent1"/>
          </a:lnRef>
          <a:fillRef idx="3">
            <a:schemeClr val="accent1"/>
          </a:fillRef>
          <a:effectRef idx="2">
            <a:schemeClr val="accent1"/>
          </a:effectRef>
          <a:fontRef idx="minor">
            <a:schemeClr val="lt1"/>
          </a:fontRef>
        </p:style>
        <p:txBody>
          <a:bodyPr rtlCol="0" anchor="ctr" wrap="square" lIns="219456" rIns="219456"/>
          <a:lstStyle/>
          <a:p>
            <a:pPr algn="l">
              <a:lnSpc>
                <a:spcPct val="115000"/>
              </a:lnSpc>
              <a:spcBef>
                <a:spcPts val="0"/>
              </a:spcBef>
              <a:spcAft>
                <a:spcPts val="600"/>
              </a:spcAft>
            </a:pPr>
            <a:r>
              <a:rPr sz="1250" b="1" i="0">
                <a:solidFill>
                  <a:srgbClr val="E87C00"/>
                </a:solidFill>
                <a:latin typeface="Segoe UI"/>
              </a:rPr>
              <a:t>The Copilot, Claude Code and Codex teams</a:t>
            </a:r>
          </a:p>
          <a:p>
            <a:pPr algn="l">
              <a:lnSpc>
                <a:spcPct val="122000"/>
              </a:lnSpc>
              <a:spcBef>
                <a:spcPts val="0"/>
              </a:spcBef>
              <a:spcAft>
                <a:spcPts val="0"/>
              </a:spcAft>
            </a:pPr>
            <a:r>
              <a:rPr sz="1050" b="0" i="0">
                <a:solidFill>
                  <a:srgbClr val="B9C8E0"/>
                </a:solidFill>
                <a:latin typeface="Segoe UI"/>
              </a:rPr>
              <a:t>For emitting telemetry at all — three teams each independently decided this was worth instrumenting.</a:t>
            </a:r>
          </a:p>
        </p:txBody>
      </p:sp>
      <p:sp>
        <p:nvSpPr>
          <p:cNvPr id="30" name="Rectangle 29"/>
          <p:cNvSpPr/>
          <p:nvPr/>
        </p:nvSpPr>
        <p:spPr>
          <a:xfrm>
            <a:off x="8028432" y="4370832"/>
            <a:ext cx="3502152" cy="50292"/>
          </a:xfrm>
          <a:prstGeom prst="rect">
            <a:avLst/>
          </a:prstGeom>
          <a:solidFill>
            <a:srgbClr val="E87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58368" y="5907024"/>
            <a:ext cx="10872216" cy="365760"/>
          </a:xfrm>
          <a:prstGeom prst="rect">
            <a:avLst/>
          </a:prstGeom>
          <a:noFill/>
        </p:spPr>
        <p:txBody>
          <a:bodyPr wrap="square" lIns="0" rIns="0" tIns="0" bIns="0" anchor="t">
            <a:spAutoFit/>
          </a:bodyPr>
          <a:lstStyle/>
          <a:p>
            <a:pPr algn="ctr">
              <a:spcBef>
                <a:spcPts val="0"/>
              </a:spcBef>
              <a:spcAft>
                <a:spcPts val="0"/>
              </a:spcAft>
            </a:pPr>
            <a:r>
              <a:rPr sz="1250" b="0" i="1">
                <a:solidFill>
                  <a:srgbClr val="8EA4C6"/>
                </a:solidFill>
                <a:latin typeface="Segoe UI"/>
              </a:rPr>
              <a:t>— and everyone who dogfooded it and reported that their session list had 261 rows in it.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4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64592" cy="685800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9189720" y="2578607"/>
            <a:ext cx="274320" cy="1097280"/>
          </a:xfrm>
          <a:prstGeom prst="roundRect">
            <a:avLst>
              <a:gd name="adj" fmla="val 35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9710928" y="1755647"/>
            <a:ext cx="274320" cy="1920240"/>
          </a:xfrm>
          <a:prstGeom prst="roundRect">
            <a:avLst>
              <a:gd name="adj" fmla="val 35000"/>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10232136" y="2944368"/>
            <a:ext cx="274320" cy="731520"/>
          </a:xfrm>
          <a:prstGeom prst="roundRect">
            <a:avLst>
              <a:gd name="adj" fmla="val 35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10753344" y="2121407"/>
            <a:ext cx="274320" cy="1554480"/>
          </a:xfrm>
          <a:prstGeom prst="roundRect">
            <a:avLst>
              <a:gd name="adj" fmla="val 35000"/>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11274552" y="2715768"/>
            <a:ext cx="274320" cy="960120"/>
          </a:xfrm>
          <a:prstGeom prst="roundRect">
            <a:avLst>
              <a:gd name="adj" fmla="val 35000"/>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024128"/>
            <a:ext cx="7863840" cy="274320"/>
          </a:xfrm>
          <a:prstGeom prst="rect">
            <a:avLst/>
          </a:prstGeom>
          <a:noFill/>
        </p:spPr>
        <p:txBody>
          <a:bodyPr wrap="square" lIns="0" rIns="0" tIns="0" bIns="0" anchor="t">
            <a:spAutoFit/>
          </a:bodyPr>
          <a:lstStyle/>
          <a:p>
            <a:pPr algn="l">
              <a:spcBef>
                <a:spcPts val="0"/>
              </a:spcBef>
              <a:spcAft>
                <a:spcPts val="0"/>
              </a:spcAft>
            </a:pPr>
            <a:r>
              <a:rPr sz="1200" b="1" i="0">
                <a:solidFill>
                  <a:srgbClr val="50E6FF"/>
                </a:solidFill>
                <a:latin typeface="Segoe UI Semibold"/>
              </a:rPr>
              <a:t>THANK YOU</a:t>
            </a:r>
          </a:p>
        </p:txBody>
      </p:sp>
      <p:sp>
        <p:nvSpPr>
          <p:cNvPr id="10" name="TextBox 9"/>
          <p:cNvSpPr txBox="1"/>
          <p:nvPr/>
        </p:nvSpPr>
        <p:spPr>
          <a:xfrm>
            <a:off x="914400" y="1426464"/>
            <a:ext cx="8046720" cy="2194560"/>
          </a:xfrm>
          <a:prstGeom prst="rect">
            <a:avLst/>
          </a:prstGeom>
          <a:noFill/>
        </p:spPr>
        <p:txBody>
          <a:bodyPr wrap="square" lIns="0" rIns="0" tIns="0" bIns="0" anchor="t">
            <a:spAutoFit/>
          </a:bodyPr>
          <a:lstStyle/>
          <a:p>
            <a:pPr algn="l">
              <a:lnSpc>
                <a:spcPct val="110000"/>
              </a:lnSpc>
              <a:spcBef>
                <a:spcPts val="0"/>
              </a:spcBef>
              <a:spcAft>
                <a:spcPts val="600"/>
              </a:spcAft>
            </a:pPr>
            <a:r>
              <a:rPr sz="3800" b="0" i="0">
                <a:solidFill>
                  <a:srgbClr val="FFFFFF"/>
                </a:solidFill>
                <a:latin typeface="Segoe UI Light"/>
              </a:rPr>
              <a:t>The data layer is solved.</a:t>
            </a:r>
          </a:p>
          <a:p>
            <a:pPr algn="l">
              <a:lnSpc>
                <a:spcPct val="110000"/>
              </a:lnSpc>
              <a:spcBef>
                <a:spcPts val="0"/>
              </a:spcBef>
              <a:spcAft>
                <a:spcPts val="0"/>
              </a:spcAft>
            </a:pPr>
            <a:r>
              <a:rPr sz="3800" b="0" i="0">
                <a:solidFill>
                  <a:srgbClr val="93A6C4"/>
                </a:solidFill>
                <a:latin typeface="Segoe UI Light"/>
              </a:rPr>
              <a:t>Agent Insights is about </a:t>
            </a:r>
            <a:r>
              <a:rPr sz="3800" b="1" i="0">
                <a:solidFill>
                  <a:srgbClr val="50E6FF"/>
                </a:solidFill>
                <a:latin typeface="Segoe UI Light"/>
              </a:rPr>
              <a:t>everything after.</a:t>
            </a:r>
          </a:p>
        </p:txBody>
      </p:sp>
      <p:sp>
        <p:nvSpPr>
          <p:cNvPr id="11" name="Rectangle 10"/>
          <p:cNvSpPr/>
          <p:nvPr/>
        </p:nvSpPr>
        <p:spPr>
          <a:xfrm>
            <a:off x="960120" y="3401568"/>
            <a:ext cx="1371600" cy="41148"/>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60120" y="3675887"/>
            <a:ext cx="7680960" cy="548640"/>
          </a:xfrm>
          <a:prstGeom prst="rect">
            <a:avLst/>
          </a:prstGeom>
          <a:noFill/>
        </p:spPr>
        <p:txBody>
          <a:bodyPr wrap="square" lIns="0" rIns="0" tIns="0" bIns="0" anchor="t">
            <a:spAutoFit/>
          </a:bodyPr>
          <a:lstStyle/>
          <a:p>
            <a:pPr algn="l">
              <a:lnSpc>
                <a:spcPct val="128000"/>
              </a:lnSpc>
              <a:spcBef>
                <a:spcPts val="0"/>
              </a:spcBef>
              <a:spcAft>
                <a:spcPts val="0"/>
              </a:spcAft>
            </a:pPr>
            <a:r>
              <a:rPr sz="1400" b="0" i="0">
                <a:solidFill>
                  <a:srgbClr val="B9C8E0"/>
                </a:solidFill>
                <a:latin typeface="Segoe UI"/>
              </a:rPr>
              <a:t>Three agents, three vocabularies, one machine — and now one definition of a session, a turn, a model call, a tool call and a token.</a:t>
            </a:r>
          </a:p>
        </p:txBody>
      </p:sp>
      <p:sp>
        <p:nvSpPr>
          <p:cNvPr id="13" name="Rounded Rectangle 12"/>
          <p:cNvSpPr/>
          <p:nvPr/>
        </p:nvSpPr>
        <p:spPr>
          <a:xfrm>
            <a:off x="960120" y="4626864"/>
            <a:ext cx="3246120" cy="658368"/>
          </a:xfrm>
          <a:prstGeom prst="roundRect">
            <a:avLst>
              <a:gd name="adj" fmla="val 4500"/>
            </a:avLst>
          </a:prstGeom>
          <a:solidFill>
            <a:srgbClr val="1E3354"/>
          </a:solidFill>
          <a:ln w="12700">
            <a:solidFill>
              <a:srgbClr val="30456B"/>
            </a:solidFill>
          </a:ln>
          <a:effectLst/>
        </p:spPr>
        <p:style>
          <a:lnRef idx="1">
            <a:schemeClr val="accent1"/>
          </a:lnRef>
          <a:fillRef idx="3">
            <a:schemeClr val="accent1"/>
          </a:fillRef>
          <a:effectRef idx="2">
            <a:schemeClr val="accent1"/>
          </a:effectRef>
          <a:fontRef idx="minor">
            <a:schemeClr val="lt1"/>
          </a:fontRef>
        </p:style>
        <p:txBody>
          <a:bodyPr rtlCol="0" anchor="ctr" wrap="square" lIns="219456"/>
          <a:lstStyle/>
          <a:p>
            <a:pPr algn="l">
              <a:spcBef>
                <a:spcPts val="0"/>
              </a:spcBef>
              <a:spcAft>
                <a:spcPts val="0"/>
              </a:spcAft>
            </a:pPr>
            <a:r>
              <a:rPr sz="1200" b="1" i="0">
                <a:solidFill>
                  <a:srgbClr val="50E6FF"/>
                </a:solidFill>
                <a:latin typeface="Segoe UI"/>
              </a:rPr>
              <a:t>✉   </a:t>
            </a:r>
            <a:r>
              <a:rPr sz="1050" b="0" i="0">
                <a:solidFill>
                  <a:srgbClr val="C3D1E6"/>
                </a:solidFill>
                <a:latin typeface="Consolas"/>
              </a:rPr>
              <a:t>michiisai22@gmail.com</a:t>
            </a:r>
          </a:p>
        </p:txBody>
      </p:sp>
      <p:sp>
        <p:nvSpPr>
          <p:cNvPr id="14" name="Rounded Rectangle 13"/>
          <p:cNvSpPr/>
          <p:nvPr/>
        </p:nvSpPr>
        <p:spPr>
          <a:xfrm>
            <a:off x="4389120" y="4626864"/>
            <a:ext cx="3246120" cy="658368"/>
          </a:xfrm>
          <a:prstGeom prst="roundRect">
            <a:avLst>
              <a:gd name="adj" fmla="val 4500"/>
            </a:avLst>
          </a:prstGeom>
          <a:solidFill>
            <a:srgbClr val="1E3354"/>
          </a:solidFill>
          <a:ln w="12700">
            <a:solidFill>
              <a:srgbClr val="30456B"/>
            </a:solidFill>
          </a:ln>
          <a:effectLst/>
        </p:spPr>
        <p:style>
          <a:lnRef idx="1">
            <a:schemeClr val="accent1"/>
          </a:lnRef>
          <a:fillRef idx="3">
            <a:schemeClr val="accent1"/>
          </a:fillRef>
          <a:effectRef idx="2">
            <a:schemeClr val="accent1"/>
          </a:effectRef>
          <a:fontRef idx="minor">
            <a:schemeClr val="lt1"/>
          </a:fontRef>
        </p:style>
        <p:txBody>
          <a:bodyPr rtlCol="0" anchor="ctr" wrap="square" lIns="219456"/>
          <a:lstStyle/>
          <a:p>
            <a:pPr algn="l">
              <a:spcBef>
                <a:spcPts val="0"/>
              </a:spcBef>
              <a:spcAft>
                <a:spcPts val="0"/>
              </a:spcAft>
            </a:pPr>
            <a:r>
              <a:rPr sz="1200" b="1" i="0">
                <a:solidFill>
                  <a:srgbClr val="00B7C3"/>
                </a:solidFill>
                <a:latin typeface="Segoe UI"/>
              </a:rPr>
              <a:t>in   </a:t>
            </a:r>
            <a:r>
              <a:rPr sz="1050" b="0" i="0">
                <a:solidFill>
                  <a:srgbClr val="C3D1E6"/>
                </a:solidFill>
                <a:latin typeface="Consolas"/>
              </a:rPr>
              <a:t>linkedin.com/in/michiisai</a:t>
            </a:r>
          </a:p>
        </p:txBody>
      </p:sp>
      <p:sp>
        <p:nvSpPr>
          <p:cNvPr id="15" name="Rounded Rectangle 14"/>
          <p:cNvSpPr/>
          <p:nvPr/>
        </p:nvSpPr>
        <p:spPr>
          <a:xfrm>
            <a:off x="7818120" y="4626864"/>
            <a:ext cx="3246120" cy="658368"/>
          </a:xfrm>
          <a:prstGeom prst="roundRect">
            <a:avLst>
              <a:gd name="adj" fmla="val 4500"/>
            </a:avLst>
          </a:prstGeom>
          <a:solidFill>
            <a:srgbClr val="1E3354"/>
          </a:solidFill>
          <a:ln w="12700">
            <a:solidFill>
              <a:srgbClr val="30456B"/>
            </a:solidFill>
          </a:ln>
          <a:effectLst/>
        </p:spPr>
        <p:style>
          <a:lnRef idx="1">
            <a:schemeClr val="accent1"/>
          </a:lnRef>
          <a:fillRef idx="3">
            <a:schemeClr val="accent1"/>
          </a:fillRef>
          <a:effectRef idx="2">
            <a:schemeClr val="accent1"/>
          </a:effectRef>
          <a:fontRef idx="minor">
            <a:schemeClr val="lt1"/>
          </a:fontRef>
        </p:style>
        <p:txBody>
          <a:bodyPr rtlCol="0" anchor="ctr" wrap="square" lIns="219456"/>
          <a:lstStyle/>
          <a:p>
            <a:pPr algn="l">
              <a:spcBef>
                <a:spcPts val="0"/>
              </a:spcBef>
              <a:spcAft>
                <a:spcPts val="0"/>
              </a:spcAft>
            </a:pPr>
            <a:r>
              <a:rPr sz="1200" b="1" i="0">
                <a:solidFill>
                  <a:srgbClr val="8661C5"/>
                </a:solidFill>
                <a:latin typeface="Segoe UI"/>
              </a:rPr>
              <a:t>⚑   </a:t>
            </a:r>
            <a:r>
              <a:rPr sz="1050" b="0" i="0">
                <a:solidFill>
                  <a:srgbClr val="C3D1E6"/>
                </a:solidFill>
                <a:latin typeface="Consolas"/>
              </a:rPr>
              <a:t>github.com/michiisai/agent-insights</a:t>
            </a:r>
          </a:p>
        </p:txBody>
      </p:sp>
      <p:sp>
        <p:nvSpPr>
          <p:cNvPr id="16" name="TextBox 15"/>
          <p:cNvSpPr txBox="1"/>
          <p:nvPr/>
        </p:nvSpPr>
        <p:spPr>
          <a:xfrm>
            <a:off x="960120" y="5577840"/>
            <a:ext cx="8229600" cy="365760"/>
          </a:xfrm>
          <a:prstGeom prst="rect">
            <a:avLst/>
          </a:prstGeom>
          <a:noFill/>
        </p:spPr>
        <p:txBody>
          <a:bodyPr wrap="square" lIns="0" rIns="0" tIns="0" bIns="0" anchor="t">
            <a:spAutoFit/>
          </a:bodyPr>
          <a:lstStyle/>
          <a:p>
            <a:pPr algn="l">
              <a:spcBef>
                <a:spcPts val="0"/>
              </a:spcBef>
              <a:spcAft>
                <a:spcPts val="0"/>
              </a:spcAft>
            </a:pPr>
            <a:r>
              <a:rPr sz="1300" b="0" i="1">
                <a:solidFill>
                  <a:srgbClr val="7B92B8"/>
                </a:solidFill>
                <a:latin typeface="Segoe UI"/>
              </a:rPr>
              <a:t>Questions? — and there’s an appendix with the numbers if you want detail.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47925" cy="685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47923" y="0"/>
            <a:ext cx="3047925" cy="68580"/>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6095847" y="0"/>
            <a:ext cx="3047925" cy="6858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143771" y="0"/>
            <a:ext cx="3047925" cy="68580"/>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384048"/>
            <a:ext cx="10872216" cy="237744"/>
          </a:xfrm>
          <a:prstGeom prst="rect">
            <a:avLst/>
          </a:prstGeom>
          <a:noFill/>
        </p:spPr>
        <p:txBody>
          <a:bodyPr wrap="square" lIns="0" rIns="0" tIns="0" bIns="0" anchor="t">
            <a:spAutoFit/>
          </a:bodyPr>
          <a:lstStyle/>
          <a:p>
            <a:pPr algn="l">
              <a:spcBef>
                <a:spcPts val="0"/>
              </a:spcBef>
              <a:spcAft>
                <a:spcPts val="0"/>
              </a:spcAft>
            </a:pPr>
            <a:r>
              <a:rPr sz="1050" b="1" i="0">
                <a:solidFill>
                  <a:srgbClr val="0078D4"/>
                </a:solidFill>
                <a:latin typeface="Segoe UI Semibold"/>
              </a:rPr>
              <a:t>APPENDIX</a:t>
            </a:r>
          </a:p>
        </p:txBody>
      </p:sp>
      <p:sp>
        <p:nvSpPr>
          <p:cNvPr id="7" name="TextBox 6"/>
          <p:cNvSpPr txBox="1"/>
          <p:nvPr/>
        </p:nvSpPr>
        <p:spPr>
          <a:xfrm>
            <a:off x="658368" y="658368"/>
            <a:ext cx="10872216" cy="502920"/>
          </a:xfrm>
          <a:prstGeom prst="rect">
            <a:avLst/>
          </a:prstGeom>
          <a:noFill/>
        </p:spPr>
        <p:txBody>
          <a:bodyPr wrap="square" lIns="0" rIns="0" tIns="0" bIns="0" anchor="t">
            <a:spAutoFit/>
          </a:bodyPr>
          <a:lstStyle/>
          <a:p>
            <a:pPr algn="l">
              <a:spcBef>
                <a:spcPts val="0"/>
              </a:spcBef>
              <a:spcAft>
                <a:spcPts val="0"/>
              </a:spcAft>
            </a:pPr>
            <a:r>
              <a:rPr sz="2900" b="0" i="0">
                <a:solidFill>
                  <a:srgbClr val="14243E"/>
                </a:solidFill>
                <a:latin typeface="Segoe UI Light"/>
              </a:rPr>
              <a:t>Numbers worth having in your pocket</a:t>
            </a:r>
          </a:p>
        </p:txBody>
      </p:sp>
      <p:sp>
        <p:nvSpPr>
          <p:cNvPr id="8" name="Rectangle 7"/>
          <p:cNvSpPr/>
          <p:nvPr/>
        </p:nvSpPr>
        <p:spPr>
          <a:xfrm>
            <a:off x="658368" y="1152144"/>
            <a:ext cx="960120" cy="320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9" name="Table 8"/>
          <p:cNvGraphicFramePr>
            <a:graphicFrameLocks noGrp="1"/>
          </p:cNvGraphicFramePr>
          <p:nvPr/>
        </p:nvGraphicFramePr>
        <p:xfrm>
          <a:off x="658368" y="1316736"/>
          <a:ext cx="10872214" cy="3456432"/>
        </p:xfrm>
        <a:graphic>
          <a:graphicData uri="http://schemas.openxmlformats.org/drawingml/2006/table">
            <a:tbl>
              <a:tblPr firstRow="1">
                <a:tableStyleId>{5C22544A-7EE6-4342-B048-85BDC9FD1C3A}</a:tableStyleId>
              </a:tblPr>
              <a:tblGrid>
                <a:gridCol w="3080461"/>
                <a:gridCol w="2355646"/>
                <a:gridCol w="3080461"/>
                <a:gridCol w="2355646"/>
              </a:tblGrid>
              <a:tr h="384048">
                <a:tc>
                  <a:txBody>
                    <a:bodyPr/>
                    <a:lstStyle/>
                    <a:p>
                      <a:pPr>
                        <a:lnSpc>
                          <a:spcPct val="105000"/>
                        </a:lnSpc>
                        <a:spcBef>
                          <a:spcPts val="0"/>
                        </a:spcBef>
                        <a:spcAft>
                          <a:spcPts val="0"/>
                        </a:spcAft>
                      </a:pPr>
                      <a:r>
                        <a:rPr sz="1100" b="1">
                          <a:solidFill>
                            <a:srgbClr val="FFFFFF"/>
                          </a:solidFill>
                          <a:latin typeface="Segoe UI"/>
                        </a:rPr>
                        <a:t>Metric</a:t>
                      </a:r>
                    </a:p>
                  </a:txBody>
                  <a:tcPr marL="82296" marR="82296" marT="41148" marB="41148" anchor="ctr">
                    <a:solidFill>
                      <a:srgbClr val="14243E"/>
                    </a:solidFill>
                  </a:tcPr>
                </a:tc>
                <a:tc>
                  <a:txBody>
                    <a:bodyPr/>
                    <a:lstStyle/>
                    <a:p>
                      <a:pPr>
                        <a:lnSpc>
                          <a:spcPct val="105000"/>
                        </a:lnSpc>
                        <a:spcBef>
                          <a:spcPts val="0"/>
                        </a:spcBef>
                        <a:spcAft>
                          <a:spcPts val="0"/>
                        </a:spcAft>
                      </a:pPr>
                      <a:r>
                        <a:rPr sz="1100" b="1">
                          <a:solidFill>
                            <a:srgbClr val="FFFFFF"/>
                          </a:solidFill>
                          <a:latin typeface="Segoe UI"/>
                        </a:rPr>
                        <a:t>Value</a:t>
                      </a:r>
                    </a:p>
                  </a:txBody>
                  <a:tcPr marL="82296" marR="82296" marT="41148" marB="41148" anchor="ctr">
                    <a:solidFill>
                      <a:srgbClr val="14243E"/>
                    </a:solidFill>
                  </a:tcPr>
                </a:tc>
                <a:tc>
                  <a:txBody>
                    <a:bodyPr/>
                    <a:lstStyle/>
                    <a:p>
                      <a:pPr>
                        <a:lnSpc>
                          <a:spcPct val="105000"/>
                        </a:lnSpc>
                        <a:spcBef>
                          <a:spcPts val="0"/>
                        </a:spcBef>
                        <a:spcAft>
                          <a:spcPts val="0"/>
                        </a:spcAft>
                      </a:pPr>
                      <a:r>
                        <a:rPr sz="1100" b="1">
                          <a:solidFill>
                            <a:srgbClr val="FFFFFF"/>
                          </a:solidFill>
                          <a:latin typeface="Segoe UI"/>
                        </a:rPr>
                        <a:t>Metric</a:t>
                      </a:r>
                    </a:p>
                  </a:txBody>
                  <a:tcPr marL="82296" marR="82296" marT="41148" marB="41148" anchor="ctr">
                    <a:solidFill>
                      <a:srgbClr val="14243E"/>
                    </a:solidFill>
                  </a:tcPr>
                </a:tc>
                <a:tc>
                  <a:txBody>
                    <a:bodyPr/>
                    <a:lstStyle/>
                    <a:p>
                      <a:pPr>
                        <a:lnSpc>
                          <a:spcPct val="105000"/>
                        </a:lnSpc>
                        <a:spcBef>
                          <a:spcPts val="0"/>
                        </a:spcBef>
                        <a:spcAft>
                          <a:spcPts val="0"/>
                        </a:spcAft>
                      </a:pPr>
                      <a:r>
                        <a:rPr sz="1100" b="1">
                          <a:solidFill>
                            <a:srgbClr val="FFFFFF"/>
                          </a:solidFill>
                          <a:latin typeface="Segoe UI"/>
                        </a:rPr>
                        <a:t>Value</a:t>
                      </a:r>
                    </a:p>
                  </a:txBody>
                  <a:tcPr marL="82296" marR="82296" marT="41148" marB="41148" anchor="ctr">
                    <a:solidFill>
                      <a:srgbClr val="14243E"/>
                    </a:solidFill>
                  </a:tcPr>
                </a:tc>
              </a:tr>
              <a:tr h="384048">
                <a:tc>
                  <a:txBody>
                    <a:bodyPr/>
                    <a:lstStyle/>
                    <a:p>
                      <a:pPr>
                        <a:lnSpc>
                          <a:spcPct val="105000"/>
                        </a:lnSpc>
                        <a:spcBef>
                          <a:spcPts val="0"/>
                        </a:spcBef>
                        <a:spcAft>
                          <a:spcPts val="0"/>
                        </a:spcAft>
                      </a:pPr>
                      <a:r>
                        <a:rPr sz="1100" b="1">
                          <a:solidFill>
                            <a:srgbClr val="14243E"/>
                          </a:solidFill>
                          <a:latin typeface="Segoe UI"/>
                        </a:rPr>
                        <a:t>Phantom vs real sessions, one day</a:t>
                      </a:r>
                    </a:p>
                  </a:txBody>
                  <a:tcPr marL="82296" marR="82296" marT="41148" marB="41148" anchor="ctr">
                    <a:solidFill>
                      <a:srgbClr val="FFFFFF"/>
                    </a:solidFill>
                  </a:tcPr>
                </a:tc>
                <a:tc>
                  <a:txBody>
                    <a:bodyPr/>
                    <a:lstStyle/>
                    <a:p>
                      <a:pPr>
                        <a:lnSpc>
                          <a:spcPct val="105000"/>
                        </a:lnSpc>
                        <a:spcBef>
                          <a:spcPts val="0"/>
                        </a:spcBef>
                        <a:spcAft>
                          <a:spcPts val="0"/>
                        </a:spcAft>
                      </a:pPr>
                      <a:r>
                        <a:rPr sz="1100" b="1">
                          <a:solidFill>
                            <a:srgbClr val="0078D4"/>
                          </a:solidFill>
                          <a:latin typeface="Consolas"/>
                        </a:rPr>
                        <a:t>261  vs  6</a:t>
                      </a:r>
                    </a:p>
                  </a:txBody>
                  <a:tcPr marL="82296" marR="82296" marT="41148" marB="41148" anchor="ctr">
                    <a:solidFill>
                      <a:srgbClr val="FFFFFF"/>
                    </a:solidFill>
                  </a:tcPr>
                </a:tc>
                <a:tc>
                  <a:txBody>
                    <a:bodyPr/>
                    <a:lstStyle/>
                    <a:p>
                      <a:pPr>
                        <a:lnSpc>
                          <a:spcPct val="105000"/>
                        </a:lnSpc>
                        <a:spcBef>
                          <a:spcPts val="0"/>
                        </a:spcBef>
                        <a:spcAft>
                          <a:spcPts val="0"/>
                        </a:spcAft>
                      </a:pPr>
                      <a:r>
                        <a:rPr sz="1100" b="1">
                          <a:solidFill>
                            <a:srgbClr val="14243E"/>
                          </a:solidFill>
                          <a:latin typeface="Segoe UI"/>
                        </a:rPr>
                        <a:t>LM tools / chat skills</a:t>
                      </a:r>
                    </a:p>
                  </a:txBody>
                  <a:tcPr marL="82296" marR="82296" marT="41148" marB="41148" anchor="ctr">
                    <a:solidFill>
                      <a:srgbClr val="FFFFFF"/>
                    </a:solidFill>
                  </a:tcPr>
                </a:tc>
                <a:tc>
                  <a:txBody>
                    <a:bodyPr/>
                    <a:lstStyle/>
                    <a:p>
                      <a:pPr>
                        <a:lnSpc>
                          <a:spcPct val="105000"/>
                        </a:lnSpc>
                        <a:spcBef>
                          <a:spcPts val="0"/>
                        </a:spcBef>
                        <a:spcAft>
                          <a:spcPts val="0"/>
                        </a:spcAft>
                      </a:pPr>
                      <a:r>
                        <a:rPr sz="1100" b="1">
                          <a:solidFill>
                            <a:srgbClr val="0078D4"/>
                          </a:solidFill>
                          <a:latin typeface="Consolas"/>
                        </a:rPr>
                        <a:t>12  /  1</a:t>
                      </a:r>
                    </a:p>
                  </a:txBody>
                  <a:tcPr marL="82296" marR="82296" marT="41148" marB="41148" anchor="ctr">
                    <a:solidFill>
                      <a:srgbClr val="FFFFFF"/>
                    </a:solidFill>
                  </a:tcPr>
                </a:tc>
              </a:tr>
              <a:tr h="384048">
                <a:tc>
                  <a:txBody>
                    <a:bodyPr/>
                    <a:lstStyle/>
                    <a:p>
                      <a:pPr>
                        <a:lnSpc>
                          <a:spcPct val="105000"/>
                        </a:lnSpc>
                        <a:spcBef>
                          <a:spcPts val="0"/>
                        </a:spcBef>
                        <a:spcAft>
                          <a:spcPts val="0"/>
                        </a:spcAft>
                      </a:pPr>
                      <a:r>
                        <a:rPr sz="1100" b="1">
                          <a:solidFill>
                            <a:srgbClr val="14243E"/>
                          </a:solidFill>
                          <a:latin typeface="Segoe UI"/>
                        </a:rPr>
                        <a:t>Codex spans per single model call</a:t>
                      </a:r>
                    </a:p>
                  </a:txBody>
                  <a:tcPr marL="82296" marR="82296" marT="41148" marB="41148" anchor="ctr">
                    <a:solidFill>
                      <a:srgbClr val="F7F7F9"/>
                    </a:solidFill>
                  </a:tcPr>
                </a:tc>
                <a:tc>
                  <a:txBody>
                    <a:bodyPr/>
                    <a:lstStyle/>
                    <a:p>
                      <a:pPr>
                        <a:lnSpc>
                          <a:spcPct val="105000"/>
                        </a:lnSpc>
                        <a:spcBef>
                          <a:spcPts val="0"/>
                        </a:spcBef>
                        <a:spcAft>
                          <a:spcPts val="0"/>
                        </a:spcAft>
                      </a:pPr>
                      <a:r>
                        <a:rPr sz="1100" b="1">
                          <a:solidFill>
                            <a:srgbClr val="0078D4"/>
                          </a:solidFill>
                          <a:latin typeface="Consolas"/>
                        </a:rPr>
                        <a:t>5 (nested)</a:t>
                      </a:r>
                    </a:p>
                  </a:txBody>
                  <a:tcPr marL="82296" marR="82296" marT="41148" marB="41148" anchor="ctr">
                    <a:solidFill>
                      <a:srgbClr val="F7F7F9"/>
                    </a:solidFill>
                  </a:tcPr>
                </a:tc>
                <a:tc>
                  <a:txBody>
                    <a:bodyPr/>
                    <a:lstStyle/>
                    <a:p>
                      <a:pPr>
                        <a:lnSpc>
                          <a:spcPct val="105000"/>
                        </a:lnSpc>
                        <a:spcBef>
                          <a:spcPts val="0"/>
                        </a:spcBef>
                        <a:spcAft>
                          <a:spcPts val="0"/>
                        </a:spcAft>
                      </a:pPr>
                      <a:r>
                        <a:rPr sz="1100" b="1">
                          <a:solidFill>
                            <a:srgbClr val="14243E"/>
                          </a:solidFill>
                          <a:latin typeface="Segoe UI"/>
                        </a:rPr>
                        <a:t>LM tool timeout — always settles</a:t>
                      </a:r>
                    </a:p>
                  </a:txBody>
                  <a:tcPr marL="82296" marR="82296" marT="41148" marB="41148" anchor="ctr">
                    <a:solidFill>
                      <a:srgbClr val="F7F7F9"/>
                    </a:solidFill>
                  </a:tcPr>
                </a:tc>
                <a:tc>
                  <a:txBody>
                    <a:bodyPr/>
                    <a:lstStyle/>
                    <a:p>
                      <a:pPr>
                        <a:lnSpc>
                          <a:spcPct val="105000"/>
                        </a:lnSpc>
                        <a:spcBef>
                          <a:spcPts val="0"/>
                        </a:spcBef>
                        <a:spcAft>
                          <a:spcPts val="0"/>
                        </a:spcAft>
                      </a:pPr>
                      <a:r>
                        <a:rPr sz="1100" b="1">
                          <a:solidFill>
                            <a:srgbClr val="0078D4"/>
                          </a:solidFill>
                          <a:latin typeface="Consolas"/>
                        </a:rPr>
                        <a:t>15 s</a:t>
                      </a:r>
                    </a:p>
                  </a:txBody>
                  <a:tcPr marL="82296" marR="82296" marT="41148" marB="41148" anchor="ctr">
                    <a:solidFill>
                      <a:srgbClr val="F7F7F9"/>
                    </a:solidFill>
                  </a:tcPr>
                </a:tc>
              </a:tr>
              <a:tr h="384048">
                <a:tc>
                  <a:txBody>
                    <a:bodyPr/>
                    <a:lstStyle/>
                    <a:p>
                      <a:pPr>
                        <a:lnSpc>
                          <a:spcPct val="105000"/>
                        </a:lnSpc>
                        <a:spcBef>
                          <a:spcPts val="0"/>
                        </a:spcBef>
                        <a:spcAft>
                          <a:spcPts val="0"/>
                        </a:spcAft>
                      </a:pPr>
                      <a:r>
                        <a:rPr sz="1100" b="1">
                          <a:solidFill>
                            <a:srgbClr val="14243E"/>
                          </a:solidFill>
                          <a:latin typeface="Segoe UI"/>
                        </a:rPr>
                        <a:t>ANALYZE on the recursive trace walk</a:t>
                      </a:r>
                    </a:p>
                  </a:txBody>
                  <a:tcPr marL="82296" marR="82296" marT="41148" marB="41148" anchor="ctr">
                    <a:solidFill>
                      <a:srgbClr val="FFFFFF"/>
                    </a:solidFill>
                  </a:tcPr>
                </a:tc>
                <a:tc>
                  <a:txBody>
                    <a:bodyPr/>
                    <a:lstStyle/>
                    <a:p>
                      <a:pPr>
                        <a:lnSpc>
                          <a:spcPct val="105000"/>
                        </a:lnSpc>
                        <a:spcBef>
                          <a:spcPts val="0"/>
                        </a:spcBef>
                        <a:spcAft>
                          <a:spcPts val="0"/>
                        </a:spcAft>
                      </a:pPr>
                      <a:r>
                        <a:rPr sz="1100" b="1">
                          <a:solidFill>
                            <a:srgbClr val="0078D4"/>
                          </a:solidFill>
                          <a:latin typeface="Consolas"/>
                        </a:rPr>
                        <a:t>8.4 s → 0.2 s</a:t>
                      </a:r>
                    </a:p>
                  </a:txBody>
                  <a:tcPr marL="82296" marR="82296" marT="41148" marB="41148" anchor="ctr">
                    <a:solidFill>
                      <a:srgbClr val="FFFFFF"/>
                    </a:solidFill>
                  </a:tcPr>
                </a:tc>
                <a:tc>
                  <a:txBody>
                    <a:bodyPr/>
                    <a:lstStyle/>
                    <a:p>
                      <a:pPr>
                        <a:lnSpc>
                          <a:spcPct val="105000"/>
                        </a:lnSpc>
                        <a:spcBef>
                          <a:spcPts val="0"/>
                        </a:spcBef>
                        <a:spcAft>
                          <a:spcPts val="0"/>
                        </a:spcAft>
                      </a:pPr>
                      <a:r>
                        <a:rPr sz="1100" b="1">
                          <a:solidFill>
                            <a:srgbClr val="14243E"/>
                          </a:solidFill>
                          <a:latin typeface="Segoe UI"/>
                        </a:rPr>
                        <a:t>Transcript budget</a:t>
                      </a:r>
                    </a:p>
                  </a:txBody>
                  <a:tcPr marL="82296" marR="82296" marT="41148" marB="41148" anchor="ctr">
                    <a:solidFill>
                      <a:srgbClr val="FFFFFF"/>
                    </a:solidFill>
                  </a:tcPr>
                </a:tc>
                <a:tc>
                  <a:txBody>
                    <a:bodyPr/>
                    <a:lstStyle/>
                    <a:p>
                      <a:pPr>
                        <a:lnSpc>
                          <a:spcPct val="105000"/>
                        </a:lnSpc>
                        <a:spcBef>
                          <a:spcPts val="0"/>
                        </a:spcBef>
                        <a:spcAft>
                          <a:spcPts val="0"/>
                        </a:spcAft>
                      </a:pPr>
                      <a:r>
                        <a:rPr sz="1100" b="1">
                          <a:solidFill>
                            <a:srgbClr val="0078D4"/>
                          </a:solidFill>
                          <a:latin typeface="Consolas"/>
                        </a:rPr>
                        <a:t>10 turns / 1 500 ch / 40 000 cap</a:t>
                      </a:r>
                    </a:p>
                  </a:txBody>
                  <a:tcPr marL="82296" marR="82296" marT="41148" marB="41148" anchor="ctr">
                    <a:solidFill>
                      <a:srgbClr val="FFFFFF"/>
                    </a:solidFill>
                  </a:tcPr>
                </a:tc>
              </a:tr>
              <a:tr h="384048">
                <a:tc>
                  <a:txBody>
                    <a:bodyPr/>
                    <a:lstStyle/>
                    <a:p>
                      <a:pPr>
                        <a:lnSpc>
                          <a:spcPct val="105000"/>
                        </a:lnSpc>
                        <a:spcBef>
                          <a:spcPts val="0"/>
                        </a:spcBef>
                        <a:spcAft>
                          <a:spcPts val="0"/>
                        </a:spcAft>
                      </a:pPr>
                      <a:r>
                        <a:rPr sz="1100" b="1">
                          <a:solidFill>
                            <a:srgbClr val="14243E"/>
                          </a:solidFill>
                          <a:latin typeface="Segoe UI"/>
                        </a:rPr>
                        <a:t>idx_raw_spans_trace, 3k-span trace</a:t>
                      </a:r>
                    </a:p>
                  </a:txBody>
                  <a:tcPr marL="82296" marR="82296" marT="41148" marB="41148" anchor="ctr">
                    <a:solidFill>
                      <a:srgbClr val="F7F7F9"/>
                    </a:solidFill>
                  </a:tcPr>
                </a:tc>
                <a:tc>
                  <a:txBody>
                    <a:bodyPr/>
                    <a:lstStyle/>
                    <a:p>
                      <a:pPr>
                        <a:lnSpc>
                          <a:spcPct val="105000"/>
                        </a:lnSpc>
                        <a:spcBef>
                          <a:spcPts val="0"/>
                        </a:spcBef>
                        <a:spcAft>
                          <a:spcPts val="0"/>
                        </a:spcAft>
                      </a:pPr>
                      <a:r>
                        <a:rPr sz="1100" b="1">
                          <a:solidFill>
                            <a:srgbClr val="0078D4"/>
                          </a:solidFill>
                          <a:latin typeface="Consolas"/>
                        </a:rPr>
                        <a:t>~10 s → fast</a:t>
                      </a:r>
                    </a:p>
                  </a:txBody>
                  <a:tcPr marL="82296" marR="82296" marT="41148" marB="41148" anchor="ctr">
                    <a:solidFill>
                      <a:srgbClr val="F7F7F9"/>
                    </a:solidFill>
                  </a:tcPr>
                </a:tc>
                <a:tc>
                  <a:txBody>
                    <a:bodyPr/>
                    <a:lstStyle/>
                    <a:p>
                      <a:pPr>
                        <a:lnSpc>
                          <a:spcPct val="105000"/>
                        </a:lnSpc>
                        <a:spcBef>
                          <a:spcPts val="0"/>
                        </a:spcBef>
                        <a:spcAft>
                          <a:spcPts val="0"/>
                        </a:spcAft>
                      </a:pPr>
                      <a:r>
                        <a:rPr sz="1100" b="1">
                          <a:solidFill>
                            <a:srgbClr val="14243E"/>
                          </a:solidFill>
                          <a:latin typeface="Segoe UI"/>
                        </a:rPr>
                        <a:t>Collector heartbeat / takeover</a:t>
                      </a:r>
                    </a:p>
                  </a:txBody>
                  <a:tcPr marL="82296" marR="82296" marT="41148" marB="41148" anchor="ctr">
                    <a:solidFill>
                      <a:srgbClr val="F7F7F9"/>
                    </a:solidFill>
                  </a:tcPr>
                </a:tc>
                <a:tc>
                  <a:txBody>
                    <a:bodyPr/>
                    <a:lstStyle/>
                    <a:p>
                      <a:pPr>
                        <a:lnSpc>
                          <a:spcPct val="105000"/>
                        </a:lnSpc>
                        <a:spcBef>
                          <a:spcPts val="0"/>
                        </a:spcBef>
                        <a:spcAft>
                          <a:spcPts val="0"/>
                        </a:spcAft>
                      </a:pPr>
                      <a:r>
                        <a:rPr sz="1100" b="1">
                          <a:solidFill>
                            <a:srgbClr val="0078D4"/>
                          </a:solidFill>
                          <a:latin typeface="Consolas"/>
                        </a:rPr>
                        <a:t>2 s · 2 fails · ≤750 ms jitter</a:t>
                      </a:r>
                    </a:p>
                  </a:txBody>
                  <a:tcPr marL="82296" marR="82296" marT="41148" marB="41148" anchor="ctr">
                    <a:solidFill>
                      <a:srgbClr val="F7F7F9"/>
                    </a:solidFill>
                  </a:tcPr>
                </a:tc>
              </a:tr>
              <a:tr h="384048">
                <a:tc>
                  <a:txBody>
                    <a:bodyPr/>
                    <a:lstStyle/>
                    <a:p>
                      <a:pPr>
                        <a:lnSpc>
                          <a:spcPct val="105000"/>
                        </a:lnSpc>
                        <a:spcBef>
                          <a:spcPts val="0"/>
                        </a:spcBef>
                        <a:spcAft>
                          <a:spcPts val="0"/>
                        </a:spcAft>
                      </a:pPr>
                      <a:r>
                        <a:rPr sz="1100" b="1">
                          <a:solidFill>
                            <a:srgbClr val="14243E"/>
                          </a:solidFill>
                          <a:latin typeface="Segoe UI"/>
                        </a:rPr>
                        <a:t>Retention cap</a:t>
                      </a:r>
                    </a:p>
                  </a:txBody>
                  <a:tcPr marL="82296" marR="82296" marT="41148" marB="41148" anchor="ctr">
                    <a:solidFill>
                      <a:srgbClr val="FFFFFF"/>
                    </a:solidFill>
                  </a:tcPr>
                </a:tc>
                <a:tc>
                  <a:txBody>
                    <a:bodyPr/>
                    <a:lstStyle/>
                    <a:p>
                      <a:pPr>
                        <a:lnSpc>
                          <a:spcPct val="105000"/>
                        </a:lnSpc>
                        <a:spcBef>
                          <a:spcPts val="0"/>
                        </a:spcBef>
                        <a:spcAft>
                          <a:spcPts val="0"/>
                        </a:spcAft>
                      </a:pPr>
                      <a:r>
                        <a:rPr sz="1100" b="1">
                          <a:solidFill>
                            <a:srgbClr val="0078D4"/>
                          </a:solidFill>
                          <a:latin typeface="Consolas"/>
                        </a:rPr>
                        <a:t>50 000 rows · 96 MB spans</a:t>
                      </a:r>
                    </a:p>
                  </a:txBody>
                  <a:tcPr marL="82296" marR="82296" marT="41148" marB="41148" anchor="ctr">
                    <a:solidFill>
                      <a:srgbClr val="FFFFFF"/>
                    </a:solidFill>
                  </a:tcPr>
                </a:tc>
                <a:tc>
                  <a:txBody>
                    <a:bodyPr/>
                    <a:lstStyle/>
                    <a:p>
                      <a:pPr>
                        <a:lnSpc>
                          <a:spcPct val="105000"/>
                        </a:lnSpc>
                        <a:spcBef>
                          <a:spcPts val="0"/>
                        </a:spcBef>
                        <a:spcAft>
                          <a:spcPts val="0"/>
                        </a:spcAft>
                      </a:pPr>
                      <a:r>
                        <a:rPr sz="1100" b="1">
                          <a:solidFill>
                            <a:srgbClr val="14243E"/>
                          </a:solidFill>
                          <a:latin typeface="Segoe UI"/>
                        </a:rPr>
                        <a:t>Default port</a:t>
                      </a:r>
                    </a:p>
                  </a:txBody>
                  <a:tcPr marL="82296" marR="82296" marT="41148" marB="41148" anchor="ctr">
                    <a:solidFill>
                      <a:srgbClr val="FFFFFF"/>
                    </a:solidFill>
                  </a:tcPr>
                </a:tc>
                <a:tc>
                  <a:txBody>
                    <a:bodyPr/>
                    <a:lstStyle/>
                    <a:p>
                      <a:pPr>
                        <a:lnSpc>
                          <a:spcPct val="105000"/>
                        </a:lnSpc>
                        <a:spcBef>
                          <a:spcPts val="0"/>
                        </a:spcBef>
                        <a:spcAft>
                          <a:spcPts val="0"/>
                        </a:spcAft>
                      </a:pPr>
                      <a:r>
                        <a:rPr sz="1100" b="1">
                          <a:solidFill>
                            <a:srgbClr val="0078D4"/>
                          </a:solidFill>
                          <a:latin typeface="Consolas"/>
                        </a:rPr>
                        <a:t>4318</a:t>
                      </a:r>
                    </a:p>
                  </a:txBody>
                  <a:tcPr marL="82296" marR="82296" marT="41148" marB="41148" anchor="ctr">
                    <a:solidFill>
                      <a:srgbClr val="FFFFFF"/>
                    </a:solidFill>
                  </a:tcPr>
                </a:tc>
              </a:tr>
              <a:tr h="384048">
                <a:tc>
                  <a:txBody>
                    <a:bodyPr/>
                    <a:lstStyle/>
                    <a:p>
                      <a:pPr>
                        <a:lnSpc>
                          <a:spcPct val="105000"/>
                        </a:lnSpc>
                        <a:spcBef>
                          <a:spcPts val="0"/>
                        </a:spcBef>
                        <a:spcAft>
                          <a:spcPts val="0"/>
                        </a:spcAft>
                      </a:pPr>
                      <a:r>
                        <a:rPr sz="1100" b="1">
                          <a:solidFill>
                            <a:srgbClr val="14243E"/>
                          </a:solidFill>
                          <a:latin typeface="Segoe UI"/>
                        </a:rPr>
                        <a:t>Per-service row floor</a:t>
                      </a:r>
                    </a:p>
                  </a:txBody>
                  <a:tcPr marL="82296" marR="82296" marT="41148" marB="41148" anchor="ctr">
                    <a:solidFill>
                      <a:srgbClr val="F7F7F9"/>
                    </a:solidFill>
                  </a:tcPr>
                </a:tc>
                <a:tc>
                  <a:txBody>
                    <a:bodyPr/>
                    <a:lstStyle/>
                    <a:p>
                      <a:pPr>
                        <a:lnSpc>
                          <a:spcPct val="105000"/>
                        </a:lnSpc>
                        <a:spcBef>
                          <a:spcPts val="0"/>
                        </a:spcBef>
                        <a:spcAft>
                          <a:spcPts val="0"/>
                        </a:spcAft>
                      </a:pPr>
                      <a:r>
                        <a:rPr sz="1100" b="1">
                          <a:solidFill>
                            <a:srgbClr val="0078D4"/>
                          </a:solidFill>
                          <a:latin typeface="Consolas"/>
                        </a:rPr>
                        <a:t>5 000</a:t>
                      </a:r>
                    </a:p>
                  </a:txBody>
                  <a:tcPr marL="82296" marR="82296" marT="41148" marB="41148" anchor="ctr">
                    <a:solidFill>
                      <a:srgbClr val="F7F7F9"/>
                    </a:solidFill>
                  </a:tcPr>
                </a:tc>
                <a:tc>
                  <a:txBody>
                    <a:bodyPr/>
                    <a:lstStyle/>
                    <a:p>
                      <a:pPr>
                        <a:lnSpc>
                          <a:spcPct val="105000"/>
                        </a:lnSpc>
                        <a:spcBef>
                          <a:spcPts val="0"/>
                        </a:spcBef>
                        <a:spcAft>
                          <a:spcPts val="0"/>
                        </a:spcAft>
                      </a:pPr>
                      <a:r>
                        <a:rPr sz="1100" b="1">
                          <a:solidFill>
                            <a:srgbClr val="14243E"/>
                          </a:solidFill>
                          <a:latin typeface="Segoe UI"/>
                        </a:rPr>
                        <a:t>Normalization vs receiver</a:t>
                      </a:r>
                    </a:p>
                  </a:txBody>
                  <a:tcPr marL="82296" marR="82296" marT="41148" marB="41148" anchor="ctr">
                    <a:solidFill>
                      <a:srgbClr val="F7F7F9"/>
                    </a:solidFill>
                  </a:tcPr>
                </a:tc>
                <a:tc>
                  <a:txBody>
                    <a:bodyPr/>
                    <a:lstStyle/>
                    <a:p>
                      <a:pPr>
                        <a:lnSpc>
                          <a:spcPct val="105000"/>
                        </a:lnSpc>
                        <a:spcBef>
                          <a:spcPts val="0"/>
                        </a:spcBef>
                        <a:spcAft>
                          <a:spcPts val="0"/>
                        </a:spcAft>
                      </a:pPr>
                      <a:r>
                        <a:rPr sz="1100" b="1">
                          <a:solidFill>
                            <a:srgbClr val="0078D4"/>
                          </a:solidFill>
                          <a:latin typeface="Consolas"/>
                        </a:rPr>
                        <a:t>~2 600 vs ~200 lines</a:t>
                      </a:r>
                    </a:p>
                  </a:txBody>
                  <a:tcPr marL="82296" marR="82296" marT="41148" marB="41148" anchor="ctr">
                    <a:solidFill>
                      <a:srgbClr val="F7F7F9"/>
                    </a:solidFill>
                  </a:tcPr>
                </a:tc>
              </a:tr>
              <a:tr h="384048">
                <a:tc>
                  <a:txBody>
                    <a:bodyPr/>
                    <a:lstStyle/>
                    <a:p>
                      <a:pPr>
                        <a:lnSpc>
                          <a:spcPct val="105000"/>
                        </a:lnSpc>
                        <a:spcBef>
                          <a:spcPts val="0"/>
                        </a:spcBef>
                        <a:spcAft>
                          <a:spcPts val="0"/>
                        </a:spcAft>
                      </a:pPr>
                      <a:r>
                        <a:rPr sz="1100" b="1">
                          <a:solidFill>
                            <a:srgbClr val="14243E"/>
                          </a:solidFill>
                          <a:latin typeface="Segoe UI"/>
                        </a:rPr>
                        <a:t>token_facts retention</a:t>
                      </a:r>
                    </a:p>
                  </a:txBody>
                  <a:tcPr marL="82296" marR="82296" marT="41148" marB="41148" anchor="ctr">
                    <a:solidFill>
                      <a:srgbClr val="FFFFFF"/>
                    </a:solidFill>
                  </a:tcPr>
                </a:tc>
                <a:tc>
                  <a:txBody>
                    <a:bodyPr/>
                    <a:lstStyle/>
                    <a:p>
                      <a:pPr>
                        <a:lnSpc>
                          <a:spcPct val="105000"/>
                        </a:lnSpc>
                        <a:spcBef>
                          <a:spcPts val="0"/>
                        </a:spcBef>
                        <a:spcAft>
                          <a:spcPts val="0"/>
                        </a:spcAft>
                      </a:pPr>
                      <a:r>
                        <a:rPr sz="1100" b="1">
                          <a:solidFill>
                            <a:srgbClr val="0078D4"/>
                          </a:solidFill>
                          <a:latin typeface="Consolas"/>
                        </a:rPr>
                        <a:t>9 days (survives pruning)</a:t>
                      </a:r>
                    </a:p>
                  </a:txBody>
                  <a:tcPr marL="82296" marR="82296" marT="41148" marB="41148" anchor="ctr">
                    <a:solidFill>
                      <a:srgbClr val="FFFFFF"/>
                    </a:solidFill>
                  </a:tcPr>
                </a:tc>
                <a:tc>
                  <a:txBody>
                    <a:bodyPr/>
                    <a:lstStyle/>
                    <a:p>
                      <a:pPr>
                        <a:lnSpc>
                          <a:spcPct val="105000"/>
                        </a:lnSpc>
                        <a:spcBef>
                          <a:spcPts val="0"/>
                        </a:spcBef>
                        <a:spcAft>
                          <a:spcPts val="0"/>
                        </a:spcAft>
                      </a:pPr>
                      <a:r>
                        <a:rPr sz="1100" b="1">
                          <a:solidFill>
                            <a:srgbClr val="14243E"/>
                          </a:solidFill>
                          <a:latin typeface="Segoe UI"/>
                        </a:rPr>
                        <a:t>Source / test lines</a:t>
                      </a:r>
                    </a:p>
                  </a:txBody>
                  <a:tcPr marL="82296" marR="82296" marT="41148" marB="41148" anchor="ctr">
                    <a:solidFill>
                      <a:srgbClr val="FFFFFF"/>
                    </a:solidFill>
                  </a:tcPr>
                </a:tc>
                <a:tc>
                  <a:txBody>
                    <a:bodyPr/>
                    <a:lstStyle/>
                    <a:p>
                      <a:pPr>
                        <a:lnSpc>
                          <a:spcPct val="105000"/>
                        </a:lnSpc>
                        <a:spcBef>
                          <a:spcPts val="0"/>
                        </a:spcBef>
                        <a:spcAft>
                          <a:spcPts val="0"/>
                        </a:spcAft>
                      </a:pPr>
                      <a:r>
                        <a:rPr sz="1100" b="1">
                          <a:solidFill>
                            <a:srgbClr val="0078D4"/>
                          </a:solidFill>
                          <a:latin typeface="Consolas"/>
                        </a:rPr>
                        <a:t>17 372  /  3 696</a:t>
                      </a:r>
                    </a:p>
                  </a:txBody>
                  <a:tcPr marL="82296" marR="82296" marT="41148" marB="41148" anchor="ctr">
                    <a:solidFill>
                      <a:srgbClr val="FFFFFF"/>
                    </a:solidFill>
                  </a:tcPr>
                </a:tc>
              </a:tr>
              <a:tr h="384048">
                <a:tc>
                  <a:txBody>
                    <a:bodyPr/>
                    <a:lstStyle/>
                    <a:p>
                      <a:pPr>
                        <a:lnSpc>
                          <a:spcPct val="105000"/>
                        </a:lnSpc>
                        <a:spcBef>
                          <a:spcPts val="0"/>
                        </a:spcBef>
                        <a:spcAft>
                          <a:spcPts val="0"/>
                        </a:spcAft>
                      </a:pPr>
                      <a:r>
                        <a:rPr sz="1100" b="1">
                          <a:solidFill>
                            <a:srgbClr val="14243E"/>
                          </a:solidFill>
                          <a:latin typeface="Segoe UI"/>
                        </a:rPr>
                        <a:t>Commits · span of work</a:t>
                      </a:r>
                    </a:p>
                  </a:txBody>
                  <a:tcPr marL="82296" marR="82296" marT="41148" marB="41148" anchor="ctr">
                    <a:solidFill>
                      <a:srgbClr val="F7F7F9"/>
                    </a:solidFill>
                  </a:tcPr>
                </a:tc>
                <a:tc>
                  <a:txBody>
                    <a:bodyPr/>
                    <a:lstStyle/>
                    <a:p>
                      <a:pPr>
                        <a:lnSpc>
                          <a:spcPct val="105000"/>
                        </a:lnSpc>
                        <a:spcBef>
                          <a:spcPts val="0"/>
                        </a:spcBef>
                        <a:spcAft>
                          <a:spcPts val="0"/>
                        </a:spcAft>
                      </a:pPr>
                      <a:r>
                        <a:rPr sz="1100" b="1">
                          <a:solidFill>
                            <a:srgbClr val="0078D4"/>
                          </a:solidFill>
                          <a:latin typeface="Consolas"/>
                        </a:rPr>
                        <a:t>239 · 30 Jun – 19 Aug</a:t>
                      </a:r>
                    </a:p>
                  </a:txBody>
                  <a:tcPr marL="82296" marR="82296" marT="41148" marB="41148" anchor="ctr">
                    <a:solidFill>
                      <a:srgbClr val="F7F7F9"/>
                    </a:solidFill>
                  </a:tcPr>
                </a:tc>
                <a:tc>
                  <a:txBody>
                    <a:bodyPr/>
                    <a:lstStyle/>
                    <a:p>
                      <a:pPr>
                        <a:lnSpc>
                          <a:spcPct val="105000"/>
                        </a:lnSpc>
                        <a:spcBef>
                          <a:spcPts val="0"/>
                        </a:spcBef>
                        <a:spcAft>
                          <a:spcPts val="0"/>
                        </a:spcAft>
                      </a:pPr>
                      <a:r>
                        <a:rPr sz="1100" b="1">
                          <a:solidFill>
                            <a:srgbClr val="14243E"/>
                          </a:solidFill>
                          <a:latin typeface="Segoe UI"/>
                        </a:rPr>
                        <a:t>Test assertions passing</a:t>
                      </a:r>
                    </a:p>
                  </a:txBody>
                  <a:tcPr marL="82296" marR="82296" marT="41148" marB="41148" anchor="ctr">
                    <a:solidFill>
                      <a:srgbClr val="F7F7F9"/>
                    </a:solidFill>
                  </a:tcPr>
                </a:tc>
                <a:tc>
                  <a:txBody>
                    <a:bodyPr/>
                    <a:lstStyle/>
                    <a:p>
                      <a:pPr>
                        <a:lnSpc>
                          <a:spcPct val="105000"/>
                        </a:lnSpc>
                        <a:spcBef>
                          <a:spcPts val="0"/>
                        </a:spcBef>
                        <a:spcAft>
                          <a:spcPts val="0"/>
                        </a:spcAft>
                      </a:pPr>
                      <a:r>
                        <a:rPr sz="1100" b="1">
                          <a:solidFill>
                            <a:srgbClr val="0078D4"/>
                          </a:solidFill>
                          <a:latin typeface="Consolas"/>
                        </a:rPr>
                        <a:t>522 across 15 suites</a:t>
                      </a:r>
                    </a:p>
                  </a:txBody>
                  <a:tcPr marL="82296" marR="82296" marT="41148" marB="41148" anchor="ctr">
                    <a:solidFill>
                      <a:srgbClr val="F7F7F9"/>
                    </a:solidFill>
                  </a:tcPr>
                </a:tc>
              </a:tr>
            </a:tbl>
          </a:graphicData>
        </a:graphic>
      </p:graphicFrame>
      <p:sp>
        <p:nvSpPr>
          <p:cNvPr id="10" name="TextBox 9"/>
          <p:cNvSpPr txBox="1"/>
          <p:nvPr/>
        </p:nvSpPr>
        <p:spPr>
          <a:xfrm>
            <a:off x="658368" y="6382512"/>
            <a:ext cx="8686800" cy="237744"/>
          </a:xfrm>
          <a:prstGeom prst="rect">
            <a:avLst/>
          </a:prstGeom>
          <a:noFill/>
        </p:spPr>
        <p:txBody>
          <a:bodyPr wrap="square" lIns="0" rIns="0" tIns="0" bIns="0" anchor="t">
            <a:spAutoFit/>
          </a:bodyPr>
          <a:lstStyle/>
          <a:p>
            <a:pPr algn="l">
              <a:spcBef>
                <a:spcPts val="0"/>
              </a:spcBef>
              <a:spcAft>
                <a:spcPts val="0"/>
              </a:spcAft>
            </a:pPr>
            <a:r>
              <a:rPr sz="900" b="0" i="0">
                <a:solidFill>
                  <a:srgbClr val="8A8886"/>
                </a:solidFill>
                <a:latin typeface="Segoe UI"/>
              </a:rPr>
              <a:t>Microsoft  ·  Agent Insights  ·  appendix</a:t>
            </a:r>
          </a:p>
        </p:txBody>
      </p:sp>
      <p:sp>
        <p:nvSpPr>
          <p:cNvPr id="11" name="TextBox 10"/>
          <p:cNvSpPr txBox="1"/>
          <p:nvPr/>
        </p:nvSpPr>
        <p:spPr>
          <a:xfrm>
            <a:off x="10835640" y="6382512"/>
            <a:ext cx="694944" cy="237744"/>
          </a:xfrm>
          <a:prstGeom prst="rect">
            <a:avLst/>
          </a:prstGeom>
          <a:noFill/>
        </p:spPr>
        <p:txBody>
          <a:bodyPr wrap="square" lIns="0" rIns="0" tIns="0" bIns="0" anchor="t">
            <a:spAutoFit/>
          </a:bodyPr>
          <a:lstStyle/>
          <a:p>
            <a:pPr algn="r">
              <a:spcBef>
                <a:spcPts val="0"/>
              </a:spcBef>
              <a:spcAft>
                <a:spcPts val="0"/>
              </a:spcAft>
            </a:pPr>
            <a:r>
              <a:rPr sz="900" b="0" i="0">
                <a:solidFill>
                  <a:srgbClr val="8A8886"/>
                </a:solidFill>
                <a:latin typeface="Segoe U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47925" cy="685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47923" y="0"/>
            <a:ext cx="3047925" cy="68580"/>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6095847" y="0"/>
            <a:ext cx="3047925" cy="6858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143771" y="0"/>
            <a:ext cx="3047925" cy="68580"/>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384048"/>
            <a:ext cx="10872216" cy="237744"/>
          </a:xfrm>
          <a:prstGeom prst="rect">
            <a:avLst/>
          </a:prstGeom>
          <a:noFill/>
        </p:spPr>
        <p:txBody>
          <a:bodyPr wrap="square" lIns="0" rIns="0" tIns="0" bIns="0" anchor="t">
            <a:spAutoFit/>
          </a:bodyPr>
          <a:lstStyle/>
          <a:p>
            <a:pPr algn="l">
              <a:spcBef>
                <a:spcPts val="0"/>
              </a:spcBef>
              <a:spcAft>
                <a:spcPts val="0"/>
              </a:spcAft>
            </a:pPr>
            <a:r>
              <a:rPr sz="1050" b="1" i="0">
                <a:solidFill>
                  <a:srgbClr val="0078D4"/>
                </a:solidFill>
                <a:latin typeface="Segoe UI Semibold"/>
              </a:rPr>
              <a:t>APPENDIX</a:t>
            </a:r>
          </a:p>
        </p:txBody>
      </p:sp>
      <p:sp>
        <p:nvSpPr>
          <p:cNvPr id="7" name="TextBox 6"/>
          <p:cNvSpPr txBox="1"/>
          <p:nvPr/>
        </p:nvSpPr>
        <p:spPr>
          <a:xfrm>
            <a:off x="658368" y="658368"/>
            <a:ext cx="10872216" cy="502920"/>
          </a:xfrm>
          <a:prstGeom prst="rect">
            <a:avLst/>
          </a:prstGeom>
          <a:noFill/>
        </p:spPr>
        <p:txBody>
          <a:bodyPr wrap="square" lIns="0" rIns="0" tIns="0" bIns="0" anchor="t">
            <a:spAutoFit/>
          </a:bodyPr>
          <a:lstStyle/>
          <a:p>
            <a:pPr algn="l">
              <a:spcBef>
                <a:spcPts val="0"/>
              </a:spcBef>
              <a:spcAft>
                <a:spcPts val="0"/>
              </a:spcAft>
            </a:pPr>
            <a:r>
              <a:rPr sz="2900" b="0" i="0">
                <a:solidFill>
                  <a:srgbClr val="14243E"/>
                </a:solidFill>
                <a:latin typeface="Segoe UI Light"/>
              </a:rPr>
              <a:t>Setup — the whole configuration</a:t>
            </a:r>
          </a:p>
        </p:txBody>
      </p:sp>
      <p:sp>
        <p:nvSpPr>
          <p:cNvPr id="8" name="TextBox 7"/>
          <p:cNvSpPr txBox="1"/>
          <p:nvPr/>
        </p:nvSpPr>
        <p:spPr>
          <a:xfrm>
            <a:off x="658368" y="1207008"/>
            <a:ext cx="10872216" cy="329184"/>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605E5C"/>
                </a:solidFill>
                <a:latin typeface="Segoe UI"/>
              </a:rPr>
              <a:t>Two settings blocks, one reload, and every session after that is captured.</a:t>
            </a:r>
          </a:p>
        </p:txBody>
      </p:sp>
      <p:sp>
        <p:nvSpPr>
          <p:cNvPr id="9" name="Rectangle 8"/>
          <p:cNvSpPr/>
          <p:nvPr/>
        </p:nvSpPr>
        <p:spPr>
          <a:xfrm>
            <a:off x="658368" y="1591056"/>
            <a:ext cx="960120" cy="320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58368" y="1755648"/>
            <a:ext cx="6492240" cy="3200400"/>
          </a:xfrm>
          <a:prstGeom prst="roundRect">
            <a:avLst>
              <a:gd name="adj" fmla="val 3000"/>
            </a:avLst>
          </a:prstGeom>
          <a:solidFill>
            <a:srgbClr val="14243E"/>
          </a:solidFill>
          <a:ln w="12700">
            <a:solidFill>
              <a:srgbClr val="14243E"/>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lnSpc>
                <a:spcPct val="116000"/>
              </a:lnSpc>
              <a:spcBef>
                <a:spcPts val="0"/>
              </a:spcBef>
              <a:spcAft>
                <a:spcPts val="100"/>
              </a:spcAft>
            </a:pPr>
            <a:r>
              <a:rPr sz="1200" b="0" i="0">
                <a:solidFill>
                  <a:srgbClr val="E8EEF7"/>
                </a:solidFill>
                <a:latin typeface="Consolas"/>
              </a:rPr>
              <a:t>{</a:t>
            </a:r>
          </a:p>
          <a:p>
            <a:pPr algn="l">
              <a:lnSpc>
                <a:spcPct val="116000"/>
              </a:lnSpc>
              <a:spcBef>
                <a:spcPts val="0"/>
              </a:spcBef>
              <a:spcAft>
                <a:spcPts val="100"/>
              </a:spcAft>
            </a:pPr>
            <a:r>
              <a:rPr sz="1200" b="0" i="0">
                <a:solidFill>
                  <a:srgbClr val="7A93B8"/>
                </a:solidFill>
                <a:latin typeface="Consolas"/>
              </a:rPr>
              <a:t>  // Native Agent Host: Copilot, Claude Code, Codex</a:t>
            </a:r>
          </a:p>
          <a:p>
            <a:pPr algn="l">
              <a:lnSpc>
                <a:spcPct val="116000"/>
              </a:lnSpc>
              <a:spcBef>
                <a:spcPts val="0"/>
              </a:spcBef>
              <a:spcAft>
                <a:spcPts val="100"/>
              </a:spcAft>
            </a:pPr>
            <a:r>
              <a:rPr sz="1200" b="0" i="0">
                <a:solidFill>
                  <a:srgbClr val="50E6FF"/>
                </a:solidFill>
                <a:latin typeface="Consolas"/>
              </a:rPr>
              <a:t>  "chat.agentHost.enabled"</a:t>
            </a:r>
            <a:r>
              <a:rPr sz="1200" b="0" i="0">
                <a:solidFill>
                  <a:srgbClr val="E8EEF7"/>
                </a:solidFill>
                <a:latin typeface="Consolas"/>
              </a:rPr>
              <a:t>: true,</a:t>
            </a:r>
          </a:p>
          <a:p>
            <a:pPr algn="l">
              <a:lnSpc>
                <a:spcPct val="116000"/>
              </a:lnSpc>
              <a:spcBef>
                <a:spcPts val="0"/>
              </a:spcBef>
              <a:spcAft>
                <a:spcPts val="100"/>
              </a:spcAft>
            </a:pPr>
            <a:r>
              <a:rPr sz="1200" b="0" i="0">
                <a:solidFill>
                  <a:srgbClr val="50E6FF"/>
                </a:solidFill>
                <a:latin typeface="Consolas"/>
              </a:rPr>
              <a:t>  "chat.agentHost.otel.enabled"</a:t>
            </a:r>
            <a:r>
              <a:rPr sz="1200" b="0" i="0">
                <a:solidFill>
                  <a:srgbClr val="E8EEF7"/>
                </a:solidFill>
                <a:latin typeface="Consolas"/>
              </a:rPr>
              <a:t>: true,</a:t>
            </a:r>
          </a:p>
          <a:p>
            <a:pPr algn="l">
              <a:lnSpc>
                <a:spcPct val="116000"/>
              </a:lnSpc>
              <a:spcBef>
                <a:spcPts val="0"/>
              </a:spcBef>
              <a:spcAft>
                <a:spcPts val="100"/>
              </a:spcAft>
            </a:pPr>
            <a:r>
              <a:rPr sz="1200" b="0" i="0">
                <a:solidFill>
                  <a:srgbClr val="50E6FF"/>
                </a:solidFill>
                <a:latin typeface="Consolas"/>
              </a:rPr>
              <a:t>  "chat.agentHost.otel.captureContent"</a:t>
            </a:r>
            <a:r>
              <a:rPr sz="1200" b="0" i="0">
                <a:solidFill>
                  <a:srgbClr val="E8EEF7"/>
                </a:solidFill>
                <a:latin typeface="Consolas"/>
              </a:rPr>
              <a:t>: true,</a:t>
            </a:r>
          </a:p>
          <a:p>
            <a:pPr algn="l">
              <a:lnSpc>
                <a:spcPct val="116000"/>
              </a:lnSpc>
              <a:spcBef>
                <a:spcPts val="0"/>
              </a:spcBef>
              <a:spcAft>
                <a:spcPts val="100"/>
              </a:spcAft>
            </a:pPr>
            <a:r>
              <a:rPr sz="1200" b="0" i="0">
                <a:solidFill>
                  <a:srgbClr val="50E6FF"/>
                </a:solidFill>
                <a:latin typeface="Consolas"/>
              </a:rPr>
              <a:t>  "chat.agentHost.otel.otlpEndpoint"</a:t>
            </a:r>
            <a:r>
              <a:rPr sz="1200" b="0" i="0">
                <a:solidFill>
                  <a:srgbClr val="E87C00"/>
                </a:solidFill>
                <a:latin typeface="Consolas"/>
              </a:rPr>
              <a:t>: "http://localhost:4318",</a:t>
            </a:r>
          </a:p>
          <a:p>
            <a:pPr algn="l">
              <a:lnSpc>
                <a:spcPct val="116000"/>
              </a:lnSpc>
              <a:spcBef>
                <a:spcPts val="0"/>
              </a:spcBef>
              <a:spcAft>
                <a:spcPts val="100"/>
              </a:spcAft>
            </a:pPr>
            <a:r>
              <a:rPr sz="1200" b="0" i="0">
                <a:solidFill>
                  <a:srgbClr val="E8EEF7"/>
                </a:solidFill>
                <a:latin typeface="Consolas"/>
              </a:rPr>
              <a:t/>
            </a:r>
          </a:p>
          <a:p>
            <a:pPr algn="l">
              <a:lnSpc>
                <a:spcPct val="116000"/>
              </a:lnSpc>
              <a:spcBef>
                <a:spcPts val="0"/>
              </a:spcBef>
              <a:spcAft>
                <a:spcPts val="100"/>
              </a:spcAft>
            </a:pPr>
            <a:r>
              <a:rPr sz="1200" b="0" i="0">
                <a:solidFill>
                  <a:srgbClr val="7A93B8"/>
                </a:solidFill>
                <a:latin typeface="Consolas"/>
              </a:rPr>
              <a:t>  // Extension-side Copilot / VS Code LM telemetry</a:t>
            </a:r>
          </a:p>
          <a:p>
            <a:pPr algn="l">
              <a:lnSpc>
                <a:spcPct val="116000"/>
              </a:lnSpc>
              <a:spcBef>
                <a:spcPts val="0"/>
              </a:spcBef>
              <a:spcAft>
                <a:spcPts val="100"/>
              </a:spcAft>
            </a:pPr>
            <a:r>
              <a:rPr sz="1200" b="0" i="0">
                <a:solidFill>
                  <a:srgbClr val="50E6FF"/>
                </a:solidFill>
                <a:latin typeface="Consolas"/>
              </a:rPr>
              <a:t>  "github.copilot.chat.otel.enabled"</a:t>
            </a:r>
            <a:r>
              <a:rPr sz="1200" b="0" i="0">
                <a:solidFill>
                  <a:srgbClr val="E8EEF7"/>
                </a:solidFill>
                <a:latin typeface="Consolas"/>
              </a:rPr>
              <a:t>: true,</a:t>
            </a:r>
          </a:p>
          <a:p>
            <a:pPr algn="l">
              <a:lnSpc>
                <a:spcPct val="116000"/>
              </a:lnSpc>
              <a:spcBef>
                <a:spcPts val="0"/>
              </a:spcBef>
              <a:spcAft>
                <a:spcPts val="100"/>
              </a:spcAft>
            </a:pPr>
            <a:r>
              <a:rPr sz="1200" b="0" i="0">
                <a:solidFill>
                  <a:srgbClr val="50E6FF"/>
                </a:solidFill>
                <a:latin typeface="Consolas"/>
              </a:rPr>
              <a:t>  "github.copilot.chat.otel.captureContent"</a:t>
            </a:r>
            <a:r>
              <a:rPr sz="1200" b="0" i="0">
                <a:solidFill>
                  <a:srgbClr val="E8EEF7"/>
                </a:solidFill>
                <a:latin typeface="Consolas"/>
              </a:rPr>
              <a:t>: true,</a:t>
            </a:r>
          </a:p>
          <a:p>
            <a:pPr algn="l">
              <a:lnSpc>
                <a:spcPct val="116000"/>
              </a:lnSpc>
              <a:spcBef>
                <a:spcPts val="0"/>
              </a:spcBef>
              <a:spcAft>
                <a:spcPts val="100"/>
              </a:spcAft>
            </a:pPr>
            <a:r>
              <a:rPr sz="1200" b="0" i="0">
                <a:solidFill>
                  <a:srgbClr val="50E6FF"/>
                </a:solidFill>
                <a:latin typeface="Consolas"/>
              </a:rPr>
              <a:t>  "github.copilot.chat.otel.otlpEndpoint"</a:t>
            </a:r>
            <a:r>
              <a:rPr sz="1200" b="0" i="0">
                <a:solidFill>
                  <a:srgbClr val="E87C00"/>
                </a:solidFill>
                <a:latin typeface="Consolas"/>
              </a:rPr>
              <a:t>: "http://localhost:4318"</a:t>
            </a:r>
          </a:p>
          <a:p>
            <a:pPr algn="l">
              <a:lnSpc>
                <a:spcPct val="116000"/>
              </a:lnSpc>
              <a:spcBef>
                <a:spcPts val="0"/>
              </a:spcBef>
              <a:spcAft>
                <a:spcPts val="100"/>
              </a:spcAft>
            </a:pPr>
            <a:r>
              <a:rPr sz="1200" b="0" i="0">
                <a:solidFill>
                  <a:srgbClr val="E8EEF7"/>
                </a:solidFill>
                <a:latin typeface="Consolas"/>
              </a:rPr>
              <a:t>}</a:t>
            </a:r>
          </a:p>
        </p:txBody>
      </p:sp>
      <p:sp>
        <p:nvSpPr>
          <p:cNvPr id="11" name="Rounded Rectangle 10"/>
          <p:cNvSpPr/>
          <p:nvPr/>
        </p:nvSpPr>
        <p:spPr>
          <a:xfrm>
            <a:off x="7388352" y="1755648"/>
            <a:ext cx="4142232" cy="1005840"/>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201168"/>
          <a:lstStyle/>
          <a:p>
            <a:pPr algn="l">
              <a:lnSpc>
                <a:spcPct val="114000"/>
              </a:lnSpc>
              <a:spcBef>
                <a:spcPts val="0"/>
              </a:spcBef>
              <a:spcAft>
                <a:spcPts val="400"/>
              </a:spcAft>
            </a:pPr>
            <a:r>
              <a:rPr sz="1200" b="1" i="0">
                <a:solidFill>
                  <a:srgbClr val="14243E"/>
                </a:solidFill>
                <a:latin typeface="Segoe UI"/>
              </a:rPr>
              <a:t>Content capture is opt-in, and says so</a:t>
            </a:r>
          </a:p>
          <a:p>
            <a:pPr algn="l">
              <a:lnSpc>
                <a:spcPct val="120000"/>
              </a:lnSpc>
              <a:spcBef>
                <a:spcPts val="0"/>
              </a:spcBef>
              <a:spcAft>
                <a:spcPts val="0"/>
              </a:spcAft>
            </a:pPr>
            <a:r>
              <a:rPr sz="1000" b="0" i="0">
                <a:solidFill>
                  <a:srgbClr val="605E5C"/>
                </a:solidFill>
                <a:latin typeface="Segoe UI"/>
              </a:rPr>
              <a:t>It may include prompts, responses, tool arguments and file contents. Leave it off when exporting to a shared or untrusted collector. Documented in docs/threat-model.md.</a:t>
            </a:r>
          </a:p>
        </p:txBody>
      </p:sp>
      <p:sp>
        <p:nvSpPr>
          <p:cNvPr id="12" name="Rectangle 11"/>
          <p:cNvSpPr/>
          <p:nvPr/>
        </p:nvSpPr>
        <p:spPr>
          <a:xfrm>
            <a:off x="7388352" y="1755648"/>
            <a:ext cx="50292" cy="1005840"/>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7388352" y="2852928"/>
            <a:ext cx="4142232" cy="1005840"/>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201168"/>
          <a:lstStyle/>
          <a:p>
            <a:pPr algn="l">
              <a:lnSpc>
                <a:spcPct val="114000"/>
              </a:lnSpc>
              <a:spcBef>
                <a:spcPts val="0"/>
              </a:spcBef>
              <a:spcAft>
                <a:spcPts val="400"/>
              </a:spcAft>
            </a:pPr>
            <a:r>
              <a:rPr sz="1200" b="1" i="0">
                <a:solidFill>
                  <a:srgbClr val="14243E"/>
                </a:solidFill>
                <a:latin typeface="Segoe UI"/>
              </a:rPr>
              <a:t>Claude and Codex need no separate config</a:t>
            </a:r>
          </a:p>
          <a:p>
            <a:pPr algn="l">
              <a:lnSpc>
                <a:spcPct val="120000"/>
              </a:lnSpc>
              <a:spcBef>
                <a:spcPts val="0"/>
              </a:spcBef>
              <a:spcAft>
                <a:spcPts val="0"/>
              </a:spcAft>
            </a:pPr>
            <a:r>
              <a:rPr sz="1000" b="0" i="0">
                <a:solidFill>
                  <a:srgbClr val="605E5C"/>
                </a:solidFill>
                <a:latin typeface="Segoe UI"/>
              </a:rPr>
              <a:t>Once the agent host is on, they inherit the host’s exporter. Only Copilot’s extension-side telemetry has its own block.</a:t>
            </a:r>
          </a:p>
        </p:txBody>
      </p:sp>
      <p:sp>
        <p:nvSpPr>
          <p:cNvPr id="14" name="Rectangle 13"/>
          <p:cNvSpPr/>
          <p:nvPr/>
        </p:nvSpPr>
        <p:spPr>
          <a:xfrm>
            <a:off x="7388352" y="2852928"/>
            <a:ext cx="50292" cy="1005840"/>
          </a:xfrm>
          <a:prstGeom prst="rect">
            <a:avLst/>
          </a:prstGeom>
          <a:solidFill>
            <a:srgbClr val="0E70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7388352" y="3950208"/>
            <a:ext cx="4142232" cy="1005840"/>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201168"/>
          <a:lstStyle/>
          <a:p>
            <a:pPr algn="l">
              <a:lnSpc>
                <a:spcPct val="114000"/>
              </a:lnSpc>
              <a:spcBef>
                <a:spcPts val="0"/>
              </a:spcBef>
              <a:spcAft>
                <a:spcPts val="400"/>
              </a:spcAft>
            </a:pPr>
            <a:r>
              <a:rPr sz="1200" b="1" i="0">
                <a:solidFill>
                  <a:srgbClr val="14243E"/>
                </a:solidFill>
                <a:latin typeface="Segoe UI"/>
              </a:rPr>
              <a:t>Two settings, two signal sets</a:t>
            </a:r>
          </a:p>
          <a:p>
            <a:pPr algn="l">
              <a:lnSpc>
                <a:spcPct val="120000"/>
              </a:lnSpc>
              <a:spcBef>
                <a:spcPts val="0"/>
              </a:spcBef>
              <a:spcAft>
                <a:spcPts val="0"/>
              </a:spcAft>
            </a:pPr>
            <a:r>
              <a:rPr sz="1000" b="0" i="0">
                <a:solidFill>
                  <a:srgbClr val="605E5C"/>
                </a:solidFill>
                <a:latin typeface="Segoe UI"/>
              </a:rPr>
              <a:t>Copilot emits traces from one setting and metrics/logs from another — so one can work while the other is off. The commonest “no data” cause is a port mismatch, which the extension detects and offers to fix rather than silently editing your settings.</a:t>
            </a:r>
          </a:p>
        </p:txBody>
      </p:sp>
      <p:sp>
        <p:nvSpPr>
          <p:cNvPr id="16" name="Rectangle 15"/>
          <p:cNvSpPr/>
          <p:nvPr/>
        </p:nvSpPr>
        <p:spPr>
          <a:xfrm>
            <a:off x="7388352" y="3950208"/>
            <a:ext cx="50292" cy="1005840"/>
          </a:xfrm>
          <a:prstGeom prst="rect">
            <a:avLst/>
          </a:prstGeom>
          <a:solidFill>
            <a:srgbClr val="E87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58368" y="6382512"/>
            <a:ext cx="8686800" cy="237744"/>
          </a:xfrm>
          <a:prstGeom prst="rect">
            <a:avLst/>
          </a:prstGeom>
          <a:noFill/>
        </p:spPr>
        <p:txBody>
          <a:bodyPr wrap="square" lIns="0" rIns="0" tIns="0" bIns="0" anchor="t">
            <a:spAutoFit/>
          </a:bodyPr>
          <a:lstStyle/>
          <a:p>
            <a:pPr algn="l">
              <a:spcBef>
                <a:spcPts val="0"/>
              </a:spcBef>
              <a:spcAft>
                <a:spcPts val="0"/>
              </a:spcAft>
            </a:pPr>
            <a:r>
              <a:rPr sz="900" b="0" i="0">
                <a:solidFill>
                  <a:srgbClr val="8A8886"/>
                </a:solidFill>
                <a:latin typeface="Segoe UI"/>
              </a:rPr>
              <a:t>Microsoft  ·  Agent Insights  ·  appendix</a:t>
            </a:r>
          </a:p>
        </p:txBody>
      </p:sp>
      <p:sp>
        <p:nvSpPr>
          <p:cNvPr id="18" name="TextBox 17"/>
          <p:cNvSpPr txBox="1"/>
          <p:nvPr/>
        </p:nvSpPr>
        <p:spPr>
          <a:xfrm>
            <a:off x="10835640" y="6382512"/>
            <a:ext cx="694944" cy="237744"/>
          </a:xfrm>
          <a:prstGeom prst="rect">
            <a:avLst/>
          </a:prstGeom>
          <a:noFill/>
        </p:spPr>
        <p:txBody>
          <a:bodyPr wrap="square" lIns="0" rIns="0" tIns="0" bIns="0" anchor="t">
            <a:spAutoFit/>
          </a:bodyPr>
          <a:lstStyle/>
          <a:p>
            <a:pPr algn="r">
              <a:spcBef>
                <a:spcPts val="0"/>
              </a:spcBef>
              <a:spcAft>
                <a:spcPts val="0"/>
              </a:spcAft>
            </a:pPr>
            <a:r>
              <a:rPr sz="900" b="0" i="0">
                <a:solidFill>
                  <a:srgbClr val="8A8886"/>
                </a:solidFill>
                <a:latin typeface="Segoe U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47925" cy="685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47923" y="0"/>
            <a:ext cx="3047925" cy="68580"/>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6095847" y="0"/>
            <a:ext cx="3047925" cy="6858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143771" y="0"/>
            <a:ext cx="3047925" cy="68580"/>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384048"/>
            <a:ext cx="10872216" cy="237744"/>
          </a:xfrm>
          <a:prstGeom prst="rect">
            <a:avLst/>
          </a:prstGeom>
          <a:noFill/>
        </p:spPr>
        <p:txBody>
          <a:bodyPr wrap="square" lIns="0" rIns="0" tIns="0" bIns="0" anchor="t">
            <a:spAutoFit/>
          </a:bodyPr>
          <a:lstStyle/>
          <a:p>
            <a:pPr algn="l">
              <a:spcBef>
                <a:spcPts val="0"/>
              </a:spcBef>
              <a:spcAft>
                <a:spcPts val="0"/>
              </a:spcAft>
            </a:pPr>
            <a:r>
              <a:rPr sz="1050" b="1" i="0">
                <a:solidFill>
                  <a:srgbClr val="0078D4"/>
                </a:solidFill>
                <a:latin typeface="Segoe UI Semibold"/>
              </a:rPr>
              <a:t>APPENDIX · SCOPE</a:t>
            </a:r>
          </a:p>
        </p:txBody>
      </p:sp>
      <p:sp>
        <p:nvSpPr>
          <p:cNvPr id="7" name="TextBox 6"/>
          <p:cNvSpPr txBox="1"/>
          <p:nvPr/>
        </p:nvSpPr>
        <p:spPr>
          <a:xfrm>
            <a:off x="658368" y="658368"/>
            <a:ext cx="10872216" cy="502920"/>
          </a:xfrm>
          <a:prstGeom prst="rect">
            <a:avLst/>
          </a:prstGeom>
          <a:noFill/>
        </p:spPr>
        <p:txBody>
          <a:bodyPr wrap="square" lIns="0" rIns="0" tIns="0" bIns="0" anchor="t">
            <a:spAutoFit/>
          </a:bodyPr>
          <a:lstStyle/>
          <a:p>
            <a:pPr algn="l">
              <a:spcBef>
                <a:spcPts val="0"/>
              </a:spcBef>
              <a:spcAft>
                <a:spcPts val="0"/>
              </a:spcAft>
            </a:pPr>
            <a:r>
              <a:rPr sz="2900" b="0" i="0">
                <a:solidFill>
                  <a:srgbClr val="14243E"/>
                </a:solidFill>
                <a:latin typeface="Segoe UI Light"/>
              </a:rPr>
              <a:t>Everything that made it into the box</a:t>
            </a:r>
          </a:p>
        </p:txBody>
      </p:sp>
      <p:sp>
        <p:nvSpPr>
          <p:cNvPr id="8" name="TextBox 7"/>
          <p:cNvSpPr txBox="1"/>
          <p:nvPr/>
        </p:nvSpPr>
        <p:spPr>
          <a:xfrm>
            <a:off x="658368" y="1207008"/>
            <a:ext cx="10872216" cy="329184"/>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605E5C"/>
                </a:solidFill>
                <a:latin typeface="Segoe UI"/>
              </a:rPr>
              <a:t>One extension, four packages, two consumer surfaces — installable today.</a:t>
            </a:r>
          </a:p>
        </p:txBody>
      </p:sp>
      <p:sp>
        <p:nvSpPr>
          <p:cNvPr id="9" name="Rectangle 8"/>
          <p:cNvSpPr/>
          <p:nvPr/>
        </p:nvSpPr>
        <p:spPr>
          <a:xfrm>
            <a:off x="658368" y="1591056"/>
            <a:ext cx="960120" cy="320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10" name="Table 9"/>
          <p:cNvGraphicFramePr>
            <a:graphicFrameLocks noGrp="1"/>
          </p:cNvGraphicFramePr>
          <p:nvPr/>
        </p:nvGraphicFramePr>
        <p:xfrm>
          <a:off x="658368" y="1755648"/>
          <a:ext cx="10872215" cy="3584448"/>
        </p:xfrm>
        <a:graphic>
          <a:graphicData uri="http://schemas.openxmlformats.org/drawingml/2006/table">
            <a:tbl>
              <a:tblPr firstRow="1">
                <a:tableStyleId>{5C22544A-7EE6-4342-B048-85BDC9FD1C3A}</a:tableStyleId>
              </a:tblPr>
              <a:tblGrid>
                <a:gridCol w="3200400"/>
                <a:gridCol w="5577839"/>
                <a:gridCol w="2093976"/>
              </a:tblGrid>
              <a:tr h="365760">
                <a:tc>
                  <a:txBody>
                    <a:bodyPr/>
                    <a:lstStyle/>
                    <a:p>
                      <a:pPr>
                        <a:lnSpc>
                          <a:spcPct val="105000"/>
                        </a:lnSpc>
                        <a:spcBef>
                          <a:spcPts val="0"/>
                        </a:spcBef>
                        <a:spcAft>
                          <a:spcPts val="0"/>
                        </a:spcAft>
                      </a:pPr>
                      <a:r>
                        <a:rPr sz="1100" b="1">
                          <a:solidFill>
                            <a:srgbClr val="FFFFFF"/>
                          </a:solidFill>
                          <a:latin typeface="Segoe UI"/>
                        </a:rPr>
                        <a:t>Capability</a:t>
                      </a:r>
                    </a:p>
                  </a:txBody>
                  <a:tcPr marL="82296" marR="82296" marT="41148" marB="41148" anchor="ctr">
                    <a:solidFill>
                      <a:srgbClr val="14243E"/>
                    </a:solidFill>
                  </a:tcPr>
                </a:tc>
                <a:tc>
                  <a:txBody>
                    <a:bodyPr/>
                    <a:lstStyle/>
                    <a:p>
                      <a:pPr>
                        <a:lnSpc>
                          <a:spcPct val="105000"/>
                        </a:lnSpc>
                        <a:spcBef>
                          <a:spcPts val="0"/>
                        </a:spcBef>
                        <a:spcAft>
                          <a:spcPts val="0"/>
                        </a:spcAft>
                      </a:pPr>
                      <a:r>
                        <a:rPr sz="1100" b="1">
                          <a:solidFill>
                            <a:srgbClr val="FFFFFF"/>
                          </a:solidFill>
                          <a:latin typeface="Segoe UI"/>
                        </a:rPr>
                        <a:t>Form it took</a:t>
                      </a:r>
                    </a:p>
                  </a:txBody>
                  <a:tcPr marL="82296" marR="82296" marT="41148" marB="41148" anchor="ctr">
                    <a:solidFill>
                      <a:srgbClr val="14243E"/>
                    </a:solidFill>
                  </a:tcPr>
                </a:tc>
                <a:tc>
                  <a:txBody>
                    <a:bodyPr/>
                    <a:lstStyle/>
                    <a:p>
                      <a:pPr>
                        <a:lnSpc>
                          <a:spcPct val="105000"/>
                        </a:lnSpc>
                        <a:spcBef>
                          <a:spcPts val="0"/>
                        </a:spcBef>
                        <a:spcAft>
                          <a:spcPts val="0"/>
                        </a:spcAft>
                      </a:pPr>
                      <a:r>
                        <a:rPr sz="1100" b="1">
                          <a:solidFill>
                            <a:srgbClr val="FFFFFF"/>
                          </a:solidFill>
                          <a:latin typeface="Segoe UI"/>
                        </a:rPr>
                        <a:t>Where it lives</a:t>
                      </a:r>
                    </a:p>
                  </a:txBody>
                  <a:tcPr marL="82296" marR="82296" marT="41148" marB="41148" anchor="ctr">
                    <a:solidFill>
                      <a:srgbClr val="14243E"/>
                    </a:solidFill>
                  </a:tcPr>
                </a:tc>
              </a:tr>
              <a:tr h="402336">
                <a:tc>
                  <a:txBody>
                    <a:bodyPr/>
                    <a:lstStyle/>
                    <a:p>
                      <a:pPr>
                        <a:lnSpc>
                          <a:spcPct val="105000"/>
                        </a:lnSpc>
                        <a:spcBef>
                          <a:spcPts val="0"/>
                        </a:spcBef>
                        <a:spcAft>
                          <a:spcPts val="0"/>
                        </a:spcAft>
                      </a:pPr>
                      <a:r>
                        <a:rPr sz="1050" b="1">
                          <a:solidFill>
                            <a:srgbClr val="14243E"/>
                          </a:solidFill>
                          <a:latin typeface="Segoe UI"/>
                        </a:rPr>
                        <a:t>Local-first OTel collection</a:t>
                      </a:r>
                    </a:p>
                  </a:txBody>
                  <a:tcPr marL="82296" marR="82296" marT="41148" marB="41148" anchor="ctr">
                    <a:solidFill>
                      <a:srgbClr val="FFFFFF"/>
                    </a:solidFill>
                  </a:tcPr>
                </a:tc>
                <a:tc>
                  <a:txBody>
                    <a:bodyPr/>
                    <a:lstStyle/>
                    <a:p>
                      <a:pPr>
                        <a:lnSpc>
                          <a:spcPct val="105000"/>
                        </a:lnSpc>
                        <a:spcBef>
                          <a:spcPts val="0"/>
                        </a:spcBef>
                        <a:spcAft>
                          <a:spcPts val="0"/>
                        </a:spcAft>
                      </a:pPr>
                      <a:r>
                        <a:rPr sz="1050">
                          <a:solidFill>
                            <a:srgbClr val="1B1A19"/>
                          </a:solidFill>
                          <a:latin typeface="Segoe UI"/>
                        </a:rPr>
                        <a:t>An OTLP receiver embedded in the extension — nothing leaves the machine</a:t>
                      </a:r>
                    </a:p>
                  </a:txBody>
                  <a:tcPr marL="82296" marR="82296" marT="41148" marB="41148" anchor="ctr">
                    <a:solidFill>
                      <a:srgbClr val="FFFFFF"/>
                    </a:solidFill>
                  </a:tcPr>
                </a:tc>
                <a:tc>
                  <a:txBody>
                    <a:bodyPr/>
                    <a:lstStyle/>
                    <a:p>
                      <a:pPr>
                        <a:lnSpc>
                          <a:spcPct val="105000"/>
                        </a:lnSpc>
                        <a:spcBef>
                          <a:spcPts val="0"/>
                        </a:spcBef>
                        <a:spcAft>
                          <a:spcPts val="0"/>
                        </a:spcAft>
                      </a:pPr>
                      <a:r>
                        <a:rPr sz="950">
                          <a:solidFill>
                            <a:srgbClr val="0078D4"/>
                          </a:solidFill>
                          <a:latin typeface="Consolas"/>
                        </a:rPr>
                        <a:t>packages/receiver</a:t>
                      </a:r>
                    </a:p>
                  </a:txBody>
                  <a:tcPr marL="82296" marR="82296" marT="41148" marB="41148" anchor="ctr">
                    <a:solidFill>
                      <a:srgbClr val="FFFFFF"/>
                    </a:solidFill>
                  </a:tcPr>
                </a:tc>
              </a:tr>
              <a:tr h="402336">
                <a:tc>
                  <a:txBody>
                    <a:bodyPr/>
                    <a:lstStyle/>
                    <a:p>
                      <a:pPr>
                        <a:lnSpc>
                          <a:spcPct val="105000"/>
                        </a:lnSpc>
                        <a:spcBef>
                          <a:spcPts val="0"/>
                        </a:spcBef>
                        <a:spcAft>
                          <a:spcPts val="0"/>
                        </a:spcAft>
                      </a:pPr>
                      <a:r>
                        <a:rPr sz="1050" b="1">
                          <a:solidFill>
                            <a:srgbClr val="14243E"/>
                          </a:solidFill>
                          <a:latin typeface="Segoe UI"/>
                        </a:rPr>
                        <a:t>Trace, log and metric explorers</a:t>
                      </a:r>
                    </a:p>
                  </a:txBody>
                  <a:tcPr marL="82296" marR="82296" marT="41148" marB="41148" anchor="ctr">
                    <a:solidFill>
                      <a:srgbClr val="F7F7F9"/>
                    </a:solidFill>
                  </a:tcPr>
                </a:tc>
                <a:tc>
                  <a:txBody>
                    <a:bodyPr/>
                    <a:lstStyle/>
                    <a:p>
                      <a:pPr>
                        <a:lnSpc>
                          <a:spcPct val="105000"/>
                        </a:lnSpc>
                        <a:spcBef>
                          <a:spcPts val="0"/>
                        </a:spcBef>
                        <a:spcAft>
                          <a:spcPts val="0"/>
                        </a:spcAft>
                      </a:pPr>
                      <a:r>
                        <a:rPr sz="1050">
                          <a:solidFill>
                            <a:srgbClr val="1B1A19"/>
                          </a:solidFill>
                          <a:latin typeface="Segoe UI"/>
                        </a:rPr>
                        <a:t>Three explorers over a local SQLite store, on a worker thread</a:t>
                      </a:r>
                    </a:p>
                  </a:txBody>
                  <a:tcPr marL="82296" marR="82296" marT="41148" marB="41148" anchor="ctr">
                    <a:solidFill>
                      <a:srgbClr val="F7F7F9"/>
                    </a:solidFill>
                  </a:tcPr>
                </a:tc>
                <a:tc>
                  <a:txBody>
                    <a:bodyPr/>
                    <a:lstStyle/>
                    <a:p>
                      <a:pPr>
                        <a:lnSpc>
                          <a:spcPct val="105000"/>
                        </a:lnSpc>
                        <a:spcBef>
                          <a:spcPts val="0"/>
                        </a:spcBef>
                        <a:spcAft>
                          <a:spcPts val="0"/>
                        </a:spcAft>
                      </a:pPr>
                      <a:r>
                        <a:rPr sz="950">
                          <a:solidFill>
                            <a:srgbClr val="0078D4"/>
                          </a:solidFill>
                          <a:latin typeface="Consolas"/>
                        </a:rPr>
                        <a:t>Traces / Logs / Metrics tabs</a:t>
                      </a:r>
                    </a:p>
                  </a:txBody>
                  <a:tcPr marL="82296" marR="82296" marT="41148" marB="41148" anchor="ctr">
                    <a:solidFill>
                      <a:srgbClr val="F7F7F9"/>
                    </a:solidFill>
                  </a:tcPr>
                </a:tc>
              </a:tr>
              <a:tr h="402336">
                <a:tc>
                  <a:txBody>
                    <a:bodyPr/>
                    <a:lstStyle/>
                    <a:p>
                      <a:pPr>
                        <a:lnSpc>
                          <a:spcPct val="105000"/>
                        </a:lnSpc>
                        <a:spcBef>
                          <a:spcPts val="0"/>
                        </a:spcBef>
                        <a:spcAft>
                          <a:spcPts val="0"/>
                        </a:spcAft>
                      </a:pPr>
                      <a:r>
                        <a:rPr sz="1050" b="1">
                          <a:solidFill>
                            <a:srgbClr val="14243E"/>
                          </a:solidFill>
                          <a:latin typeface="Segoe UI"/>
                        </a:rPr>
                        <a:t>A session model across three harnesses</a:t>
                      </a:r>
                    </a:p>
                  </a:txBody>
                  <a:tcPr marL="82296" marR="82296" marT="41148" marB="41148" anchor="ctr">
                    <a:solidFill>
                      <a:srgbClr val="FFFFFF"/>
                    </a:solidFill>
                  </a:tcPr>
                </a:tc>
                <a:tc>
                  <a:txBody>
                    <a:bodyPr/>
                    <a:lstStyle/>
                    <a:p>
                      <a:pPr>
                        <a:lnSpc>
                          <a:spcPct val="105000"/>
                        </a:lnSpc>
                        <a:spcBef>
                          <a:spcPts val="0"/>
                        </a:spcBef>
                        <a:spcAft>
                          <a:spcPts val="0"/>
                        </a:spcAft>
                      </a:pPr>
                      <a:r>
                        <a:rPr sz="1050">
                          <a:solidFill>
                            <a:srgbClr val="1B1A19"/>
                          </a:solidFill>
                          <a:latin typeface="Segoe UI"/>
                        </a:rPr>
                        <a:t>One definition of session, turn, model call, tool call and token</a:t>
                      </a:r>
                    </a:p>
                  </a:txBody>
                  <a:tcPr marL="82296" marR="82296" marT="41148" marB="41148" anchor="ctr">
                    <a:solidFill>
                      <a:srgbClr val="FFFFFF"/>
                    </a:solidFill>
                  </a:tcPr>
                </a:tc>
                <a:tc>
                  <a:txBody>
                    <a:bodyPr/>
                    <a:lstStyle/>
                    <a:p>
                      <a:pPr>
                        <a:lnSpc>
                          <a:spcPct val="105000"/>
                        </a:lnSpc>
                        <a:spcBef>
                          <a:spcPts val="0"/>
                        </a:spcBef>
                        <a:spcAft>
                          <a:spcPts val="0"/>
                        </a:spcAft>
                      </a:pPr>
                      <a:r>
                        <a:rPr sz="950">
                          <a:solidFill>
                            <a:srgbClr val="0078D4"/>
                          </a:solidFill>
                          <a:latin typeface="Consolas"/>
                        </a:rPr>
                        <a:t>packages/engine</a:t>
                      </a:r>
                    </a:p>
                  </a:txBody>
                  <a:tcPr marL="82296" marR="82296" marT="41148" marB="41148" anchor="ctr">
                    <a:solidFill>
                      <a:srgbClr val="FFFFFF"/>
                    </a:solidFill>
                  </a:tcPr>
                </a:tc>
              </a:tr>
              <a:tr h="402336">
                <a:tc>
                  <a:txBody>
                    <a:bodyPr/>
                    <a:lstStyle/>
                    <a:p>
                      <a:pPr>
                        <a:lnSpc>
                          <a:spcPct val="105000"/>
                        </a:lnSpc>
                        <a:spcBef>
                          <a:spcPts val="0"/>
                        </a:spcBef>
                        <a:spcAft>
                          <a:spcPts val="0"/>
                        </a:spcAft>
                      </a:pPr>
                      <a:r>
                        <a:rPr sz="1050" b="1">
                          <a:solidFill>
                            <a:srgbClr val="14243E"/>
                          </a:solidFill>
                          <a:latin typeface="Segoe UI"/>
                        </a:rPr>
                        <a:t>Sessions and Home</a:t>
                      </a:r>
                    </a:p>
                  </a:txBody>
                  <a:tcPr marL="82296" marR="82296" marT="41148" marB="41148" anchor="ctr">
                    <a:solidFill>
                      <a:srgbClr val="F7F7F9"/>
                    </a:solidFill>
                  </a:tcPr>
                </a:tc>
                <a:tc>
                  <a:txBody>
                    <a:bodyPr/>
                    <a:lstStyle/>
                    <a:p>
                      <a:pPr>
                        <a:lnSpc>
                          <a:spcPct val="105000"/>
                        </a:lnSpc>
                        <a:spcBef>
                          <a:spcPts val="0"/>
                        </a:spcBef>
                        <a:spcAft>
                          <a:spcPts val="0"/>
                        </a:spcAft>
                      </a:pPr>
                      <a:r>
                        <a:rPr sz="1050">
                          <a:solidFill>
                            <a:srgbClr val="1B1A19"/>
                          </a:solidFill>
                          <a:latin typeface="Segoe UI"/>
                        </a:rPr>
                        <a:t>Two surfaces the brief never asked for — and the ones people actually open</a:t>
                      </a:r>
                    </a:p>
                  </a:txBody>
                  <a:tcPr marL="82296" marR="82296" marT="41148" marB="41148" anchor="ctr">
                    <a:solidFill>
                      <a:srgbClr val="F7F7F9"/>
                    </a:solidFill>
                  </a:tcPr>
                </a:tc>
                <a:tc>
                  <a:txBody>
                    <a:bodyPr/>
                    <a:lstStyle/>
                    <a:p>
                      <a:pPr>
                        <a:lnSpc>
                          <a:spcPct val="105000"/>
                        </a:lnSpc>
                        <a:spcBef>
                          <a:spcPts val="0"/>
                        </a:spcBef>
                        <a:spcAft>
                          <a:spcPts val="0"/>
                        </a:spcAft>
                      </a:pPr>
                      <a:r>
                        <a:rPr sz="950">
                          <a:solidFill>
                            <a:srgbClr val="0078D4"/>
                          </a:solidFill>
                          <a:latin typeface="Consolas"/>
                        </a:rPr>
                        <a:t>Sessions / Home tabs</a:t>
                      </a:r>
                    </a:p>
                  </a:txBody>
                  <a:tcPr marL="82296" marR="82296" marT="41148" marB="41148" anchor="ctr">
                    <a:solidFill>
                      <a:srgbClr val="F7F7F9"/>
                    </a:solidFill>
                  </a:tcPr>
                </a:tc>
              </a:tr>
              <a:tr h="402336">
                <a:tc>
                  <a:txBody>
                    <a:bodyPr/>
                    <a:lstStyle/>
                    <a:p>
                      <a:pPr>
                        <a:lnSpc>
                          <a:spcPct val="105000"/>
                        </a:lnSpc>
                        <a:spcBef>
                          <a:spcPts val="0"/>
                        </a:spcBef>
                        <a:spcAft>
                          <a:spcPts val="0"/>
                        </a:spcAft>
                      </a:pPr>
                      <a:r>
                        <a:rPr sz="1050" b="1">
                          <a:solidFill>
                            <a:srgbClr val="14243E"/>
                          </a:solidFill>
                          <a:latin typeface="Segoe UI"/>
                        </a:rPr>
                        <a:t>An agent-facing surface</a:t>
                      </a:r>
                    </a:p>
                  </a:txBody>
                  <a:tcPr marL="82296" marR="82296" marT="41148" marB="41148" anchor="ctr">
                    <a:solidFill>
                      <a:srgbClr val="FFFFFF"/>
                    </a:solidFill>
                  </a:tcPr>
                </a:tc>
                <a:tc>
                  <a:txBody>
                    <a:bodyPr/>
                    <a:lstStyle/>
                    <a:p>
                      <a:pPr>
                        <a:lnSpc>
                          <a:spcPct val="105000"/>
                        </a:lnSpc>
                        <a:spcBef>
                          <a:spcPts val="0"/>
                        </a:spcBef>
                        <a:spcAft>
                          <a:spcPts val="0"/>
                        </a:spcAft>
                      </a:pPr>
                      <a:r>
                        <a:rPr sz="1050">
                          <a:solidFill>
                            <a:srgbClr val="1B1A19"/>
                          </a:solidFill>
                          <a:latin typeface="Segoe UI"/>
                        </a:rPr>
                        <a:t>12 vscode.lm tools plus a bundled skill, every answer carrying a deeplink back into the panel</a:t>
                      </a:r>
                    </a:p>
                  </a:txBody>
                  <a:tcPr marL="82296" marR="82296" marT="41148" marB="41148" anchor="ctr">
                    <a:solidFill>
                      <a:srgbClr val="FFFFFF"/>
                    </a:solidFill>
                  </a:tcPr>
                </a:tc>
                <a:tc>
                  <a:txBody>
                    <a:bodyPr/>
                    <a:lstStyle/>
                    <a:p>
                      <a:pPr>
                        <a:lnSpc>
                          <a:spcPct val="105000"/>
                        </a:lnSpc>
                        <a:spcBef>
                          <a:spcPts val="0"/>
                        </a:spcBef>
                        <a:spcAft>
                          <a:spcPts val="0"/>
                        </a:spcAft>
                      </a:pPr>
                      <a:r>
                        <a:rPr sz="950">
                          <a:solidFill>
                            <a:srgbClr val="0078D4"/>
                          </a:solidFill>
                          <a:latin typeface="Consolas"/>
                        </a:rPr>
                        <a:t>packages/extension</a:t>
                      </a:r>
                    </a:p>
                  </a:txBody>
                  <a:tcPr marL="82296" marR="82296" marT="41148" marB="41148" anchor="ctr">
                    <a:solidFill>
                      <a:srgbClr val="FFFFFF"/>
                    </a:solidFill>
                  </a:tcPr>
                </a:tc>
              </a:tr>
              <a:tr h="402336">
                <a:tc>
                  <a:txBody>
                    <a:bodyPr/>
                    <a:lstStyle/>
                    <a:p>
                      <a:pPr>
                        <a:lnSpc>
                          <a:spcPct val="105000"/>
                        </a:lnSpc>
                        <a:spcBef>
                          <a:spcPts val="0"/>
                        </a:spcBef>
                        <a:spcAft>
                          <a:spcPts val="0"/>
                        </a:spcAft>
                      </a:pPr>
                      <a:r>
                        <a:rPr sz="1050" b="1">
                          <a:solidFill>
                            <a:srgbClr val="14243E"/>
                          </a:solidFill>
                          <a:latin typeface="Segoe UI"/>
                        </a:rPr>
                        <a:t>A live cost signal</a:t>
                      </a:r>
                    </a:p>
                  </a:txBody>
                  <a:tcPr marL="82296" marR="82296" marT="41148" marB="41148" anchor="ctr">
                    <a:solidFill>
                      <a:srgbClr val="F7F7F9"/>
                    </a:solidFill>
                  </a:tcPr>
                </a:tc>
                <a:tc>
                  <a:txBody>
                    <a:bodyPr/>
                    <a:lstStyle/>
                    <a:p>
                      <a:pPr>
                        <a:lnSpc>
                          <a:spcPct val="105000"/>
                        </a:lnSpc>
                        <a:spcBef>
                          <a:spcPts val="0"/>
                        </a:spcBef>
                        <a:spcAft>
                          <a:spcPts val="0"/>
                        </a:spcAft>
                      </a:pPr>
                      <a:r>
                        <a:rPr sz="1050">
                          <a:solidFill>
                            <a:srgbClr val="1B1A19"/>
                          </a:solidFill>
                          <a:latin typeface="Segoe UI"/>
                        </a:rPr>
                        <a:t>Status bar showing today’s tokens and cache hit rate, refreshed as runs land</a:t>
                      </a:r>
                    </a:p>
                  </a:txBody>
                  <a:tcPr marL="82296" marR="82296" marT="41148" marB="41148" anchor="ctr">
                    <a:solidFill>
                      <a:srgbClr val="F7F7F9"/>
                    </a:solidFill>
                  </a:tcPr>
                </a:tc>
                <a:tc>
                  <a:txBody>
                    <a:bodyPr/>
                    <a:lstStyle/>
                    <a:p>
                      <a:pPr>
                        <a:lnSpc>
                          <a:spcPct val="105000"/>
                        </a:lnSpc>
                        <a:spcBef>
                          <a:spcPts val="0"/>
                        </a:spcBef>
                        <a:spcAft>
                          <a:spcPts val="0"/>
                        </a:spcAft>
                      </a:pPr>
                      <a:r>
                        <a:rPr sz="950">
                          <a:solidFill>
                            <a:srgbClr val="0078D4"/>
                          </a:solidFill>
                          <a:latin typeface="Consolas"/>
                        </a:rPr>
                        <a:t>Status bar</a:t>
                      </a:r>
                    </a:p>
                  </a:txBody>
                  <a:tcPr marL="82296" marR="82296" marT="41148" marB="41148" anchor="ctr">
                    <a:solidFill>
                      <a:srgbClr val="F7F7F9"/>
                    </a:solidFill>
                  </a:tcPr>
                </a:tc>
              </a:tr>
              <a:tr h="402336">
                <a:tc>
                  <a:txBody>
                    <a:bodyPr/>
                    <a:lstStyle/>
                    <a:p>
                      <a:pPr>
                        <a:lnSpc>
                          <a:spcPct val="105000"/>
                        </a:lnSpc>
                        <a:spcBef>
                          <a:spcPts val="0"/>
                        </a:spcBef>
                        <a:spcAft>
                          <a:spcPts val="0"/>
                        </a:spcAft>
                      </a:pPr>
                      <a:r>
                        <a:rPr sz="1050" b="1">
                          <a:solidFill>
                            <a:srgbClr val="14243E"/>
                          </a:solidFill>
                          <a:latin typeface="Segoe UI"/>
                        </a:rPr>
                        <a:t>Installable build</a:t>
                      </a:r>
                    </a:p>
                  </a:txBody>
                  <a:tcPr marL="82296" marR="82296" marT="41148" marB="41148" anchor="ctr">
                    <a:solidFill>
                      <a:srgbClr val="FFFFFF"/>
                    </a:solidFill>
                  </a:tcPr>
                </a:tc>
                <a:tc>
                  <a:txBody>
                    <a:bodyPr/>
                    <a:lstStyle/>
                    <a:p>
                      <a:pPr>
                        <a:lnSpc>
                          <a:spcPct val="105000"/>
                        </a:lnSpc>
                        <a:spcBef>
                          <a:spcPts val="0"/>
                        </a:spcBef>
                        <a:spcAft>
                          <a:spcPts val="0"/>
                        </a:spcAft>
                      </a:pPr>
                      <a:r>
                        <a:rPr sz="1050">
                          <a:solidFill>
                            <a:srgbClr val="1B1A19"/>
                          </a:solidFill>
                          <a:latin typeface="Segoe UI"/>
                        </a:rPr>
                        <a:t>agent-otel-0.2.0.vsix, rebuilt on every push to main</a:t>
                      </a:r>
                    </a:p>
                  </a:txBody>
                  <a:tcPr marL="82296" marR="82296" marT="41148" marB="41148" anchor="ctr">
                    <a:solidFill>
                      <a:srgbClr val="FFFFFF"/>
                    </a:solidFill>
                  </a:tcPr>
                </a:tc>
                <a:tc>
                  <a:txBody>
                    <a:bodyPr/>
                    <a:lstStyle/>
                    <a:p>
                      <a:pPr>
                        <a:lnSpc>
                          <a:spcPct val="105000"/>
                        </a:lnSpc>
                        <a:spcBef>
                          <a:spcPts val="0"/>
                        </a:spcBef>
                        <a:spcAft>
                          <a:spcPts val="0"/>
                        </a:spcAft>
                      </a:pPr>
                      <a:r>
                        <a:rPr sz="950">
                          <a:solidFill>
                            <a:srgbClr val="0078D4"/>
                          </a:solidFill>
                          <a:latin typeface="Consolas"/>
                        </a:rPr>
                        <a:t>CI artifact</a:t>
                      </a:r>
                    </a:p>
                  </a:txBody>
                  <a:tcPr marL="82296" marR="82296" marT="41148" marB="41148" anchor="ctr">
                    <a:solidFill>
                      <a:srgbClr val="FFFFFF"/>
                    </a:solidFill>
                  </a:tcPr>
                </a:tc>
              </a:tr>
              <a:tr h="402336">
                <a:tc>
                  <a:txBody>
                    <a:bodyPr/>
                    <a:lstStyle/>
                    <a:p>
                      <a:pPr>
                        <a:lnSpc>
                          <a:spcPct val="105000"/>
                        </a:lnSpc>
                        <a:spcBef>
                          <a:spcPts val="0"/>
                        </a:spcBef>
                        <a:spcAft>
                          <a:spcPts val="0"/>
                        </a:spcAft>
                      </a:pPr>
                      <a:r>
                        <a:rPr sz="1050" b="1">
                          <a:solidFill>
                            <a:srgbClr val="14243E"/>
                          </a:solidFill>
                          <a:latin typeface="Segoe UI"/>
                        </a:rPr>
                        <a:t>Tested against all three harnesses</a:t>
                      </a:r>
                    </a:p>
                  </a:txBody>
                  <a:tcPr marL="82296" marR="82296" marT="41148" marB="41148" anchor="ctr">
                    <a:solidFill>
                      <a:srgbClr val="F7F7F9"/>
                    </a:solidFill>
                  </a:tcPr>
                </a:tc>
                <a:tc>
                  <a:txBody>
                    <a:bodyPr/>
                    <a:lstStyle/>
                    <a:p>
                      <a:pPr>
                        <a:lnSpc>
                          <a:spcPct val="105000"/>
                        </a:lnSpc>
                        <a:spcBef>
                          <a:spcPts val="0"/>
                        </a:spcBef>
                        <a:spcAft>
                          <a:spcPts val="0"/>
                        </a:spcAft>
                      </a:pPr>
                      <a:r>
                        <a:rPr sz="1050">
                          <a:solidFill>
                            <a:srgbClr val="1B1A19"/>
                          </a:solidFill>
                          <a:latin typeface="Segoe UI"/>
                        </a:rPr>
                        <a:t>522 assertions across 15 suites, with fixtures captured per harness</a:t>
                      </a:r>
                    </a:p>
                  </a:txBody>
                  <a:tcPr marL="82296" marR="82296" marT="41148" marB="41148" anchor="ctr">
                    <a:solidFill>
                      <a:srgbClr val="F7F7F9"/>
                    </a:solidFill>
                  </a:tcPr>
                </a:tc>
                <a:tc>
                  <a:txBody>
                    <a:bodyPr/>
                    <a:lstStyle/>
                    <a:p>
                      <a:pPr>
                        <a:lnSpc>
                          <a:spcPct val="105000"/>
                        </a:lnSpc>
                        <a:spcBef>
                          <a:spcPts val="0"/>
                        </a:spcBef>
                        <a:spcAft>
                          <a:spcPts val="0"/>
                        </a:spcAft>
                      </a:pPr>
                      <a:r>
                        <a:rPr sz="950">
                          <a:solidFill>
                            <a:srgbClr val="0078D4"/>
                          </a:solidFill>
                          <a:latin typeface="Consolas"/>
                        </a:rPr>
                        <a:t>test/</a:t>
                      </a:r>
                    </a:p>
                  </a:txBody>
                  <a:tcPr marL="82296" marR="82296" marT="41148" marB="41148" anchor="ctr">
                    <a:solidFill>
                      <a:srgbClr val="F7F7F9"/>
                    </a:solidFill>
                  </a:tcPr>
                </a:tc>
              </a:tr>
            </a:tbl>
          </a:graphicData>
        </a:graphic>
      </p:graphicFrame>
      <p:sp>
        <p:nvSpPr>
          <p:cNvPr id="11" name="TextBox 10"/>
          <p:cNvSpPr txBox="1"/>
          <p:nvPr/>
        </p:nvSpPr>
        <p:spPr>
          <a:xfrm>
            <a:off x="658368" y="6382512"/>
            <a:ext cx="8686800" cy="237744"/>
          </a:xfrm>
          <a:prstGeom prst="rect">
            <a:avLst/>
          </a:prstGeom>
          <a:noFill/>
        </p:spPr>
        <p:txBody>
          <a:bodyPr wrap="square" lIns="0" rIns="0" tIns="0" bIns="0" anchor="t">
            <a:spAutoFit/>
          </a:bodyPr>
          <a:lstStyle/>
          <a:p>
            <a:pPr algn="l">
              <a:spcBef>
                <a:spcPts val="0"/>
              </a:spcBef>
              <a:spcAft>
                <a:spcPts val="0"/>
              </a:spcAft>
            </a:pPr>
            <a:r>
              <a:rPr sz="900" b="0" i="0">
                <a:solidFill>
                  <a:srgbClr val="8A8886"/>
                </a:solidFill>
                <a:latin typeface="Segoe UI"/>
              </a:rPr>
              <a:t>Microsoft  ·  Agent Insights  ·  appendix</a:t>
            </a:r>
          </a:p>
        </p:txBody>
      </p:sp>
      <p:sp>
        <p:nvSpPr>
          <p:cNvPr id="12" name="TextBox 11"/>
          <p:cNvSpPr txBox="1"/>
          <p:nvPr/>
        </p:nvSpPr>
        <p:spPr>
          <a:xfrm>
            <a:off x="10835640" y="6382512"/>
            <a:ext cx="694944" cy="237744"/>
          </a:xfrm>
          <a:prstGeom prst="rect">
            <a:avLst/>
          </a:prstGeom>
          <a:noFill/>
        </p:spPr>
        <p:txBody>
          <a:bodyPr wrap="square" lIns="0" rIns="0" tIns="0" bIns="0" anchor="t">
            <a:spAutoFit/>
          </a:bodyPr>
          <a:lstStyle/>
          <a:p>
            <a:pPr algn="r">
              <a:spcBef>
                <a:spcPts val="0"/>
              </a:spcBef>
              <a:spcAft>
                <a:spcPts val="0"/>
              </a:spcAft>
            </a:pPr>
            <a:r>
              <a:rPr sz="900" b="0" i="0">
                <a:solidFill>
                  <a:srgbClr val="8A8886"/>
                </a:solidFill>
                <a:latin typeface="Segoe U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47925" cy="685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47923" y="0"/>
            <a:ext cx="3047925" cy="68580"/>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6095847" y="0"/>
            <a:ext cx="3047925" cy="6858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143771" y="0"/>
            <a:ext cx="3047925" cy="68580"/>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384048"/>
            <a:ext cx="10872216" cy="237744"/>
          </a:xfrm>
          <a:prstGeom prst="rect">
            <a:avLst/>
          </a:prstGeom>
          <a:noFill/>
        </p:spPr>
        <p:txBody>
          <a:bodyPr wrap="square" lIns="0" rIns="0" tIns="0" bIns="0" anchor="t">
            <a:spAutoFit/>
          </a:bodyPr>
          <a:lstStyle/>
          <a:p>
            <a:pPr algn="l">
              <a:spcBef>
                <a:spcPts val="0"/>
              </a:spcBef>
              <a:spcAft>
                <a:spcPts val="0"/>
              </a:spcAft>
            </a:pPr>
            <a:r>
              <a:rPr sz="1050" b="1" i="0">
                <a:solidFill>
                  <a:srgbClr val="0078D4"/>
                </a:solidFill>
                <a:latin typeface="Segoe UI Semibold"/>
              </a:rPr>
              <a:t>APPENDIX · PRIVACY</a:t>
            </a:r>
          </a:p>
        </p:txBody>
      </p:sp>
      <p:sp>
        <p:nvSpPr>
          <p:cNvPr id="7" name="TextBox 6"/>
          <p:cNvSpPr txBox="1"/>
          <p:nvPr/>
        </p:nvSpPr>
        <p:spPr>
          <a:xfrm>
            <a:off x="658368" y="658368"/>
            <a:ext cx="10872216" cy="502920"/>
          </a:xfrm>
          <a:prstGeom prst="rect">
            <a:avLst/>
          </a:prstGeom>
          <a:noFill/>
        </p:spPr>
        <p:txBody>
          <a:bodyPr wrap="square" lIns="0" rIns="0" tIns="0" bIns="0" anchor="t">
            <a:spAutoFit/>
          </a:bodyPr>
          <a:lstStyle/>
          <a:p>
            <a:pPr algn="l">
              <a:spcBef>
                <a:spcPts val="0"/>
              </a:spcBef>
              <a:spcAft>
                <a:spcPts val="0"/>
              </a:spcAft>
            </a:pPr>
            <a:r>
              <a:rPr sz="2900" b="0" i="0">
                <a:solidFill>
                  <a:srgbClr val="14243E"/>
                </a:solidFill>
                <a:latin typeface="Segoe UI Light"/>
              </a:rPr>
              <a:t>Where the data goes</a:t>
            </a:r>
          </a:p>
        </p:txBody>
      </p:sp>
      <p:sp>
        <p:nvSpPr>
          <p:cNvPr id="8" name="TextBox 7"/>
          <p:cNvSpPr txBox="1"/>
          <p:nvPr/>
        </p:nvSpPr>
        <p:spPr>
          <a:xfrm>
            <a:off x="658368" y="1207008"/>
            <a:ext cx="10872216" cy="329184"/>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605E5C"/>
                </a:solidFill>
                <a:latin typeface="Segoe UI"/>
              </a:rPr>
              <a:t>Every arrow is on your machine except the last one — and that one only moves when you ask it to.</a:t>
            </a:r>
          </a:p>
        </p:txBody>
      </p:sp>
      <p:sp>
        <p:nvSpPr>
          <p:cNvPr id="9" name="Rectangle 8"/>
          <p:cNvSpPr/>
          <p:nvPr/>
        </p:nvSpPr>
        <p:spPr>
          <a:xfrm>
            <a:off x="658368" y="1591056"/>
            <a:ext cx="960120" cy="320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2724912" y="1993392"/>
            <a:ext cx="6748272" cy="2487168"/>
          </a:xfrm>
          <a:prstGeom prst="rect">
            <a:avLst/>
          </a:prstGeom>
          <a:solidFill>
            <a:srgbClr val="F7F7F9"/>
          </a:solidFill>
          <a:ln w="12700">
            <a:solidFill>
              <a:srgbClr val="A8B8D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2871216" y="2066544"/>
            <a:ext cx="4572000" cy="256032"/>
          </a:xfrm>
          <a:prstGeom prst="rect">
            <a:avLst/>
          </a:prstGeom>
          <a:noFill/>
        </p:spPr>
        <p:txBody>
          <a:bodyPr wrap="square" lIns="0" rIns="0" tIns="0" bIns="0" anchor="t">
            <a:spAutoFit/>
          </a:bodyPr>
          <a:lstStyle/>
          <a:p>
            <a:pPr algn="l">
              <a:spcBef>
                <a:spcPts val="0"/>
              </a:spcBef>
              <a:spcAft>
                <a:spcPts val="0"/>
              </a:spcAft>
            </a:pPr>
            <a:r>
              <a:rPr sz="900" b="1" i="0">
                <a:solidFill>
                  <a:srgbClr val="0078D4"/>
                </a:solidFill>
                <a:latin typeface="Segoe UI Semibold"/>
              </a:rPr>
              <a:t>YOUR MACHINE  ·  the Agent Insights extension</a:t>
            </a:r>
          </a:p>
        </p:txBody>
      </p:sp>
      <p:sp>
        <p:nvSpPr>
          <p:cNvPr id="12" name="Rounded Rectangle 11"/>
          <p:cNvSpPr/>
          <p:nvPr/>
        </p:nvSpPr>
        <p:spPr>
          <a:xfrm>
            <a:off x="658368" y="2487168"/>
            <a:ext cx="1810512" cy="822960"/>
          </a:xfrm>
          <a:prstGeom prst="roundRect">
            <a:avLst>
              <a:gd name="adj" fmla="val 4500"/>
            </a:avLst>
          </a:prstGeom>
          <a:solidFill>
            <a:srgbClr val="FDF6E3"/>
          </a:solidFill>
          <a:ln w="12700">
            <a:solidFill>
              <a:srgbClr val="E87C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110000"/>
              </a:lnSpc>
              <a:spcBef>
                <a:spcPts val="0"/>
              </a:spcBef>
              <a:spcAft>
                <a:spcPts val="300"/>
              </a:spcAft>
            </a:pPr>
            <a:r>
              <a:rPr sz="1100" b="1" i="0">
                <a:solidFill>
                  <a:srgbClr val="14243E"/>
                </a:solidFill>
                <a:latin typeface="Segoe UI"/>
              </a:rPr>
              <a:t>AI agents</a:t>
            </a:r>
          </a:p>
          <a:p>
            <a:pPr algn="ctr">
              <a:lnSpc>
                <a:spcPct val="112000"/>
              </a:lnSpc>
              <a:spcBef>
                <a:spcPts val="0"/>
              </a:spcBef>
              <a:spcAft>
                <a:spcPts val="0"/>
              </a:spcAft>
            </a:pPr>
            <a:r>
              <a:rPr sz="850" b="0" i="0">
                <a:solidFill>
                  <a:srgbClr val="605E5C"/>
                </a:solidFill>
                <a:latin typeface="Segoe UI"/>
              </a:rPr>
              <a:t>Copilot · Claude Code · Codex</a:t>
            </a:r>
          </a:p>
        </p:txBody>
      </p:sp>
      <p:sp>
        <p:nvSpPr>
          <p:cNvPr id="13" name="Rounded Rectangle 12"/>
          <p:cNvSpPr/>
          <p:nvPr/>
        </p:nvSpPr>
        <p:spPr>
          <a:xfrm>
            <a:off x="2926080" y="2487168"/>
            <a:ext cx="1810512" cy="822960"/>
          </a:xfrm>
          <a:prstGeom prst="roundRect">
            <a:avLst>
              <a:gd name="adj" fmla="val 4500"/>
            </a:avLst>
          </a:prstGeom>
          <a:solidFill>
            <a:srgbClr val="ECF6EC"/>
          </a:solidFill>
          <a:ln w="12700">
            <a:solidFill>
              <a:srgbClr val="0E700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110000"/>
              </a:lnSpc>
              <a:spcBef>
                <a:spcPts val="0"/>
              </a:spcBef>
              <a:spcAft>
                <a:spcPts val="300"/>
              </a:spcAft>
            </a:pPr>
            <a:r>
              <a:rPr sz="1100" b="1" i="0">
                <a:solidFill>
                  <a:srgbClr val="14243E"/>
                </a:solidFill>
                <a:latin typeface="Segoe UI"/>
              </a:rPr>
              <a:t>Local OTLP receiver</a:t>
            </a:r>
          </a:p>
          <a:p>
            <a:pPr algn="ctr">
              <a:lnSpc>
                <a:spcPct val="112000"/>
              </a:lnSpc>
              <a:spcBef>
                <a:spcPts val="0"/>
              </a:spcBef>
              <a:spcAft>
                <a:spcPts val="0"/>
              </a:spcAft>
            </a:pPr>
            <a:r>
              <a:rPr sz="850" b="0" i="0">
                <a:solidFill>
                  <a:srgbClr val="605E5C"/>
                </a:solidFill>
                <a:latin typeface="Segoe UI"/>
              </a:rPr>
              <a:t>loopback HTTP only</a:t>
            </a:r>
          </a:p>
        </p:txBody>
      </p:sp>
      <p:sp>
        <p:nvSpPr>
          <p:cNvPr id="14" name="Rounded Rectangle 13"/>
          <p:cNvSpPr/>
          <p:nvPr/>
        </p:nvSpPr>
        <p:spPr>
          <a:xfrm>
            <a:off x="5193792" y="2487168"/>
            <a:ext cx="1810512" cy="822960"/>
          </a:xfrm>
          <a:prstGeom prst="roundRect">
            <a:avLst>
              <a:gd name="adj" fmla="val 4500"/>
            </a:avLst>
          </a:prstGeom>
          <a:solidFill>
            <a:srgbClr val="EAF3FB"/>
          </a:solidFill>
          <a:ln w="127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110000"/>
              </a:lnSpc>
              <a:spcBef>
                <a:spcPts val="0"/>
              </a:spcBef>
              <a:spcAft>
                <a:spcPts val="300"/>
              </a:spcAft>
            </a:pPr>
            <a:r>
              <a:rPr sz="1100" b="1" i="0">
                <a:solidFill>
                  <a:srgbClr val="14243E"/>
                </a:solidFill>
                <a:latin typeface="Segoe UI"/>
              </a:rPr>
              <a:t>SQLite on disk</a:t>
            </a:r>
          </a:p>
          <a:p>
            <a:pPr algn="ctr">
              <a:lnSpc>
                <a:spcPct val="112000"/>
              </a:lnSpc>
              <a:spcBef>
                <a:spcPts val="0"/>
              </a:spcBef>
              <a:spcAft>
                <a:spcPts val="0"/>
              </a:spcAft>
            </a:pPr>
            <a:r>
              <a:rPr sz="850" b="0" i="0">
                <a:solidFill>
                  <a:srgbClr val="605E5C"/>
                </a:solidFill>
                <a:latin typeface="Segoe UI"/>
              </a:rPr>
              <a:t>extension storage</a:t>
            </a:r>
          </a:p>
        </p:txBody>
      </p:sp>
      <p:sp>
        <p:nvSpPr>
          <p:cNvPr id="15" name="Rounded Rectangle 14"/>
          <p:cNvSpPr/>
          <p:nvPr/>
        </p:nvSpPr>
        <p:spPr>
          <a:xfrm>
            <a:off x="7461504" y="2487168"/>
            <a:ext cx="1810512" cy="822960"/>
          </a:xfrm>
          <a:prstGeom prst="roundRect">
            <a:avLst>
              <a:gd name="adj" fmla="val 4500"/>
            </a:avLst>
          </a:prstGeom>
          <a:solidFill>
            <a:srgbClr val="ECF6EC"/>
          </a:solidFill>
          <a:ln w="12700">
            <a:solidFill>
              <a:srgbClr val="0E700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110000"/>
              </a:lnSpc>
              <a:spcBef>
                <a:spcPts val="0"/>
              </a:spcBef>
              <a:spcAft>
                <a:spcPts val="300"/>
              </a:spcAft>
            </a:pPr>
            <a:r>
              <a:rPr sz="1100" b="1" i="0">
                <a:solidFill>
                  <a:srgbClr val="14243E"/>
                </a:solidFill>
                <a:latin typeface="Segoe UI"/>
              </a:rPr>
              <a:t>Panel + 12 LM tools</a:t>
            </a:r>
          </a:p>
          <a:p>
            <a:pPr algn="ctr">
              <a:lnSpc>
                <a:spcPct val="112000"/>
              </a:lnSpc>
              <a:spcBef>
                <a:spcPts val="0"/>
              </a:spcBef>
              <a:spcAft>
                <a:spcPts val="0"/>
              </a:spcAft>
            </a:pPr>
            <a:r>
              <a:rPr sz="850" b="0" i="0">
                <a:solidFill>
                  <a:srgbClr val="605E5C"/>
                </a:solidFill>
                <a:latin typeface="Segoe UI"/>
              </a:rPr>
              <a:t>renderer and agent surface</a:t>
            </a:r>
          </a:p>
        </p:txBody>
      </p:sp>
      <p:sp>
        <p:nvSpPr>
          <p:cNvPr id="16" name="Rounded Rectangle 15"/>
          <p:cNvSpPr/>
          <p:nvPr/>
        </p:nvSpPr>
        <p:spPr>
          <a:xfrm>
            <a:off x="9729216" y="2487168"/>
            <a:ext cx="1810512" cy="822960"/>
          </a:xfrm>
          <a:prstGeom prst="roundRect">
            <a:avLst>
              <a:gd name="adj" fmla="val 4500"/>
            </a:avLst>
          </a:prstGeom>
          <a:solidFill>
            <a:srgbClr val="FDF6E3"/>
          </a:solidFill>
          <a:ln w="12700">
            <a:solidFill>
              <a:srgbClr val="E87C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110000"/>
              </a:lnSpc>
              <a:spcBef>
                <a:spcPts val="0"/>
              </a:spcBef>
              <a:spcAft>
                <a:spcPts val="300"/>
              </a:spcAft>
            </a:pPr>
            <a:r>
              <a:rPr sz="1100" b="1" i="0">
                <a:solidFill>
                  <a:srgbClr val="14243E"/>
                </a:solidFill>
                <a:latin typeface="Segoe UI"/>
              </a:rPr>
              <a:t>Model provider</a:t>
            </a:r>
          </a:p>
          <a:p>
            <a:pPr algn="ctr">
              <a:lnSpc>
                <a:spcPct val="112000"/>
              </a:lnSpc>
              <a:spcBef>
                <a:spcPts val="0"/>
              </a:spcBef>
              <a:spcAft>
                <a:spcPts val="0"/>
              </a:spcAft>
            </a:pPr>
            <a:r>
              <a:rPr sz="850" b="0" i="0">
                <a:solidFill>
                  <a:srgbClr val="605E5C"/>
                </a:solidFill>
                <a:latin typeface="Segoe UI"/>
              </a:rPr>
              <a:t>via Copilot Chat</a:t>
            </a:r>
          </a:p>
        </p:txBody>
      </p:sp>
      <p:sp>
        <p:nvSpPr>
          <p:cNvPr id="17" name="Right Arrow 16"/>
          <p:cNvSpPr/>
          <p:nvPr/>
        </p:nvSpPr>
        <p:spPr>
          <a:xfrm>
            <a:off x="2514600" y="2834640"/>
            <a:ext cx="365760" cy="137160"/>
          </a:xfrm>
          <a:prstGeom prst="rightArrow">
            <a:avLst/>
          </a:prstGeom>
          <a:solidFill>
            <a:srgbClr val="C8C6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130552" y="3346704"/>
            <a:ext cx="1133856" cy="274320"/>
          </a:xfrm>
          <a:prstGeom prst="rect">
            <a:avLst/>
          </a:prstGeom>
          <a:noFill/>
        </p:spPr>
        <p:txBody>
          <a:bodyPr wrap="square" lIns="0" rIns="0" tIns="0" bIns="0" anchor="t">
            <a:spAutoFit/>
          </a:bodyPr>
          <a:lstStyle/>
          <a:p>
            <a:pPr algn="ctr">
              <a:spcBef>
                <a:spcPts val="0"/>
              </a:spcBef>
              <a:spcAft>
                <a:spcPts val="0"/>
              </a:spcAft>
            </a:pPr>
            <a:r>
              <a:rPr sz="850" b="0" i="0">
                <a:solidFill>
                  <a:srgbClr val="605E5C"/>
                </a:solidFill>
                <a:latin typeface="Segoe UI"/>
              </a:rPr>
              <a:t>1. telemetry</a:t>
            </a:r>
          </a:p>
        </p:txBody>
      </p:sp>
      <p:sp>
        <p:nvSpPr>
          <p:cNvPr id="19" name="Right Arrow 18"/>
          <p:cNvSpPr/>
          <p:nvPr/>
        </p:nvSpPr>
        <p:spPr>
          <a:xfrm>
            <a:off x="4782312" y="2834640"/>
            <a:ext cx="365760" cy="137160"/>
          </a:xfrm>
          <a:prstGeom prst="rightArrow">
            <a:avLst/>
          </a:prstGeom>
          <a:solidFill>
            <a:srgbClr val="C8C6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398264" y="3346704"/>
            <a:ext cx="1133856" cy="274320"/>
          </a:xfrm>
          <a:prstGeom prst="rect">
            <a:avLst/>
          </a:prstGeom>
          <a:noFill/>
        </p:spPr>
        <p:txBody>
          <a:bodyPr wrap="square" lIns="0" rIns="0" tIns="0" bIns="0" anchor="t">
            <a:spAutoFit/>
          </a:bodyPr>
          <a:lstStyle/>
          <a:p>
            <a:pPr algn="ctr">
              <a:spcBef>
                <a:spcPts val="0"/>
              </a:spcBef>
              <a:spcAft>
                <a:spcPts val="0"/>
              </a:spcAft>
            </a:pPr>
            <a:r>
              <a:rPr sz="850" b="0" i="0">
                <a:solidFill>
                  <a:srgbClr val="605E5C"/>
                </a:solidFill>
                <a:latin typeface="Segoe UI"/>
              </a:rPr>
              <a:t>2. store</a:t>
            </a:r>
          </a:p>
        </p:txBody>
      </p:sp>
      <p:sp>
        <p:nvSpPr>
          <p:cNvPr id="21" name="Right Arrow 20"/>
          <p:cNvSpPr/>
          <p:nvPr/>
        </p:nvSpPr>
        <p:spPr>
          <a:xfrm>
            <a:off x="7050024" y="2834640"/>
            <a:ext cx="365760" cy="137160"/>
          </a:xfrm>
          <a:prstGeom prst="rightArrow">
            <a:avLst/>
          </a:prstGeom>
          <a:solidFill>
            <a:srgbClr val="C8C6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665976" y="3346704"/>
            <a:ext cx="1133856" cy="274320"/>
          </a:xfrm>
          <a:prstGeom prst="rect">
            <a:avLst/>
          </a:prstGeom>
          <a:noFill/>
        </p:spPr>
        <p:txBody>
          <a:bodyPr wrap="square" lIns="0" rIns="0" tIns="0" bIns="0" anchor="t">
            <a:spAutoFit/>
          </a:bodyPr>
          <a:lstStyle/>
          <a:p>
            <a:pPr algn="ctr">
              <a:spcBef>
                <a:spcPts val="0"/>
              </a:spcBef>
              <a:spcAft>
                <a:spcPts val="0"/>
              </a:spcAft>
            </a:pPr>
            <a:r>
              <a:rPr sz="850" b="0" i="0">
                <a:solidFill>
                  <a:srgbClr val="605E5C"/>
                </a:solidFill>
                <a:latin typeface="Segoe UI"/>
              </a:rPr>
              <a:t>3. read</a:t>
            </a:r>
          </a:p>
        </p:txBody>
      </p:sp>
      <p:sp>
        <p:nvSpPr>
          <p:cNvPr id="23" name="Right Arrow 22"/>
          <p:cNvSpPr/>
          <p:nvPr/>
        </p:nvSpPr>
        <p:spPr>
          <a:xfrm>
            <a:off x="9317736" y="2834640"/>
            <a:ext cx="365760" cy="137160"/>
          </a:xfrm>
          <a:prstGeom prst="rightArrow">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933688" y="3346704"/>
            <a:ext cx="1133856" cy="274320"/>
          </a:xfrm>
          <a:prstGeom prst="rect">
            <a:avLst/>
          </a:prstGeom>
          <a:noFill/>
        </p:spPr>
        <p:txBody>
          <a:bodyPr wrap="square" lIns="0" rIns="0" tIns="0" bIns="0" anchor="t">
            <a:spAutoFit/>
          </a:bodyPr>
          <a:lstStyle/>
          <a:p>
            <a:pPr algn="ctr">
              <a:spcBef>
                <a:spcPts val="0"/>
              </a:spcBef>
              <a:spcAft>
                <a:spcPts val="0"/>
              </a:spcAft>
            </a:pPr>
            <a:r>
              <a:rPr sz="850" b="1" i="0">
                <a:solidFill>
                  <a:srgbClr val="E3008C"/>
                </a:solidFill>
                <a:latin typeface="Segoe UI"/>
              </a:rPr>
              <a:t>5. on request only</a:t>
            </a:r>
          </a:p>
        </p:txBody>
      </p:sp>
      <p:sp>
        <p:nvSpPr>
          <p:cNvPr id="25" name="Rounded Rectangle 24"/>
          <p:cNvSpPr/>
          <p:nvPr/>
        </p:nvSpPr>
        <p:spPr>
          <a:xfrm>
            <a:off x="4919472" y="3785616"/>
            <a:ext cx="2377440" cy="566928"/>
          </a:xfrm>
          <a:prstGeom prst="roundRect">
            <a:avLst>
              <a:gd name="adj" fmla="val 4500"/>
            </a:avLst>
          </a:prstGeom>
          <a:solidFill>
            <a:srgbClr val="FDF6E3"/>
          </a:solidFill>
          <a:ln w="12700">
            <a:solidFill>
              <a:srgbClr val="E87C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150" b="1" i="0">
                <a:solidFill>
                  <a:srgbClr val="14243E"/>
                </a:solidFill>
                <a:latin typeface="Segoe UI"/>
              </a:rPr>
              <a:t>You</a:t>
            </a:r>
          </a:p>
        </p:txBody>
      </p:sp>
      <p:sp>
        <p:nvSpPr>
          <p:cNvPr id="26" name="TextBox 25"/>
          <p:cNvSpPr txBox="1"/>
          <p:nvPr/>
        </p:nvSpPr>
        <p:spPr>
          <a:xfrm>
            <a:off x="7406640" y="3858768"/>
            <a:ext cx="3108960" cy="457200"/>
          </a:xfrm>
          <a:prstGeom prst="rect">
            <a:avLst/>
          </a:prstGeom>
          <a:noFill/>
        </p:spPr>
        <p:txBody>
          <a:bodyPr wrap="square" lIns="0" rIns="0" tIns="0" bIns="0" anchor="t">
            <a:spAutoFit/>
          </a:bodyPr>
          <a:lstStyle/>
          <a:p>
            <a:pPr algn="l">
              <a:lnSpc>
                <a:spcPct val="118000"/>
              </a:lnSpc>
              <a:spcBef>
                <a:spcPts val="0"/>
              </a:spcBef>
              <a:spcAft>
                <a:spcPts val="0"/>
              </a:spcAft>
            </a:pPr>
            <a:r>
              <a:rPr sz="900" b="0" i="0">
                <a:solidFill>
                  <a:srgbClr val="605E5C"/>
                </a:solidFill>
                <a:latin typeface="Segoe UI"/>
              </a:rPr>
              <a:t>4. browse · clear · opt in to
content capture</a:t>
            </a:r>
          </a:p>
        </p:txBody>
      </p:sp>
      <p:sp>
        <p:nvSpPr>
          <p:cNvPr id="27" name="Rounded Rectangle 26"/>
          <p:cNvSpPr/>
          <p:nvPr/>
        </p:nvSpPr>
        <p:spPr>
          <a:xfrm>
            <a:off x="658368" y="5138928"/>
            <a:ext cx="10872216" cy="914400"/>
          </a:xfrm>
          <a:prstGeom prst="roundRect">
            <a:avLst>
              <a:gd name="adj" fmla="val 4500"/>
            </a:avLst>
          </a:prstGeom>
          <a:solidFill>
            <a:srgbClr val="14243E"/>
          </a:solidFill>
          <a:ln w="12700">
            <a:solidFill>
              <a:srgbClr val="14243E"/>
            </a:solidFill>
          </a:ln>
          <a:effectLst/>
        </p:spPr>
        <p:style>
          <a:lnRef idx="1">
            <a:schemeClr val="accent1"/>
          </a:lnRef>
          <a:fillRef idx="3">
            <a:schemeClr val="accent1"/>
          </a:fillRef>
          <a:effectRef idx="2">
            <a:schemeClr val="accent1"/>
          </a:effectRef>
          <a:fontRef idx="minor">
            <a:schemeClr val="lt1"/>
          </a:fontRef>
        </p:style>
        <p:txBody>
          <a:bodyPr rtlCol="0" anchor="ctr" wrap="square" lIns="329184" rIns="329184"/>
          <a:lstStyle/>
          <a:p>
            <a:pPr algn="l">
              <a:lnSpc>
                <a:spcPct val="124000"/>
              </a:lnSpc>
              <a:spcBef>
                <a:spcPts val="0"/>
              </a:spcBef>
              <a:spcAft>
                <a:spcPts val="0"/>
              </a:spcAft>
            </a:pPr>
            <a:r>
              <a:rPr sz="1200" b="1" i="0">
                <a:solidFill>
                  <a:srgbClr val="FFFFFF"/>
                </a:solidFill>
                <a:latin typeface="Segoe UI"/>
              </a:rPr>
              <a:t>The only arrow that leaves is the one you trigger. </a:t>
            </a:r>
            <a:r>
              <a:rPr sz="1200" b="0" i="0">
                <a:solidFill>
                  <a:srgbClr val="B9C8E0"/>
                </a:solidFill>
                <a:latin typeface="Segoe UI"/>
              </a:rPr>
              <a:t>Asking Copilot Chat a question sends that answer to the model provider — the same trust boundary as any other chat message. No collector, no account, no background upload, and prompt and response content is opt-in.</a:t>
            </a:r>
          </a:p>
        </p:txBody>
      </p:sp>
      <p:sp>
        <p:nvSpPr>
          <p:cNvPr id="28" name="Rectangle 27"/>
          <p:cNvSpPr/>
          <p:nvPr/>
        </p:nvSpPr>
        <p:spPr>
          <a:xfrm>
            <a:off x="658368" y="5138928"/>
            <a:ext cx="68580" cy="914400"/>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58368" y="6382512"/>
            <a:ext cx="8686800" cy="237744"/>
          </a:xfrm>
          <a:prstGeom prst="rect">
            <a:avLst/>
          </a:prstGeom>
          <a:noFill/>
        </p:spPr>
        <p:txBody>
          <a:bodyPr wrap="square" lIns="0" rIns="0" tIns="0" bIns="0" anchor="t">
            <a:spAutoFit/>
          </a:bodyPr>
          <a:lstStyle/>
          <a:p>
            <a:pPr algn="l">
              <a:spcBef>
                <a:spcPts val="0"/>
              </a:spcBef>
              <a:spcAft>
                <a:spcPts val="0"/>
              </a:spcAft>
            </a:pPr>
            <a:r>
              <a:rPr sz="900" b="0" i="0">
                <a:solidFill>
                  <a:srgbClr val="8A8886"/>
                </a:solidFill>
                <a:latin typeface="Segoe UI"/>
              </a:rPr>
              <a:t>Microsoft  ·  Agent Insights  ·  appendix</a:t>
            </a:r>
          </a:p>
        </p:txBody>
      </p:sp>
      <p:sp>
        <p:nvSpPr>
          <p:cNvPr id="30" name="TextBox 29"/>
          <p:cNvSpPr txBox="1"/>
          <p:nvPr/>
        </p:nvSpPr>
        <p:spPr>
          <a:xfrm>
            <a:off x="10835640" y="6382512"/>
            <a:ext cx="694944" cy="237744"/>
          </a:xfrm>
          <a:prstGeom prst="rect">
            <a:avLst/>
          </a:prstGeom>
          <a:noFill/>
        </p:spPr>
        <p:txBody>
          <a:bodyPr wrap="square" lIns="0" rIns="0" tIns="0" bIns="0" anchor="t">
            <a:spAutoFit/>
          </a:bodyPr>
          <a:lstStyle/>
          <a:p>
            <a:pPr algn="r">
              <a:spcBef>
                <a:spcPts val="0"/>
              </a:spcBef>
              <a:spcAft>
                <a:spcPts val="0"/>
              </a:spcAft>
            </a:pPr>
            <a:r>
              <a:rPr sz="900" b="0" i="0">
                <a:solidFill>
                  <a:srgbClr val="8A8886"/>
                </a:solidFill>
                <a:latin typeface="Segoe U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47925" cy="685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47923" y="0"/>
            <a:ext cx="3047925" cy="68580"/>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6095847" y="0"/>
            <a:ext cx="3047925" cy="6858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143771" y="0"/>
            <a:ext cx="3047925" cy="68580"/>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384048"/>
            <a:ext cx="10872216" cy="237744"/>
          </a:xfrm>
          <a:prstGeom prst="rect">
            <a:avLst/>
          </a:prstGeom>
          <a:noFill/>
        </p:spPr>
        <p:txBody>
          <a:bodyPr wrap="square" lIns="0" rIns="0" tIns="0" bIns="0" anchor="t">
            <a:spAutoFit/>
          </a:bodyPr>
          <a:lstStyle/>
          <a:p>
            <a:pPr algn="l">
              <a:spcBef>
                <a:spcPts val="0"/>
              </a:spcBef>
              <a:spcAft>
                <a:spcPts val="0"/>
              </a:spcAft>
            </a:pPr>
            <a:r>
              <a:rPr sz="1050" b="1" i="0">
                <a:solidFill>
                  <a:srgbClr val="0078D4"/>
                </a:solidFill>
                <a:latin typeface="Segoe UI Semibold"/>
              </a:rPr>
              <a:t>APPENDIX · ENGINEERING</a:t>
            </a:r>
          </a:p>
        </p:txBody>
      </p:sp>
      <p:sp>
        <p:nvSpPr>
          <p:cNvPr id="7" name="TextBox 6"/>
          <p:cNvSpPr txBox="1"/>
          <p:nvPr/>
        </p:nvSpPr>
        <p:spPr>
          <a:xfrm>
            <a:off x="658368" y="658368"/>
            <a:ext cx="10872216" cy="502920"/>
          </a:xfrm>
          <a:prstGeom prst="rect">
            <a:avLst/>
          </a:prstGeom>
          <a:noFill/>
        </p:spPr>
        <p:txBody>
          <a:bodyPr wrap="square" lIns="0" rIns="0" tIns="0" bIns="0" anchor="t">
            <a:spAutoFit/>
          </a:bodyPr>
          <a:lstStyle/>
          <a:p>
            <a:pPr algn="l">
              <a:spcBef>
                <a:spcPts val="0"/>
              </a:spcBef>
              <a:spcAft>
                <a:spcPts val="0"/>
              </a:spcAft>
            </a:pPr>
            <a:r>
              <a:rPr sz="2900" b="0" i="0">
                <a:solidFill>
                  <a:srgbClr val="14243E"/>
                </a:solidFill>
                <a:latin typeface="Segoe UI Light"/>
              </a:rPr>
              <a:t>Ingest and storage: the part that makes it usable</a:t>
            </a:r>
          </a:p>
        </p:txBody>
      </p:sp>
      <p:sp>
        <p:nvSpPr>
          <p:cNvPr id="8" name="TextBox 7"/>
          <p:cNvSpPr txBox="1"/>
          <p:nvPr/>
        </p:nvSpPr>
        <p:spPr>
          <a:xfrm>
            <a:off x="658368" y="1207008"/>
            <a:ext cx="10872216" cy="329184"/>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605E5C"/>
                </a:solidFill>
                <a:latin typeface="Segoe UI"/>
              </a:rPr>
              <a:t>Nothing here is novel. All of it is why it survives a real workday.</a:t>
            </a:r>
          </a:p>
        </p:txBody>
      </p:sp>
      <p:sp>
        <p:nvSpPr>
          <p:cNvPr id="9" name="Rectangle 8"/>
          <p:cNvSpPr/>
          <p:nvPr/>
        </p:nvSpPr>
        <p:spPr>
          <a:xfrm>
            <a:off x="658368" y="1591056"/>
            <a:ext cx="960120" cy="320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58368" y="1737360"/>
            <a:ext cx="3502152" cy="3145536"/>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201168"/>
          <a:lstStyle/>
          <a:p>
            <a:pPr algn="l">
              <a:lnSpc>
                <a:spcPct val="115000"/>
              </a:lnSpc>
              <a:spcBef>
                <a:spcPts val="0"/>
              </a:spcBef>
              <a:spcAft>
                <a:spcPts val="400"/>
              </a:spcAft>
            </a:pPr>
            <a:r>
              <a:rPr sz="1350" b="1" i="0">
                <a:solidFill>
                  <a:srgbClr val="14243E"/>
                </a:solidFill>
                <a:latin typeface="Segoe UI"/>
              </a:rPr>
              <a:t>Multi-window collector handover</a:t>
            </a:r>
          </a:p>
          <a:p>
            <a:pPr algn="l">
              <a:lnSpc>
                <a:spcPct val="120000"/>
              </a:lnSpc>
              <a:spcBef>
                <a:spcPts val="0"/>
              </a:spcBef>
              <a:spcAft>
                <a:spcPts val="800"/>
              </a:spcAft>
            </a:pPr>
            <a:r>
              <a:rPr sz="1100" b="1" i="0">
                <a:solidFill>
                  <a:srgbClr val="0078D4"/>
                </a:solidFill>
                <a:latin typeface="Segoe UI"/>
              </a:rPr>
              <a:t>A port can be owned by one window; developers run five.</a:t>
            </a:r>
          </a:p>
          <a:p>
            <a:pPr algn="l">
              <a:lnSpc>
                <a:spcPct val="118000"/>
              </a:lnSpc>
              <a:spcBef>
                <a:spcPts val="0"/>
              </a:spcBef>
              <a:spcAft>
                <a:spcPts val="500"/>
              </a:spcAft>
            </a:pPr>
            <a:r>
              <a:rPr sz="1050" b="1" i="0">
                <a:solidFill>
                  <a:srgbClr val="0078D4"/>
                </a:solidFill>
                <a:latin typeface="Segoe UI"/>
              </a:rPr>
              <a:t>·  </a:t>
            </a:r>
            <a:r>
              <a:rPr sz="1050" b="0" i="0">
                <a:solidFill>
                  <a:srgbClr val="605E5C"/>
                </a:solidFill>
                <a:latin typeface="Segoe UI"/>
              </a:rPr>
              <a:t>Bind → on EADDRINUSE probe the occupant 3×, 100 ms apart</a:t>
            </a:r>
          </a:p>
          <a:p>
            <a:pPr algn="l">
              <a:lnSpc>
                <a:spcPct val="118000"/>
              </a:lnSpc>
              <a:spcBef>
                <a:spcPts val="0"/>
              </a:spcBef>
              <a:spcAft>
                <a:spcPts val="500"/>
              </a:spcAft>
            </a:pPr>
            <a:r>
              <a:rPr sz="1050" b="1" i="0">
                <a:solidFill>
                  <a:srgbClr val="0078D4"/>
                </a:solidFill>
                <a:latin typeface="Segoe UI"/>
              </a:rPr>
              <a:t>·  </a:t>
            </a:r>
            <a:r>
              <a:rPr sz="1050" b="0" i="0">
                <a:solidFill>
                  <a:srgbClr val="605E5C"/>
                </a:solidFill>
                <a:latin typeface="Segoe UI"/>
              </a:rPr>
              <a:t>If it’s a peer, follow it read-only on a 2 s heartbeat</a:t>
            </a:r>
          </a:p>
          <a:p>
            <a:pPr algn="l">
              <a:lnSpc>
                <a:spcPct val="118000"/>
              </a:lnSpc>
              <a:spcBef>
                <a:spcPts val="0"/>
              </a:spcBef>
              <a:spcAft>
                <a:spcPts val="500"/>
              </a:spcAft>
            </a:pPr>
            <a:r>
              <a:rPr sz="1050" b="1" i="0">
                <a:solidFill>
                  <a:srgbClr val="0078D4"/>
                </a:solidFill>
                <a:latin typeface="Segoe UI"/>
              </a:rPr>
              <a:t>·  </a:t>
            </a:r>
            <a:r>
              <a:rPr sz="1050" b="0" i="0">
                <a:solidFill>
                  <a:srgbClr val="605E5C"/>
                </a:solidFill>
                <a:latin typeface="Segoe UI"/>
              </a:rPr>
              <a:t>2 failed beats → ≤750 ms jitter → attempt takeover</a:t>
            </a:r>
          </a:p>
          <a:p>
            <a:pPr algn="l">
              <a:lnSpc>
                <a:spcPct val="118000"/>
              </a:lnSpc>
              <a:spcBef>
                <a:spcPts val="0"/>
              </a:spcBef>
              <a:spcAft>
                <a:spcPts val="500"/>
              </a:spcAft>
            </a:pPr>
            <a:r>
              <a:rPr sz="1050" b="1" i="0">
                <a:solidFill>
                  <a:srgbClr val="0078D4"/>
                </a:solidFill>
                <a:latin typeface="Segoe UI"/>
              </a:rPr>
              <a:t>·  </a:t>
            </a:r>
            <a:r>
              <a:rPr sz="1050" b="0" i="0">
                <a:solidFill>
                  <a:srgbClr val="605E5C"/>
                </a:solidFill>
                <a:latin typeface="Segoe UI"/>
              </a:rPr>
              <a:t>Outgoing owner drains: 503 + retry-after, then waitForIdle()</a:t>
            </a:r>
          </a:p>
          <a:p>
            <a:pPr algn="l">
              <a:lnSpc>
                <a:spcPct val="118000"/>
              </a:lnSpc>
              <a:spcBef>
                <a:spcPts val="0"/>
              </a:spcBef>
              <a:spcAft>
                <a:spcPts val="500"/>
              </a:spcAft>
            </a:pPr>
            <a:r>
              <a:rPr sz="1050" b="1" i="0">
                <a:solidFill>
                  <a:srgbClr val="0078D4"/>
                </a:solidFill>
                <a:latin typeface="Segoe UI"/>
              </a:rPr>
              <a:t>·  </a:t>
            </a:r>
            <a:r>
              <a:rPr sz="1050" b="0" i="0">
                <a:solidFill>
                  <a:srgbClr val="605E5C"/>
                </a:solidFill>
                <a:latin typeface="Segoe UI"/>
              </a:rPr>
              <a:t>Someone else’s collector? Say so — don’t fail silently</a:t>
            </a:r>
          </a:p>
        </p:txBody>
      </p:sp>
      <p:sp>
        <p:nvSpPr>
          <p:cNvPr id="11" name="Rectangle 10"/>
          <p:cNvSpPr/>
          <p:nvPr/>
        </p:nvSpPr>
        <p:spPr>
          <a:xfrm>
            <a:off x="658368" y="1737360"/>
            <a:ext cx="3502152" cy="50292"/>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4343400" y="1737360"/>
            <a:ext cx="3502152" cy="3145536"/>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201168"/>
          <a:lstStyle/>
          <a:p>
            <a:pPr algn="l">
              <a:lnSpc>
                <a:spcPct val="115000"/>
              </a:lnSpc>
              <a:spcBef>
                <a:spcPts val="0"/>
              </a:spcBef>
              <a:spcAft>
                <a:spcPts val="400"/>
              </a:spcAft>
            </a:pPr>
            <a:r>
              <a:rPr sz="1350" b="1" i="0">
                <a:solidFill>
                  <a:srgbClr val="14243E"/>
                </a:solidFill>
                <a:latin typeface="Segoe UI"/>
              </a:rPr>
              <a:t>Raw-first schema, generated</a:t>
            </a:r>
          </a:p>
          <a:p>
            <a:pPr algn="l">
              <a:lnSpc>
                <a:spcPct val="120000"/>
              </a:lnSpc>
              <a:spcBef>
                <a:spcPts val="0"/>
              </a:spcBef>
              <a:spcAft>
                <a:spcPts val="800"/>
              </a:spcAft>
            </a:pPr>
            <a:r>
              <a:rPr sz="1100" b="1" i="0">
                <a:solidFill>
                  <a:srgbClr val="00B7C3"/>
                </a:solidFill>
                <a:latin typeface="Segoe UI"/>
              </a:rPr>
              <a:t>Each row keeps one self-contained OTLP entity as JSON.</a:t>
            </a:r>
          </a:p>
          <a:p>
            <a:pPr algn="l">
              <a:lnSpc>
                <a:spcPct val="118000"/>
              </a:lnSpc>
              <a:spcBef>
                <a:spcPts val="0"/>
              </a:spcBef>
              <a:spcAft>
                <a:spcPts val="500"/>
              </a:spcAft>
            </a:pPr>
            <a:r>
              <a:rPr sz="1050" b="1" i="0">
                <a:solidFill>
                  <a:srgbClr val="00B7C3"/>
                </a:solidFill>
                <a:latin typeface="Segoe UI"/>
              </a:rPr>
              <a:t>·  </a:t>
            </a:r>
            <a:r>
              <a:rPr sz="1050" b="0" i="0">
                <a:solidFill>
                  <a:srgbClr val="605E5C"/>
                </a:solidFill>
                <a:latin typeface="Segoe UI"/>
              </a:rPr>
              <a:t>Every queryable field materialized into a real column</a:t>
            </a:r>
          </a:p>
          <a:p>
            <a:pPr algn="l">
              <a:lnSpc>
                <a:spcPct val="118000"/>
              </a:lnSpc>
              <a:spcBef>
                <a:spcPts val="0"/>
              </a:spcBef>
              <a:spcAft>
                <a:spcPts val="500"/>
              </a:spcAft>
            </a:pPr>
            <a:r>
              <a:rPr sz="1050" b="1" i="0">
                <a:solidFill>
                  <a:srgbClr val="00B7C3"/>
                </a:solidFill>
                <a:latin typeface="Segoe UI"/>
              </a:rPr>
              <a:t>·  </a:t>
            </a:r>
            <a:r>
              <a:rPr sz="1050" b="0" i="0">
                <a:solidFill>
                  <a:srgbClr val="605E5C"/>
                </a:solidFill>
                <a:latin typeface="Segoe UI"/>
              </a:rPr>
              <a:t>Schema, inserts, migrations and views all generated from one DERIVED table — so they cannot drift</a:t>
            </a:r>
          </a:p>
          <a:p>
            <a:pPr algn="l">
              <a:lnSpc>
                <a:spcPct val="118000"/>
              </a:lnSpc>
              <a:spcBef>
                <a:spcPts val="0"/>
              </a:spcBef>
              <a:spcAft>
                <a:spcPts val="500"/>
              </a:spcAft>
            </a:pPr>
            <a:r>
              <a:rPr sz="1050" b="1" i="0">
                <a:solidFill>
                  <a:srgbClr val="00B7C3"/>
                </a:solidFill>
                <a:latin typeface="Segoe UI"/>
              </a:rPr>
              <a:t>·  </a:t>
            </a:r>
            <a:r>
              <a:rPr sz="1050" b="0" i="0">
                <a:solidFill>
                  <a:srgbClr val="605E5C"/>
                </a:solidFill>
                <a:latin typeface="Segoe UI"/>
              </a:rPr>
              <a:t>DERIVED_VERSION per row drives re-derivation</a:t>
            </a:r>
          </a:p>
          <a:p>
            <a:pPr algn="l">
              <a:lnSpc>
                <a:spcPct val="118000"/>
              </a:lnSpc>
              <a:spcBef>
                <a:spcPts val="0"/>
              </a:spcBef>
              <a:spcAft>
                <a:spcPts val="500"/>
              </a:spcAft>
            </a:pPr>
            <a:r>
              <a:rPr sz="1050" b="1" i="0">
                <a:solidFill>
                  <a:srgbClr val="00B7C3"/>
                </a:solidFill>
                <a:latin typeface="Segoe UI"/>
              </a:rPr>
              <a:t>·  </a:t>
            </a:r>
            <a:r>
              <a:rPr sz="1050" b="0" i="0">
                <a:solidFill>
                  <a:srgbClr val="605E5C"/>
                </a:solidFill>
                <a:latin typeface="Segoe UI"/>
              </a:rPr>
              <a:t>Column order is load-bearing: attributes and raw declared last, or scans walk multi-KB overflow pages first</a:t>
            </a:r>
          </a:p>
        </p:txBody>
      </p:sp>
      <p:sp>
        <p:nvSpPr>
          <p:cNvPr id="13" name="Rectangle 12"/>
          <p:cNvSpPr/>
          <p:nvPr/>
        </p:nvSpPr>
        <p:spPr>
          <a:xfrm>
            <a:off x="4343400" y="1737360"/>
            <a:ext cx="3502152" cy="50292"/>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8028432" y="1737360"/>
            <a:ext cx="3502152" cy="3145536"/>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201168"/>
          <a:lstStyle/>
          <a:p>
            <a:pPr algn="l">
              <a:lnSpc>
                <a:spcPct val="115000"/>
              </a:lnSpc>
              <a:spcBef>
                <a:spcPts val="0"/>
              </a:spcBef>
              <a:spcAft>
                <a:spcPts val="400"/>
              </a:spcAft>
            </a:pPr>
            <a:r>
              <a:rPr sz="1350" b="1" i="0">
                <a:solidFill>
                  <a:srgbClr val="14243E"/>
                </a:solidFill>
                <a:latin typeface="Segoe UI"/>
              </a:rPr>
              <a:t>Retention with a conscience</a:t>
            </a:r>
          </a:p>
          <a:p>
            <a:pPr algn="l">
              <a:lnSpc>
                <a:spcPct val="120000"/>
              </a:lnSpc>
              <a:spcBef>
                <a:spcPts val="0"/>
              </a:spcBef>
              <a:spcAft>
                <a:spcPts val="800"/>
              </a:spcAft>
            </a:pPr>
            <a:r>
              <a:rPr sz="1100" b="1" i="0">
                <a:solidFill>
                  <a:srgbClr val="8661C5"/>
                </a:solidFill>
                <a:latin typeface="Segoe UI"/>
              </a:rPr>
              <a:t>50 000 rows / 96 MB for spans — but not globally.</a:t>
            </a:r>
          </a:p>
          <a:p>
            <a:pPr algn="l">
              <a:lnSpc>
                <a:spcPct val="118000"/>
              </a:lnSpc>
              <a:spcBef>
                <a:spcPts val="0"/>
              </a:spcBef>
              <a:spcAft>
                <a:spcPts val="500"/>
              </a:spcAft>
            </a:pPr>
            <a:r>
              <a:rPr sz="1050" b="1" i="0">
                <a:solidFill>
                  <a:srgbClr val="8661C5"/>
                </a:solidFill>
                <a:latin typeface="Segoe UI"/>
              </a:rPr>
              <a:t>·  </a:t>
            </a:r>
            <a:r>
              <a:rPr sz="1050" b="0" i="0">
                <a:solidFill>
                  <a:srgbClr val="605E5C"/>
                </a:solidFill>
                <a:latin typeface="Segoe UI"/>
              </a:rPr>
              <a:t>Per-service pruning with a 5 000-row floor per service</a:t>
            </a:r>
          </a:p>
          <a:p>
            <a:pPr algn="l">
              <a:lnSpc>
                <a:spcPct val="118000"/>
              </a:lnSpc>
              <a:spcBef>
                <a:spcPts val="0"/>
              </a:spcBef>
              <a:spcAft>
                <a:spcPts val="500"/>
              </a:spcAft>
            </a:pPr>
            <a:r>
              <a:rPr sz="1050" b="1" i="0">
                <a:solidFill>
                  <a:srgbClr val="8661C5"/>
                </a:solidFill>
                <a:latin typeface="Segoe UI"/>
              </a:rPr>
              <a:t>·  </a:t>
            </a:r>
            <a:r>
              <a:rPr sz="1050" b="0" i="0">
                <a:solidFill>
                  <a:srgbClr val="605E5C"/>
                </a:solidFill>
                <a:latin typeface="Segoe UI"/>
              </a:rPr>
              <a:t>Otherwise Copilot’s volume evicts Claude Code purely for being older — quietly biasing the agent-comparison views the product exists for</a:t>
            </a:r>
          </a:p>
          <a:p>
            <a:pPr algn="l">
              <a:lnSpc>
                <a:spcPct val="118000"/>
              </a:lnSpc>
              <a:spcBef>
                <a:spcPts val="0"/>
              </a:spcBef>
              <a:spcAft>
                <a:spcPts val="500"/>
              </a:spcAft>
            </a:pPr>
            <a:r>
              <a:rPr sz="1050" b="1" i="0">
                <a:solidFill>
                  <a:srgbClr val="8661C5"/>
                </a:solidFill>
                <a:latin typeface="Segoe UI"/>
              </a:rPr>
              <a:t>·  </a:t>
            </a:r>
            <a:r>
              <a:rPr sz="1050" b="0" i="0">
                <a:solidFill>
                  <a:srgbClr val="605E5C"/>
                </a:solidFill>
                <a:latin typeface="Segoe UI"/>
              </a:rPr>
              <a:t>Pruning refuses to orphan a referenced parent span</a:t>
            </a:r>
          </a:p>
          <a:p>
            <a:pPr algn="l">
              <a:lnSpc>
                <a:spcPct val="118000"/>
              </a:lnSpc>
              <a:spcBef>
                <a:spcPts val="0"/>
              </a:spcBef>
              <a:spcAft>
                <a:spcPts val="500"/>
              </a:spcAft>
            </a:pPr>
            <a:r>
              <a:rPr sz="1050" b="1" i="0">
                <a:solidFill>
                  <a:srgbClr val="8661C5"/>
                </a:solidFill>
                <a:latin typeface="Segoe UI"/>
              </a:rPr>
              <a:t>·  </a:t>
            </a:r>
            <a:r>
              <a:rPr sz="1050" b="0" i="0">
                <a:solidFill>
                  <a:srgbClr val="605E5C"/>
                </a:solidFill>
                <a:latin typeface="Segoe UI"/>
              </a:rPr>
              <a:t>session_titles, codex_trace_sessions and token_facts are exempt — they outlive their spans</a:t>
            </a:r>
          </a:p>
        </p:txBody>
      </p:sp>
      <p:sp>
        <p:nvSpPr>
          <p:cNvPr id="15" name="Rectangle 14"/>
          <p:cNvSpPr/>
          <p:nvPr/>
        </p:nvSpPr>
        <p:spPr>
          <a:xfrm>
            <a:off x="8028432" y="1737360"/>
            <a:ext cx="3502152" cy="50292"/>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658368" y="5029200"/>
            <a:ext cx="10872216" cy="1060704"/>
          </a:xfrm>
          <a:prstGeom prst="roundRect">
            <a:avLst>
              <a:gd name="adj" fmla="val 4500"/>
            </a:avLst>
          </a:prstGeom>
          <a:solidFill>
            <a:srgbClr val="14243E"/>
          </a:solidFill>
          <a:ln w="12700">
            <a:solidFill>
              <a:srgbClr val="14243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87552" y="5193792"/>
            <a:ext cx="3291840" cy="822960"/>
          </a:xfrm>
          <a:prstGeom prst="rect">
            <a:avLst/>
          </a:prstGeom>
          <a:noFill/>
        </p:spPr>
        <p:txBody>
          <a:bodyPr wrap="square" lIns="0" rIns="0" tIns="0" bIns="0" anchor="t">
            <a:spAutoFit/>
          </a:bodyPr>
          <a:lstStyle/>
          <a:p>
            <a:pPr algn="l">
              <a:spcBef>
                <a:spcPts val="0"/>
              </a:spcBef>
              <a:spcAft>
                <a:spcPts val="600"/>
              </a:spcAft>
            </a:pPr>
            <a:r>
              <a:rPr sz="1000" b="1" i="0">
                <a:solidFill>
                  <a:srgbClr val="50E6FF"/>
                </a:solidFill>
                <a:latin typeface="Segoe UI Semibold"/>
              </a:rPr>
              <a:t>MEASURED, NOT GUESSED</a:t>
            </a:r>
          </a:p>
          <a:p>
            <a:pPr algn="l">
              <a:lnSpc>
                <a:spcPct val="120000"/>
              </a:lnSpc>
              <a:spcBef>
                <a:spcPts val="0"/>
              </a:spcBef>
              <a:spcAft>
                <a:spcPts val="0"/>
              </a:spcAft>
            </a:pPr>
            <a:r>
              <a:rPr sz="1150" b="0" i="0">
                <a:solidFill>
                  <a:srgbClr val="93A6C4"/>
                </a:solidFill>
                <a:latin typeface="Segoe UI"/>
              </a:rPr>
              <a:t>Neither of these was where I would have guessed.</a:t>
            </a:r>
          </a:p>
        </p:txBody>
      </p:sp>
      <p:sp>
        <p:nvSpPr>
          <p:cNvPr id="18" name="TextBox 17"/>
          <p:cNvSpPr txBox="1"/>
          <p:nvPr/>
        </p:nvSpPr>
        <p:spPr>
          <a:xfrm>
            <a:off x="4480560" y="5212080"/>
            <a:ext cx="3291840" cy="822960"/>
          </a:xfrm>
          <a:prstGeom prst="rect">
            <a:avLst/>
          </a:prstGeom>
          <a:noFill/>
        </p:spPr>
        <p:txBody>
          <a:bodyPr wrap="square" lIns="0" rIns="0" tIns="0" bIns="0" anchor="t">
            <a:spAutoFit/>
          </a:bodyPr>
          <a:lstStyle/>
          <a:p>
            <a:pPr algn="l">
              <a:spcBef>
                <a:spcPts val="0"/>
              </a:spcBef>
              <a:spcAft>
                <a:spcPts val="300"/>
              </a:spcAft>
            </a:pPr>
            <a:r>
              <a:rPr sz="2100" b="1" i="0">
                <a:solidFill>
                  <a:srgbClr val="0E700E"/>
                </a:solidFill>
                <a:latin typeface="Segoe UI Light"/>
              </a:rPr>
              <a:t>8.4 s → 0.2 s</a:t>
            </a:r>
          </a:p>
          <a:p>
            <a:pPr algn="l">
              <a:lnSpc>
                <a:spcPct val="120000"/>
              </a:lnSpc>
              <a:spcBef>
                <a:spcPts val="0"/>
              </a:spcBef>
              <a:spcAft>
                <a:spcPts val="0"/>
              </a:spcAft>
            </a:pPr>
            <a:r>
              <a:rPr sz="1050" b="0" i="0">
                <a:solidFill>
                  <a:srgbClr val="93A6C4"/>
                </a:solidFill>
                <a:latin typeface="Segoe UI"/>
              </a:rPr>
              <a:t>ANALYZE. One statement. Without stats SQLite picked the wrong index for the parent→child hop in the recursive trace walk.</a:t>
            </a:r>
          </a:p>
        </p:txBody>
      </p:sp>
      <p:sp>
        <p:nvSpPr>
          <p:cNvPr id="19" name="TextBox 18"/>
          <p:cNvSpPr txBox="1"/>
          <p:nvPr/>
        </p:nvSpPr>
        <p:spPr>
          <a:xfrm>
            <a:off x="7909560" y="5212080"/>
            <a:ext cx="3291840" cy="822960"/>
          </a:xfrm>
          <a:prstGeom prst="rect">
            <a:avLst/>
          </a:prstGeom>
          <a:noFill/>
        </p:spPr>
        <p:txBody>
          <a:bodyPr wrap="square" lIns="0" rIns="0" tIns="0" bIns="0" anchor="t">
            <a:spAutoFit/>
          </a:bodyPr>
          <a:lstStyle/>
          <a:p>
            <a:pPr algn="l">
              <a:spcBef>
                <a:spcPts val="0"/>
              </a:spcBef>
              <a:spcAft>
                <a:spcPts val="300"/>
              </a:spcAft>
            </a:pPr>
            <a:r>
              <a:rPr sz="2100" b="1" i="0">
                <a:solidFill>
                  <a:srgbClr val="50E6FF"/>
                </a:solidFill>
                <a:latin typeface="Segoe UI Light"/>
              </a:rPr>
              <a:t>~10 s → fast</a:t>
            </a:r>
          </a:p>
          <a:p>
            <a:pPr algn="l">
              <a:lnSpc>
                <a:spcPct val="120000"/>
              </a:lnSpc>
              <a:spcBef>
                <a:spcPts val="0"/>
              </a:spcBef>
              <a:spcAft>
                <a:spcPts val="0"/>
              </a:spcAft>
            </a:pPr>
            <a:r>
              <a:rPr sz="1050" b="0" i="0">
                <a:solidFill>
                  <a:srgbClr val="93A6C4"/>
                </a:solidFill>
                <a:latin typeface="Segoe UI"/>
              </a:rPr>
              <a:t>idx_raw_spans_trace(trace_id, parent_span_id) on a 3 000-span trace.</a:t>
            </a:r>
          </a:p>
        </p:txBody>
      </p:sp>
      <p:sp>
        <p:nvSpPr>
          <p:cNvPr id="20" name="TextBox 19"/>
          <p:cNvSpPr txBox="1"/>
          <p:nvPr/>
        </p:nvSpPr>
        <p:spPr>
          <a:xfrm>
            <a:off x="658368" y="6382512"/>
            <a:ext cx="8686800" cy="237744"/>
          </a:xfrm>
          <a:prstGeom prst="rect">
            <a:avLst/>
          </a:prstGeom>
          <a:noFill/>
        </p:spPr>
        <p:txBody>
          <a:bodyPr wrap="square" lIns="0" rIns="0" tIns="0" bIns="0" anchor="t">
            <a:spAutoFit/>
          </a:bodyPr>
          <a:lstStyle/>
          <a:p>
            <a:pPr algn="l">
              <a:spcBef>
                <a:spcPts val="0"/>
              </a:spcBef>
              <a:spcAft>
                <a:spcPts val="0"/>
              </a:spcAft>
            </a:pPr>
            <a:r>
              <a:rPr sz="900" b="0" i="0">
                <a:solidFill>
                  <a:srgbClr val="8A8886"/>
                </a:solidFill>
                <a:latin typeface="Segoe UI"/>
              </a:rPr>
              <a:t>Microsoft  ·  Agent Insights  ·  appendix</a:t>
            </a:r>
          </a:p>
        </p:txBody>
      </p:sp>
      <p:sp>
        <p:nvSpPr>
          <p:cNvPr id="21" name="TextBox 20"/>
          <p:cNvSpPr txBox="1"/>
          <p:nvPr/>
        </p:nvSpPr>
        <p:spPr>
          <a:xfrm>
            <a:off x="10835640" y="6382512"/>
            <a:ext cx="694944" cy="237744"/>
          </a:xfrm>
          <a:prstGeom prst="rect">
            <a:avLst/>
          </a:prstGeom>
          <a:noFill/>
        </p:spPr>
        <p:txBody>
          <a:bodyPr wrap="square" lIns="0" rIns="0" tIns="0" bIns="0" anchor="t">
            <a:spAutoFit/>
          </a:bodyPr>
          <a:lstStyle/>
          <a:p>
            <a:pPr algn="r">
              <a:spcBef>
                <a:spcPts val="0"/>
              </a:spcBef>
              <a:spcAft>
                <a:spcPts val="0"/>
              </a:spcAft>
            </a:pPr>
            <a:r>
              <a:rPr sz="900" b="0" i="0">
                <a:solidFill>
                  <a:srgbClr val="8A8886"/>
                </a:solidFill>
                <a:latin typeface="Segoe U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47925" cy="685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47923" y="0"/>
            <a:ext cx="3047925" cy="68580"/>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6095847" y="0"/>
            <a:ext cx="3047925" cy="6858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143771" y="0"/>
            <a:ext cx="3047925" cy="68580"/>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384048"/>
            <a:ext cx="10872216" cy="237744"/>
          </a:xfrm>
          <a:prstGeom prst="rect">
            <a:avLst/>
          </a:prstGeom>
          <a:noFill/>
        </p:spPr>
        <p:txBody>
          <a:bodyPr wrap="square" lIns="0" rIns="0" tIns="0" bIns="0" anchor="t">
            <a:spAutoFit/>
          </a:bodyPr>
          <a:lstStyle/>
          <a:p>
            <a:pPr algn="l">
              <a:spcBef>
                <a:spcPts val="0"/>
              </a:spcBef>
              <a:spcAft>
                <a:spcPts val="0"/>
              </a:spcAft>
            </a:pPr>
            <a:r>
              <a:rPr sz="1050" b="1" i="0">
                <a:solidFill>
                  <a:srgbClr val="0078D4"/>
                </a:solidFill>
                <a:latin typeface="Segoe UI Semibold"/>
              </a:rPr>
              <a:t>APPENDIX · NORMALIZATION</a:t>
            </a:r>
          </a:p>
        </p:txBody>
      </p:sp>
      <p:sp>
        <p:nvSpPr>
          <p:cNvPr id="7" name="TextBox 6"/>
          <p:cNvSpPr txBox="1"/>
          <p:nvPr/>
        </p:nvSpPr>
        <p:spPr>
          <a:xfrm>
            <a:off x="658368" y="658368"/>
            <a:ext cx="10872216" cy="502920"/>
          </a:xfrm>
          <a:prstGeom prst="rect">
            <a:avLst/>
          </a:prstGeom>
          <a:noFill/>
        </p:spPr>
        <p:txBody>
          <a:bodyPr wrap="square" lIns="0" rIns="0" tIns="0" bIns="0" anchor="t">
            <a:spAutoFit/>
          </a:bodyPr>
          <a:lstStyle/>
          <a:p>
            <a:pPr algn="l">
              <a:spcBef>
                <a:spcPts val="0"/>
              </a:spcBef>
              <a:spcAft>
                <a:spcPts val="0"/>
              </a:spcAft>
            </a:pPr>
            <a:r>
              <a:rPr sz="2900" b="0" i="0">
                <a:solidFill>
                  <a:srgbClr val="14243E"/>
                </a:solidFill>
                <a:latin typeface="Segoe UI Light"/>
              </a:rPr>
              <a:t>Identity and counting</a:t>
            </a:r>
          </a:p>
        </p:txBody>
      </p:sp>
      <p:sp>
        <p:nvSpPr>
          <p:cNvPr id="8" name="TextBox 7"/>
          <p:cNvSpPr txBox="1"/>
          <p:nvPr/>
        </p:nvSpPr>
        <p:spPr>
          <a:xfrm>
            <a:off x="658368" y="1207008"/>
            <a:ext cx="10872216" cy="329184"/>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605E5C"/>
                </a:solidFill>
                <a:latin typeface="Segoe UI"/>
              </a:rPr>
              <a:t>The pattern every time: define the concept once, in SQL, from what the data shows — not from which harness sent it.</a:t>
            </a:r>
          </a:p>
        </p:txBody>
      </p:sp>
      <p:sp>
        <p:nvSpPr>
          <p:cNvPr id="9" name="Rectangle 8"/>
          <p:cNvSpPr/>
          <p:nvPr/>
        </p:nvSpPr>
        <p:spPr>
          <a:xfrm>
            <a:off x="658368" y="1591056"/>
            <a:ext cx="960120" cy="320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58368" y="1737360"/>
            <a:ext cx="5852160" cy="274320"/>
          </a:xfrm>
          <a:prstGeom prst="rect">
            <a:avLst/>
          </a:prstGeom>
          <a:noFill/>
        </p:spPr>
        <p:txBody>
          <a:bodyPr wrap="square" lIns="0" rIns="0" tIns="0" bIns="0" anchor="t">
            <a:spAutoFit/>
          </a:bodyPr>
          <a:lstStyle/>
          <a:p>
            <a:pPr algn="l">
              <a:spcBef>
                <a:spcPts val="0"/>
              </a:spcBef>
              <a:spcAft>
                <a:spcPts val="0"/>
              </a:spcAft>
            </a:pPr>
            <a:r>
              <a:rPr sz="1050" b="1" i="0">
                <a:solidFill>
                  <a:srgbClr val="0078D4"/>
                </a:solidFill>
                <a:latin typeface="Segoe UI Semibold"/>
              </a:rPr>
              <a:t>1  ·  WHAT IS ONE SESSION?   A COALESCE LADDER, MOST-TRUSTED FIRST</a:t>
            </a:r>
          </a:p>
        </p:txBody>
      </p:sp>
      <p:sp>
        <p:nvSpPr>
          <p:cNvPr id="11" name="Rounded Rectangle 10"/>
          <p:cNvSpPr/>
          <p:nvPr/>
        </p:nvSpPr>
        <p:spPr>
          <a:xfrm>
            <a:off x="658368" y="2048256"/>
            <a:ext cx="5852160" cy="1975104"/>
          </a:xfrm>
          <a:prstGeom prst="roundRect">
            <a:avLst>
              <a:gd name="adj" fmla="val 3000"/>
            </a:avLst>
          </a:prstGeom>
          <a:solidFill>
            <a:srgbClr val="14243E"/>
          </a:solidFill>
          <a:ln w="12700">
            <a:solidFill>
              <a:srgbClr val="14243E"/>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lstStyle/>
          <a:p>
            <a:pPr algn="l">
              <a:lnSpc>
                <a:spcPct val="116000"/>
              </a:lnSpc>
              <a:spcBef>
                <a:spcPts val="0"/>
              </a:spcBef>
              <a:spcAft>
                <a:spcPts val="100"/>
              </a:spcAft>
            </a:pPr>
            <a:r>
              <a:rPr sz="1100" b="1" i="0">
                <a:solidFill>
                  <a:srgbClr val="50E6FF"/>
                </a:solidFill>
                <a:latin typeface="Consolas"/>
              </a:rPr>
              <a:t>COALESCE</a:t>
            </a:r>
            <a:r>
              <a:rPr sz="1100" b="0" i="0">
                <a:solidFill>
                  <a:srgbClr val="E8EEF7"/>
                </a:solidFill>
                <a:latin typeface="Consolas"/>
              </a:rPr>
              <a:t>(</a:t>
            </a:r>
          </a:p>
          <a:p>
            <a:pPr algn="l">
              <a:lnSpc>
                <a:spcPct val="116000"/>
              </a:lnSpc>
              <a:spcBef>
                <a:spcPts val="0"/>
              </a:spcBef>
              <a:spcAft>
                <a:spcPts val="100"/>
              </a:spcAft>
            </a:pPr>
            <a:r>
              <a:rPr sz="1100" b="0" i="0">
                <a:solidFill>
                  <a:srgbClr val="E8EEF7"/>
                </a:solidFill>
                <a:latin typeface="Consolas"/>
              </a:rPr>
              <a:t>  MAX(json_extract(attrs,'$."gen_ai.conversation.id"')),</a:t>
            </a:r>
            <a:r>
              <a:rPr sz="1100" b="0" i="0">
                <a:solidFill>
                  <a:srgbClr val="7A93B8"/>
                </a:solidFill>
                <a:latin typeface="Consolas"/>
              </a:rPr>
              <a:t>   OTel semconv</a:t>
            </a:r>
          </a:p>
          <a:p>
            <a:pPr algn="l">
              <a:lnSpc>
                <a:spcPct val="116000"/>
              </a:lnSpc>
              <a:spcBef>
                <a:spcPts val="0"/>
              </a:spcBef>
              <a:spcAft>
                <a:spcPts val="100"/>
              </a:spcAft>
            </a:pPr>
            <a:r>
              <a:rPr sz="1100" b="0" i="0">
                <a:solidFill>
                  <a:srgbClr val="E8EEF7"/>
                </a:solidFill>
                <a:latin typeface="Consolas"/>
              </a:rPr>
              <a:t>  MAX(json_extract(attrs,'$."session.id"')),</a:t>
            </a:r>
            <a:r>
              <a:rPr sz="1100" b="0" i="0">
                <a:solidFill>
                  <a:srgbClr val="7A93B8"/>
                </a:solidFill>
                <a:latin typeface="Consolas"/>
              </a:rPr>
              <a:t>               Claude</a:t>
            </a:r>
          </a:p>
          <a:p>
            <a:pPr algn="l">
              <a:lnSpc>
                <a:spcPct val="116000"/>
              </a:lnSpc>
              <a:spcBef>
                <a:spcPts val="0"/>
              </a:spcBef>
              <a:spcAft>
                <a:spcPts val="100"/>
              </a:spcAft>
            </a:pPr>
            <a:r>
              <a:rPr sz="1100" b="0" i="0">
                <a:solidFill>
                  <a:srgbClr val="E8EEF7"/>
                </a:solidFill>
                <a:latin typeface="Consolas"/>
              </a:rPr>
              <a:t>  MAX(json_extract(attrs,'$."copilot_chat.chat_session_id"')),</a:t>
            </a:r>
          </a:p>
          <a:p>
            <a:pPr algn="l">
              <a:lnSpc>
                <a:spcPct val="116000"/>
              </a:lnSpc>
              <a:spcBef>
                <a:spcPts val="0"/>
              </a:spcBef>
              <a:spcAft>
                <a:spcPts val="100"/>
              </a:spcAft>
            </a:pPr>
            <a:r>
              <a:rPr sz="1100" b="0" i="0">
                <a:solidFill>
                  <a:srgbClr val="E8EEF7"/>
                </a:solidFill>
                <a:latin typeface="Consolas"/>
              </a:rPr>
              <a:t>                                                  </a:t>
            </a:r>
            <a:r>
              <a:rPr sz="1100" b="0" i="0">
                <a:solidFill>
                  <a:srgbClr val="7A93B8"/>
                </a:solidFill>
                <a:latin typeface="Consolas"/>
              </a:rPr>
              <a:t>Copilot</a:t>
            </a:r>
          </a:p>
          <a:p>
            <a:pPr algn="l">
              <a:lnSpc>
                <a:spcPct val="116000"/>
              </a:lnSpc>
              <a:spcBef>
                <a:spcPts val="0"/>
              </a:spcBef>
              <a:spcAft>
                <a:spcPts val="100"/>
              </a:spcAft>
            </a:pPr>
            <a:r>
              <a:rPr sz="1100" b="0" i="0">
                <a:solidFill>
                  <a:srgbClr val="E8EEF7"/>
                </a:solidFill>
                <a:latin typeface="Consolas"/>
              </a:rPr>
              <a:t>  (SELECT session_id FROM codex_trace_sessions ...),</a:t>
            </a:r>
            <a:r>
              <a:rPr sz="1100" b="0" i="0">
                <a:solidFill>
                  <a:srgbClr val="7A93B8"/>
                </a:solidFill>
                <a:latin typeface="Consolas"/>
              </a:rPr>
              <a:t>  Codex</a:t>
            </a:r>
          </a:p>
          <a:p>
            <a:pPr algn="l">
              <a:lnSpc>
                <a:spcPct val="116000"/>
              </a:lnSpc>
              <a:spcBef>
                <a:spcPts val="0"/>
              </a:spcBef>
              <a:spcAft>
                <a:spcPts val="100"/>
              </a:spcAft>
            </a:pPr>
            <a:r>
              <a:rPr sz="1100" b="0" i="0">
                <a:solidFill>
                  <a:srgbClr val="E87C00"/>
                </a:solidFill>
                <a:latin typeface="Consolas"/>
              </a:rPr>
              <a:t>  trace_id</a:t>
            </a:r>
            <a:r>
              <a:rPr sz="1100" b="0" i="0">
                <a:solidFill>
                  <a:srgbClr val="7A93B8"/>
                </a:solidFill>
                <a:latin typeface="Consolas"/>
              </a:rPr>
              <a:t>                                     last resort</a:t>
            </a:r>
          </a:p>
          <a:p>
            <a:pPr algn="l">
              <a:lnSpc>
                <a:spcPct val="116000"/>
              </a:lnSpc>
              <a:spcBef>
                <a:spcPts val="0"/>
              </a:spcBef>
              <a:spcAft>
                <a:spcPts val="100"/>
              </a:spcAft>
            </a:pPr>
            <a:r>
              <a:rPr sz="1100" b="0" i="0">
                <a:solidFill>
                  <a:srgbClr val="E8EEF7"/>
                </a:solidFill>
                <a:latin typeface="Consolas"/>
              </a:rPr>
              <a:t>)</a:t>
            </a:r>
          </a:p>
        </p:txBody>
      </p:sp>
      <p:sp>
        <p:nvSpPr>
          <p:cNvPr id="12" name="TextBox 11"/>
          <p:cNvSpPr txBox="1"/>
          <p:nvPr/>
        </p:nvSpPr>
        <p:spPr>
          <a:xfrm>
            <a:off x="658368" y="4133088"/>
            <a:ext cx="5852160" cy="1097280"/>
          </a:xfrm>
          <a:prstGeom prst="rect">
            <a:avLst/>
          </a:prstGeom>
          <a:noFill/>
        </p:spPr>
        <p:txBody>
          <a:bodyPr wrap="square" lIns="0" rIns="0" tIns="0" bIns="0" anchor="t">
            <a:spAutoFit/>
          </a:bodyPr>
          <a:lstStyle/>
          <a:p>
            <a:pPr algn="l">
              <a:lnSpc>
                <a:spcPct val="122000"/>
              </a:lnSpc>
              <a:spcBef>
                <a:spcPts val="0"/>
              </a:spcBef>
              <a:spcAft>
                <a:spcPts val="700"/>
              </a:spcAft>
            </a:pPr>
            <a:r>
              <a:rPr sz="1100" b="1" i="0">
                <a:solidFill>
                  <a:srgbClr val="14243E"/>
                </a:solidFill>
                <a:latin typeface="Segoe UI"/>
              </a:rPr>
              <a:t>MAX(…) rather than a plain read</a:t>
            </a:r>
            <a:r>
              <a:rPr sz="1100" b="0" i="0">
                <a:solidFill>
                  <a:srgbClr val="605E5C"/>
                </a:solidFill>
                <a:latin typeface="Segoe UI"/>
              </a:rPr>
              <a:t>, because the id is on chat spans and absent on the permission and execute_tool spans in the same trace. One span knowing the answer is enough.</a:t>
            </a:r>
          </a:p>
          <a:p>
            <a:pPr algn="l">
              <a:lnSpc>
                <a:spcPct val="122000"/>
              </a:lnSpc>
              <a:spcBef>
                <a:spcPts val="0"/>
              </a:spcBef>
              <a:spcAft>
                <a:spcPts val="0"/>
              </a:spcAft>
            </a:pPr>
            <a:r>
              <a:rPr sz="1100" b="1" i="0">
                <a:solidFill>
                  <a:srgbClr val="E3008C"/>
                </a:solidFill>
                <a:latin typeface="Segoe UI"/>
              </a:rPr>
              <a:t>Codex often has no id at all</a:t>
            </a:r>
            <a:r>
              <a:rPr sz="1100" b="0" i="0">
                <a:solidFill>
                  <a:srgbClr val="605E5C"/>
                </a:solidFill>
                <a:latin typeface="Segoe UI"/>
              </a:rPr>
              <a:t> — a projection recovers one per trace from Codex’s own conversation.id logs, then promotes the conversation once any trace proves anchored.</a:t>
            </a:r>
          </a:p>
        </p:txBody>
      </p:sp>
      <p:sp>
        <p:nvSpPr>
          <p:cNvPr id="13" name="TextBox 12"/>
          <p:cNvSpPr txBox="1"/>
          <p:nvPr/>
        </p:nvSpPr>
        <p:spPr>
          <a:xfrm>
            <a:off x="6748272" y="1737360"/>
            <a:ext cx="4782312" cy="274320"/>
          </a:xfrm>
          <a:prstGeom prst="rect">
            <a:avLst/>
          </a:prstGeom>
          <a:noFill/>
        </p:spPr>
        <p:txBody>
          <a:bodyPr wrap="square" lIns="0" rIns="0" tIns="0" bIns="0" anchor="t">
            <a:spAutoFit/>
          </a:bodyPr>
          <a:lstStyle/>
          <a:p>
            <a:pPr algn="l">
              <a:spcBef>
                <a:spcPts val="0"/>
              </a:spcBef>
              <a:spcAft>
                <a:spcPts val="0"/>
              </a:spcAft>
            </a:pPr>
            <a:r>
              <a:rPr sz="1050" b="1" i="0">
                <a:solidFill>
                  <a:srgbClr val="8661C5"/>
                </a:solidFill>
                <a:latin typeface="Segoe UI Semibold"/>
              </a:rPr>
              <a:t>2  ·  WHAT IS ONE CALL?   PREDICATES, NOT NAMES</a:t>
            </a:r>
          </a:p>
        </p:txBody>
      </p:sp>
      <p:sp>
        <p:nvSpPr>
          <p:cNvPr id="14" name="Rounded Rectangle 13"/>
          <p:cNvSpPr/>
          <p:nvPr/>
        </p:nvSpPr>
        <p:spPr>
          <a:xfrm>
            <a:off x="6748272" y="2048256"/>
            <a:ext cx="4782312" cy="1042415"/>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lIns="219456" rIns="219456"/>
          <a:lstStyle/>
          <a:p>
            <a:pPr algn="l">
              <a:spcBef>
                <a:spcPts val="0"/>
              </a:spcBef>
              <a:spcAft>
                <a:spcPts val="500"/>
              </a:spcAft>
            </a:pPr>
            <a:r>
              <a:rPr sz="1000" b="1" i="0">
                <a:solidFill>
                  <a:srgbClr val="8661C5"/>
                </a:solidFill>
                <a:latin typeface="Consolas"/>
              </a:rPr>
              <a:t>LLM_PREDICATE</a:t>
            </a:r>
          </a:p>
          <a:p>
            <a:pPr algn="l">
              <a:lnSpc>
                <a:spcPct val="120000"/>
              </a:lnSpc>
              <a:spcBef>
                <a:spcPts val="0"/>
              </a:spcBef>
              <a:spcAft>
                <a:spcPts val="500"/>
              </a:spcAft>
            </a:pPr>
            <a:r>
              <a:rPr sz="1050" b="0" i="0">
                <a:solidFill>
                  <a:srgbClr val="1B1A19"/>
                </a:solidFill>
                <a:latin typeface="Consolas"/>
              </a:rPr>
              <a:t>name LIKE 'chat %' OR name = 'chat'  OR name LIKE '%llm_request%'  OR name = 'run_sampling_request'</a:t>
            </a:r>
          </a:p>
          <a:p>
            <a:pPr algn="l">
              <a:lnSpc>
                <a:spcPct val="120000"/>
              </a:lnSpc>
              <a:spcBef>
                <a:spcPts val="0"/>
              </a:spcBef>
              <a:spcAft>
                <a:spcPts val="0"/>
              </a:spcAft>
            </a:pPr>
            <a:r>
              <a:rPr sz="1050" b="0" i="0">
                <a:solidFill>
                  <a:srgbClr val="605E5C"/>
                </a:solidFill>
                <a:latin typeface="Segoe UI"/>
              </a:rPr>
              <a:t>Matches exactly one span per real model call, per harness — including only the outermost of Codex’s five.</a:t>
            </a:r>
          </a:p>
        </p:txBody>
      </p:sp>
      <p:sp>
        <p:nvSpPr>
          <p:cNvPr id="15" name="Rounded Rectangle 14"/>
          <p:cNvSpPr/>
          <p:nvPr/>
        </p:nvSpPr>
        <p:spPr>
          <a:xfrm>
            <a:off x="6748272" y="3218688"/>
            <a:ext cx="4782312" cy="1042415"/>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lIns="219456" rIns="219456"/>
          <a:lstStyle/>
          <a:p>
            <a:pPr algn="l">
              <a:spcBef>
                <a:spcPts val="0"/>
              </a:spcBef>
              <a:spcAft>
                <a:spcPts val="500"/>
              </a:spcAft>
            </a:pPr>
            <a:r>
              <a:rPr sz="1000" b="1" i="0">
                <a:solidFill>
                  <a:srgbClr val="8661C5"/>
                </a:solidFill>
                <a:latin typeface="Consolas"/>
              </a:rPr>
              <a:t>TOOL_PREDICATE</a:t>
            </a:r>
          </a:p>
          <a:p>
            <a:pPr algn="l">
              <a:lnSpc>
                <a:spcPct val="120000"/>
              </a:lnSpc>
              <a:spcBef>
                <a:spcPts val="0"/>
              </a:spcBef>
              <a:spcAft>
                <a:spcPts val="500"/>
              </a:spcAft>
            </a:pPr>
            <a:r>
              <a:rPr sz="1050" b="0" i="0">
                <a:solidFill>
                  <a:srgbClr val="1B1A19"/>
                </a:solidFill>
                <a:latin typeface="Consolas"/>
              </a:rPr>
              <a:t>name LIKE 'execute_tool%'  OR  name = 'claude_code.tool'  OR  name = 'handle_tool_call'</a:t>
            </a:r>
          </a:p>
          <a:p>
            <a:pPr algn="l">
              <a:lnSpc>
                <a:spcPct val="120000"/>
              </a:lnSpc>
              <a:spcBef>
                <a:spcPts val="0"/>
              </a:spcBef>
              <a:spcAft>
                <a:spcPts val="0"/>
              </a:spcAft>
            </a:pPr>
            <a:r>
              <a:rPr sz="1050" b="0" i="0">
                <a:solidFill>
                  <a:srgbClr val="605E5C"/>
                </a:solidFill>
                <a:latin typeface="Segoe UI"/>
              </a:rPr>
              <a:t>Exact match on claude_code.tool — the .execution and .blocked_on_user children are deliberately excluded.</a:t>
            </a:r>
          </a:p>
        </p:txBody>
      </p:sp>
      <p:sp>
        <p:nvSpPr>
          <p:cNvPr id="16" name="Rounded Rectangle 15"/>
          <p:cNvSpPr/>
          <p:nvPr/>
        </p:nvSpPr>
        <p:spPr>
          <a:xfrm>
            <a:off x="6748272" y="4389120"/>
            <a:ext cx="4782312" cy="731520"/>
          </a:xfrm>
          <a:prstGeom prst="roundRect">
            <a:avLst>
              <a:gd name="adj" fmla="val 4500"/>
            </a:avLst>
          </a:prstGeom>
          <a:solidFill>
            <a:srgbClr val="DEECF9"/>
          </a:solidFill>
          <a:ln w="12700">
            <a:solidFill>
              <a:srgbClr val="DEECF9"/>
            </a:solidFill>
          </a:ln>
          <a:effectLst/>
        </p:spPr>
        <p:style>
          <a:lnRef idx="1">
            <a:schemeClr val="accent1"/>
          </a:lnRef>
          <a:fillRef idx="3">
            <a:schemeClr val="accent1"/>
          </a:fillRef>
          <a:effectRef idx="2">
            <a:schemeClr val="accent1"/>
          </a:effectRef>
          <a:fontRef idx="minor">
            <a:schemeClr val="lt1"/>
          </a:fontRef>
        </p:style>
        <p:txBody>
          <a:bodyPr rtlCol="0" anchor="ctr" wrap="square" lIns="219456" rIns="219456"/>
          <a:lstStyle/>
          <a:p>
            <a:pPr algn="l">
              <a:lnSpc>
                <a:spcPct val="124000"/>
              </a:lnSpc>
              <a:spcBef>
                <a:spcPts val="0"/>
              </a:spcBef>
              <a:spcAft>
                <a:spcPts val="0"/>
              </a:spcAft>
            </a:pPr>
            <a:r>
              <a:rPr sz="1150" b="0" i="0">
                <a:solidFill>
                  <a:srgbClr val="14243E"/>
                </a:solidFill>
                <a:latin typeface="Segoe UI"/>
              </a:rPr>
              <a:t>That is what makes any cross-agent number honest. One definition, applied to three vocabularies — rather than three definitions producing three numbers.</a:t>
            </a:r>
          </a:p>
        </p:txBody>
      </p:sp>
      <p:sp>
        <p:nvSpPr>
          <p:cNvPr id="17" name="Rounded Rectangle 16"/>
          <p:cNvSpPr/>
          <p:nvPr/>
        </p:nvSpPr>
        <p:spPr>
          <a:xfrm>
            <a:off x="658368" y="5468112"/>
            <a:ext cx="10872216" cy="640080"/>
          </a:xfrm>
          <a:prstGeom prst="roundRect">
            <a:avLst>
              <a:gd name="adj" fmla="val 4500"/>
            </a:avLst>
          </a:prstGeom>
          <a:solidFill>
            <a:srgbClr val="14243E"/>
          </a:solidFill>
          <a:ln w="12700">
            <a:solidFill>
              <a:srgbClr val="14243E"/>
            </a:solidFill>
          </a:ln>
          <a:effectLst/>
        </p:spPr>
        <p:style>
          <a:lnRef idx="1">
            <a:schemeClr val="accent1"/>
          </a:lnRef>
          <a:fillRef idx="3">
            <a:schemeClr val="accent1"/>
          </a:fillRef>
          <a:effectRef idx="2">
            <a:schemeClr val="accent1"/>
          </a:effectRef>
          <a:fontRef idx="minor">
            <a:schemeClr val="lt1"/>
          </a:fontRef>
        </p:style>
        <p:txBody>
          <a:bodyPr rtlCol="0" anchor="ctr" wrap="square" lIns="292608" rIns="292608"/>
          <a:lstStyle/>
          <a:p>
            <a:pPr algn="l">
              <a:lnSpc>
                <a:spcPct val="124000"/>
              </a:lnSpc>
              <a:spcBef>
                <a:spcPts val="0"/>
              </a:spcBef>
              <a:spcAft>
                <a:spcPts val="0"/>
              </a:spcAft>
            </a:pPr>
            <a:r>
              <a:rPr sz="1200" b="1" i="0">
                <a:solidFill>
                  <a:srgbClr val="50E6FF"/>
                </a:solidFill>
                <a:latin typeface="Segoe UI"/>
              </a:rPr>
              <a:t>3  ·  The agent’s identity comes from the host’s URI scheme, not its service name.  </a:t>
            </a:r>
            <a:r>
              <a:rPr sz="1200" b="0" i="0">
                <a:solidFill>
                  <a:srgbClr val="C3D1E6"/>
                </a:solidFill>
                <a:latin typeface="Segoe UI"/>
              </a:rPr>
              <a:t>claude:/… → Claude, codex:/… → Codex, copilotcli:/… → Copilot CLI. The host doesn’t control what resource name an agent picks for itself — but it does control the URI it launched it with.</a:t>
            </a:r>
          </a:p>
        </p:txBody>
      </p:sp>
      <p:sp>
        <p:nvSpPr>
          <p:cNvPr id="18" name="TextBox 17"/>
          <p:cNvSpPr txBox="1"/>
          <p:nvPr/>
        </p:nvSpPr>
        <p:spPr>
          <a:xfrm>
            <a:off x="658368" y="6382512"/>
            <a:ext cx="8686800" cy="237744"/>
          </a:xfrm>
          <a:prstGeom prst="rect">
            <a:avLst/>
          </a:prstGeom>
          <a:noFill/>
        </p:spPr>
        <p:txBody>
          <a:bodyPr wrap="square" lIns="0" rIns="0" tIns="0" bIns="0" anchor="t">
            <a:spAutoFit/>
          </a:bodyPr>
          <a:lstStyle/>
          <a:p>
            <a:pPr algn="l">
              <a:spcBef>
                <a:spcPts val="0"/>
              </a:spcBef>
              <a:spcAft>
                <a:spcPts val="0"/>
              </a:spcAft>
            </a:pPr>
            <a:r>
              <a:rPr sz="900" b="0" i="0">
                <a:solidFill>
                  <a:srgbClr val="8A8886"/>
                </a:solidFill>
                <a:latin typeface="Segoe UI"/>
              </a:rPr>
              <a:t>Microsoft  ·  Agent Insights  ·  appendix</a:t>
            </a:r>
          </a:p>
        </p:txBody>
      </p:sp>
      <p:sp>
        <p:nvSpPr>
          <p:cNvPr id="19" name="TextBox 18"/>
          <p:cNvSpPr txBox="1"/>
          <p:nvPr/>
        </p:nvSpPr>
        <p:spPr>
          <a:xfrm>
            <a:off x="10835640" y="6382512"/>
            <a:ext cx="694944" cy="237744"/>
          </a:xfrm>
          <a:prstGeom prst="rect">
            <a:avLst/>
          </a:prstGeom>
          <a:noFill/>
        </p:spPr>
        <p:txBody>
          <a:bodyPr wrap="square" lIns="0" rIns="0" tIns="0" bIns="0" anchor="t">
            <a:spAutoFit/>
          </a:bodyPr>
          <a:lstStyle/>
          <a:p>
            <a:pPr algn="r">
              <a:spcBef>
                <a:spcPts val="0"/>
              </a:spcBef>
              <a:spcAft>
                <a:spcPts val="0"/>
              </a:spcAft>
            </a:pPr>
            <a:r>
              <a:rPr sz="900" b="0" i="0">
                <a:solidFill>
                  <a:srgbClr val="8A8886"/>
                </a:solidFill>
                <a:latin typeface="Segoe U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47925" cy="685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47923" y="0"/>
            <a:ext cx="3047925" cy="68580"/>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6095847" y="0"/>
            <a:ext cx="3047925" cy="6858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143771" y="0"/>
            <a:ext cx="3047925" cy="68580"/>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384048"/>
            <a:ext cx="10872216" cy="237744"/>
          </a:xfrm>
          <a:prstGeom prst="rect">
            <a:avLst/>
          </a:prstGeom>
          <a:noFill/>
        </p:spPr>
        <p:txBody>
          <a:bodyPr wrap="square" lIns="0" rIns="0" tIns="0" bIns="0" anchor="t">
            <a:spAutoFit/>
          </a:bodyPr>
          <a:lstStyle/>
          <a:p>
            <a:pPr algn="l">
              <a:spcBef>
                <a:spcPts val="0"/>
              </a:spcBef>
              <a:spcAft>
                <a:spcPts val="0"/>
              </a:spcAft>
            </a:pPr>
            <a:r>
              <a:rPr sz="1050" b="1" i="0">
                <a:solidFill>
                  <a:srgbClr val="0078D4"/>
                </a:solidFill>
                <a:latin typeface="Segoe UI Semibold"/>
              </a:rPr>
              <a:t>APPENDIX · NORMALIZATION</a:t>
            </a:r>
          </a:p>
        </p:txBody>
      </p:sp>
      <p:sp>
        <p:nvSpPr>
          <p:cNvPr id="7" name="TextBox 6"/>
          <p:cNvSpPr txBox="1"/>
          <p:nvPr/>
        </p:nvSpPr>
        <p:spPr>
          <a:xfrm>
            <a:off x="658368" y="658368"/>
            <a:ext cx="10872216" cy="502920"/>
          </a:xfrm>
          <a:prstGeom prst="rect">
            <a:avLst/>
          </a:prstGeom>
          <a:noFill/>
        </p:spPr>
        <p:txBody>
          <a:bodyPr wrap="square" lIns="0" rIns="0" tIns="0" bIns="0" anchor="t">
            <a:spAutoFit/>
          </a:bodyPr>
          <a:lstStyle/>
          <a:p>
            <a:pPr algn="l">
              <a:spcBef>
                <a:spcPts val="0"/>
              </a:spcBef>
              <a:spcAft>
                <a:spcPts val="0"/>
              </a:spcAft>
            </a:pPr>
            <a:r>
              <a:rPr sz="2900" b="0" i="0">
                <a:solidFill>
                  <a:srgbClr val="14243E"/>
                </a:solidFill>
                <a:latin typeface="Segoe UI Light"/>
              </a:rPr>
              <a:t>Transcripts — three sources, one shape</a:t>
            </a:r>
          </a:p>
        </p:txBody>
      </p:sp>
      <p:sp>
        <p:nvSpPr>
          <p:cNvPr id="8" name="TextBox 7"/>
          <p:cNvSpPr txBox="1"/>
          <p:nvPr/>
        </p:nvSpPr>
        <p:spPr>
          <a:xfrm>
            <a:off x="658368" y="1207008"/>
            <a:ext cx="10872216" cy="329184"/>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605E5C"/>
                </a:solidFill>
                <a:latin typeface="Segoe UI"/>
              </a:rPr>
              <a:t>The renderer and the twelve LM tools have no idea which harness they are looking at. That is the whole idea.</a:t>
            </a:r>
          </a:p>
        </p:txBody>
      </p:sp>
      <p:sp>
        <p:nvSpPr>
          <p:cNvPr id="9" name="Rectangle 8"/>
          <p:cNvSpPr/>
          <p:nvPr/>
        </p:nvSpPr>
        <p:spPr>
          <a:xfrm>
            <a:off x="658368" y="1591056"/>
            <a:ext cx="960120" cy="320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58368" y="1737360"/>
            <a:ext cx="3502152" cy="1371600"/>
          </a:xfrm>
          <a:prstGeom prst="roundRect">
            <a:avLst>
              <a:gd name="adj" fmla="val 5000"/>
            </a:avLst>
          </a:prstGeom>
          <a:solidFill>
            <a:srgbClr val="FFFFFF"/>
          </a:solidFill>
          <a:ln w="1905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a:lstStyle/>
          <a:p>
            <a:pPr algn="l">
              <a:spcBef>
                <a:spcPts val="0"/>
              </a:spcBef>
              <a:spcAft>
                <a:spcPts val="600"/>
              </a:spcAft>
            </a:pPr>
            <a:r>
              <a:rPr sz="1250" b="1" i="0">
                <a:solidFill>
                  <a:srgbClr val="14243E"/>
                </a:solidFill>
                <a:latin typeface="Consolas"/>
              </a:rPr>
              <a:t>Span attributes</a:t>
            </a:r>
            <a:r>
              <a:rPr sz="1000" b="1" i="0">
                <a:solidFill>
                  <a:srgbClr val="0078D4"/>
                </a:solidFill>
                <a:latin typeface="Segoe UI"/>
              </a:rPr>
              <a:t>   Copilot / Agent Host</a:t>
            </a:r>
          </a:p>
          <a:p>
            <a:pPr algn="l">
              <a:lnSpc>
                <a:spcPct val="122000"/>
              </a:lnSpc>
              <a:spcBef>
                <a:spcPts val="0"/>
              </a:spcBef>
              <a:spcAft>
                <a:spcPts val="0"/>
              </a:spcAft>
            </a:pPr>
            <a:r>
              <a:rPr sz="1050" b="0" i="0">
                <a:solidFill>
                  <a:srgbClr val="605E5C"/>
                </a:solidFill>
                <a:latin typeface="Segoe UI"/>
              </a:rPr>
              <a:t>gen_ai.output.messages  ·  gen_ai.input.messages richest source; tool_call parts already structured</a:t>
            </a:r>
          </a:p>
        </p:txBody>
      </p:sp>
      <p:sp>
        <p:nvSpPr>
          <p:cNvPr id="11" name="Down Arrow 10"/>
          <p:cNvSpPr/>
          <p:nvPr/>
        </p:nvSpPr>
        <p:spPr>
          <a:xfrm>
            <a:off x="2327148" y="3182112"/>
            <a:ext cx="164592" cy="237744"/>
          </a:xfrm>
          <a:prstGeom prst="downArrow">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4343400" y="1737360"/>
            <a:ext cx="3502152" cy="1371600"/>
          </a:xfrm>
          <a:prstGeom prst="roundRect">
            <a:avLst>
              <a:gd name="adj" fmla="val 5000"/>
            </a:avLst>
          </a:prstGeom>
          <a:solidFill>
            <a:srgbClr val="FFFFFF"/>
          </a:solidFill>
          <a:ln w="19050">
            <a:solidFill>
              <a:srgbClr val="E87C00"/>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a:lstStyle/>
          <a:p>
            <a:pPr algn="l">
              <a:spcBef>
                <a:spcPts val="0"/>
              </a:spcBef>
              <a:spcAft>
                <a:spcPts val="600"/>
              </a:spcAft>
            </a:pPr>
            <a:r>
              <a:rPr sz="1250" b="1" i="0">
                <a:solidFill>
                  <a:srgbClr val="14243E"/>
                </a:solidFill>
                <a:latin typeface="Consolas"/>
              </a:rPr>
              <a:t>claudeLogTurns()</a:t>
            </a:r>
            <a:r>
              <a:rPr sz="1000" b="1" i="0">
                <a:solidFill>
                  <a:srgbClr val="E87C00"/>
                </a:solidFill>
                <a:latin typeface="Segoe UI"/>
              </a:rPr>
              <a:t>   Claude Code</a:t>
            </a:r>
          </a:p>
          <a:p>
            <a:pPr algn="l">
              <a:lnSpc>
                <a:spcPct val="122000"/>
              </a:lnSpc>
              <a:spcBef>
                <a:spcPts val="0"/>
              </a:spcBef>
              <a:spcAft>
                <a:spcPts val="0"/>
              </a:spcAft>
            </a:pPr>
            <a:r>
              <a:rPr sz="1050" b="0" i="0">
                <a:solidFill>
                  <a:srgbClr val="605E5C"/>
                </a:solidFill>
                <a:latin typeface="Segoe UI"/>
              </a:rPr>
              <a:t>rebuilds turns from the log stream, delimited by api_request records — logged when the round trip finishes, so a record can arrive before the call it closes</a:t>
            </a:r>
          </a:p>
        </p:txBody>
      </p:sp>
      <p:sp>
        <p:nvSpPr>
          <p:cNvPr id="13" name="Down Arrow 12"/>
          <p:cNvSpPr/>
          <p:nvPr/>
        </p:nvSpPr>
        <p:spPr>
          <a:xfrm>
            <a:off x="6012180" y="3182112"/>
            <a:ext cx="164592" cy="237744"/>
          </a:xfrm>
          <a:prstGeom prst="downArrow">
            <a:avLst/>
          </a:prstGeom>
          <a:solidFill>
            <a:srgbClr val="E87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8028432" y="1737360"/>
            <a:ext cx="3502152" cy="1371600"/>
          </a:xfrm>
          <a:prstGeom prst="roundRect">
            <a:avLst>
              <a:gd name="adj" fmla="val 5000"/>
            </a:avLst>
          </a:prstGeom>
          <a:solidFill>
            <a:srgbClr val="FFFFFF"/>
          </a:solidFill>
          <a:ln w="19050">
            <a:solidFill>
              <a:srgbClr val="E3008C"/>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a:lstStyle/>
          <a:p>
            <a:pPr algn="l">
              <a:spcBef>
                <a:spcPts val="0"/>
              </a:spcBef>
              <a:spcAft>
                <a:spcPts val="600"/>
              </a:spcAft>
            </a:pPr>
            <a:r>
              <a:rPr sz="1250" b="1" i="0">
                <a:solidFill>
                  <a:srgbClr val="14243E"/>
                </a:solidFill>
                <a:latin typeface="Consolas"/>
              </a:rPr>
              <a:t>codexLogTurns()</a:t>
            </a:r>
            <a:r>
              <a:rPr sz="1000" b="1" i="0">
                <a:solidFill>
                  <a:srgbClr val="E3008C"/>
                </a:solidFill>
                <a:latin typeface="Segoe UI"/>
              </a:rPr>
              <a:t>   Codex</a:t>
            </a:r>
          </a:p>
          <a:p>
            <a:pPr algn="l">
              <a:lnSpc>
                <a:spcPct val="122000"/>
              </a:lnSpc>
              <a:spcBef>
                <a:spcPts val="0"/>
              </a:spcBef>
              <a:spcAft>
                <a:spcPts val="0"/>
              </a:spcAft>
            </a:pPr>
            <a:r>
              <a:rPr sz="1050" b="0" i="0">
                <a:solidFill>
                  <a:srgbClr val="605E5C"/>
                </a:solidFill>
                <a:latin typeface="Segoe UI"/>
              </a:rPr>
              <a:t>prompts and tool results from log records; token counts joined by conversation.id, because response.completed carries no trace id at all</a:t>
            </a:r>
          </a:p>
        </p:txBody>
      </p:sp>
      <p:sp>
        <p:nvSpPr>
          <p:cNvPr id="15" name="Down Arrow 14"/>
          <p:cNvSpPr/>
          <p:nvPr/>
        </p:nvSpPr>
        <p:spPr>
          <a:xfrm>
            <a:off x="9697212" y="3182112"/>
            <a:ext cx="164592" cy="237744"/>
          </a:xfrm>
          <a:prstGeom prst="downArrow">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658368" y="3547872"/>
            <a:ext cx="10872216" cy="749808"/>
          </a:xfrm>
          <a:prstGeom prst="roundRect">
            <a:avLst>
              <a:gd name="adj" fmla="val 4500"/>
            </a:avLst>
          </a:prstGeom>
          <a:solidFill>
            <a:srgbClr val="14243E"/>
          </a:solidFill>
          <a:ln w="12700">
            <a:solidFill>
              <a:srgbClr val="14243E"/>
            </a:solidFill>
          </a:ln>
          <a:effectLst/>
        </p:spPr>
        <p:style>
          <a:lnRef idx="1">
            <a:schemeClr val="accent1"/>
          </a:lnRef>
          <a:fillRef idx="3">
            <a:schemeClr val="accent1"/>
          </a:fillRef>
          <a:effectRef idx="2">
            <a:schemeClr val="accent1"/>
          </a:effectRef>
          <a:fontRef idx="minor">
            <a:schemeClr val="lt1"/>
          </a:fontRef>
        </p:style>
        <p:txBody>
          <a:bodyPr rtlCol="0" anchor="ctr" wrap="square" lIns="329184"/>
          <a:lstStyle/>
          <a:p>
            <a:pPr algn="l">
              <a:spcBef>
                <a:spcPts val="0"/>
              </a:spcBef>
              <a:spcAft>
                <a:spcPts val="300"/>
              </a:spcAft>
            </a:pPr>
            <a:r>
              <a:rPr sz="1600" b="1" i="0">
                <a:solidFill>
                  <a:srgbClr val="FFFFFF"/>
                </a:solidFill>
                <a:latin typeface="Consolas"/>
              </a:rPr>
              <a:t>SessionMessageTurn</a:t>
            </a:r>
            <a:r>
              <a:rPr sz="1050" b="0" i="0">
                <a:solidFill>
                  <a:srgbClr val="9EB4D6"/>
                </a:solidFill>
                <a:latin typeface="Consolas"/>
              </a:rPr>
              <a:t>     traceId · spanId · sourceSpanId · model · outputMessages · inputPreview · systemInstructions · details[] · isSubagent</a:t>
            </a:r>
          </a:p>
          <a:p>
            <a:pPr algn="l">
              <a:spcBef>
                <a:spcPts val="0"/>
              </a:spcBef>
              <a:spcAft>
                <a:spcPts val="0"/>
              </a:spcAft>
            </a:pPr>
            <a:r>
              <a:rPr sz="1150" b="0" i="0">
                <a:solidFill>
                  <a:srgbClr val="50E6FF"/>
                </a:solidFill>
                <a:latin typeface="Segoe UI"/>
              </a:rPr>
              <a:t>One canonical shape. No renderer and no LM tool contains a single vendor branch.</a:t>
            </a:r>
          </a:p>
        </p:txBody>
      </p:sp>
      <p:sp>
        <p:nvSpPr>
          <p:cNvPr id="17" name="Rounded Rectangle 16"/>
          <p:cNvSpPr/>
          <p:nvPr/>
        </p:nvSpPr>
        <p:spPr>
          <a:xfrm>
            <a:off x="658368" y="4443984"/>
            <a:ext cx="3502152" cy="1463040"/>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a:lstStyle/>
          <a:p>
            <a:pPr algn="l">
              <a:lnSpc>
                <a:spcPct val="115000"/>
              </a:lnSpc>
              <a:spcBef>
                <a:spcPts val="0"/>
              </a:spcBef>
              <a:spcAft>
                <a:spcPts val="500"/>
              </a:spcAft>
            </a:pPr>
            <a:r>
              <a:rPr sz="1200" b="1" i="0">
                <a:solidFill>
                  <a:srgbClr val="14243E"/>
                </a:solidFill>
                <a:latin typeface="Segoe UI"/>
              </a:rPr>
              <a:t>Real sessions vs. artefacts</a:t>
            </a:r>
          </a:p>
          <a:p>
            <a:pPr algn="l">
              <a:lnSpc>
                <a:spcPct val="122000"/>
              </a:lnSpc>
              <a:spcBef>
                <a:spcPts val="0"/>
              </a:spcBef>
              <a:spcAft>
                <a:spcPts val="0"/>
              </a:spcAft>
            </a:pPr>
            <a:r>
              <a:rPr sz="1050" b="0" i="0">
                <a:solidFill>
                  <a:srgbClr val="605E5C"/>
                </a:solidFill>
                <a:latin typeface="Segoe UI"/>
              </a:rPr>
              <a:t>BACKGROUND_TRACE_FILTER keeps a session only if it shows agent activity, a captured user prompt, or a host-assigned title — 261 phantom sessions become the 6 real ones.</a:t>
            </a:r>
          </a:p>
        </p:txBody>
      </p:sp>
      <p:sp>
        <p:nvSpPr>
          <p:cNvPr id="18" name="Rectangle 17"/>
          <p:cNvSpPr/>
          <p:nvPr/>
        </p:nvSpPr>
        <p:spPr>
          <a:xfrm>
            <a:off x="658368" y="4443984"/>
            <a:ext cx="3502152" cy="50292"/>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4343400" y="4443984"/>
            <a:ext cx="3502152" cy="1463040"/>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a:lstStyle/>
          <a:p>
            <a:pPr algn="l">
              <a:lnSpc>
                <a:spcPct val="115000"/>
              </a:lnSpc>
              <a:spcBef>
                <a:spcPts val="0"/>
              </a:spcBef>
              <a:spcAft>
                <a:spcPts val="500"/>
              </a:spcAft>
            </a:pPr>
            <a:r>
              <a:rPr sz="1200" b="1" i="0">
                <a:solidFill>
                  <a:srgbClr val="14243E"/>
                </a:solidFill>
                <a:latin typeface="Segoe UI"/>
              </a:rPr>
              <a:t>Written from shape, not from vendor</a:t>
            </a:r>
          </a:p>
          <a:p>
            <a:pPr algn="l">
              <a:lnSpc>
                <a:spcPct val="122000"/>
              </a:lnSpc>
              <a:spcBef>
                <a:spcPts val="0"/>
              </a:spcBef>
              <a:spcAft>
                <a:spcPts val="0"/>
              </a:spcAft>
            </a:pPr>
            <a:r>
              <a:rPr sz="1050" b="0" i="0">
                <a:solidFill>
                  <a:srgbClr val="605E5C"/>
                </a:solidFill>
                <a:latin typeface="Segoe UI"/>
              </a:rPr>
              <a:t>ECHO_TRACE is defined as “has content, no prompt, no round trip, no model-call span” — never as “if it’s Codex”. That is why it still holds after three upstream releases.</a:t>
            </a:r>
          </a:p>
        </p:txBody>
      </p:sp>
      <p:sp>
        <p:nvSpPr>
          <p:cNvPr id="20" name="Rectangle 19"/>
          <p:cNvSpPr/>
          <p:nvPr/>
        </p:nvSpPr>
        <p:spPr>
          <a:xfrm>
            <a:off x="4343400" y="4443984"/>
            <a:ext cx="3502152" cy="50292"/>
          </a:xfrm>
          <a:prstGeom prst="rect">
            <a:avLst/>
          </a:prstGeom>
          <a:solidFill>
            <a:srgbClr val="0E70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8028432" y="4443984"/>
            <a:ext cx="3502152" cy="1463040"/>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a:lstStyle/>
          <a:p>
            <a:pPr algn="l">
              <a:lnSpc>
                <a:spcPct val="115000"/>
              </a:lnSpc>
              <a:spcBef>
                <a:spcPts val="0"/>
              </a:spcBef>
              <a:spcAft>
                <a:spcPts val="500"/>
              </a:spcAft>
            </a:pPr>
            <a:r>
              <a:rPr sz="1200" b="1" i="0">
                <a:solidFill>
                  <a:srgbClr val="14243E"/>
                </a:solidFill>
                <a:latin typeface="Segoe UI"/>
              </a:rPr>
              <a:t>Prompts are cleaned before they’re shown</a:t>
            </a:r>
          </a:p>
          <a:p>
            <a:pPr algn="l">
              <a:lnSpc>
                <a:spcPct val="122000"/>
              </a:lnSpc>
              <a:spcBef>
                <a:spcPts val="0"/>
              </a:spcBef>
              <a:spcAft>
                <a:spcPts val="0"/>
              </a:spcAft>
            </a:pPr>
            <a:r>
              <a:rPr sz="1050" b="0" i="0">
                <a:solidFill>
                  <a:srgbClr val="605E5C"/>
                </a:solidFill>
                <a:latin typeface="Segoe UI"/>
              </a:rPr>
              <a:t>&lt;system-reminder&gt; blocks, injected repository context and Copilot’s &lt;userRequest&gt; envelope are stripped. A 120-char label whose first 66 chars are an injected &lt;current_datetime&gt; stamp is not a label.</a:t>
            </a:r>
          </a:p>
        </p:txBody>
      </p:sp>
      <p:sp>
        <p:nvSpPr>
          <p:cNvPr id="22" name="Rectangle 21"/>
          <p:cNvSpPr/>
          <p:nvPr/>
        </p:nvSpPr>
        <p:spPr>
          <a:xfrm>
            <a:off x="8028432" y="4443984"/>
            <a:ext cx="3502152" cy="50292"/>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58368" y="6382512"/>
            <a:ext cx="8686800" cy="237744"/>
          </a:xfrm>
          <a:prstGeom prst="rect">
            <a:avLst/>
          </a:prstGeom>
          <a:noFill/>
        </p:spPr>
        <p:txBody>
          <a:bodyPr wrap="square" lIns="0" rIns="0" tIns="0" bIns="0" anchor="t">
            <a:spAutoFit/>
          </a:bodyPr>
          <a:lstStyle/>
          <a:p>
            <a:pPr algn="l">
              <a:spcBef>
                <a:spcPts val="0"/>
              </a:spcBef>
              <a:spcAft>
                <a:spcPts val="0"/>
              </a:spcAft>
            </a:pPr>
            <a:r>
              <a:rPr sz="900" b="0" i="0">
                <a:solidFill>
                  <a:srgbClr val="8A8886"/>
                </a:solidFill>
                <a:latin typeface="Segoe UI"/>
              </a:rPr>
              <a:t>Microsoft  ·  Agent Insights  ·  appendix</a:t>
            </a:r>
          </a:p>
        </p:txBody>
      </p:sp>
      <p:sp>
        <p:nvSpPr>
          <p:cNvPr id="24" name="TextBox 23"/>
          <p:cNvSpPr txBox="1"/>
          <p:nvPr/>
        </p:nvSpPr>
        <p:spPr>
          <a:xfrm>
            <a:off x="10835640" y="6382512"/>
            <a:ext cx="694944" cy="237744"/>
          </a:xfrm>
          <a:prstGeom prst="rect">
            <a:avLst/>
          </a:prstGeom>
          <a:noFill/>
        </p:spPr>
        <p:txBody>
          <a:bodyPr wrap="square" lIns="0" rIns="0" tIns="0" bIns="0" anchor="t">
            <a:spAutoFit/>
          </a:bodyPr>
          <a:lstStyle/>
          <a:p>
            <a:pPr algn="r">
              <a:spcBef>
                <a:spcPts val="0"/>
              </a:spcBef>
              <a:spcAft>
                <a:spcPts val="0"/>
              </a:spcAft>
            </a:pPr>
            <a:r>
              <a:rPr sz="900" b="0" i="0">
                <a:solidFill>
                  <a:srgbClr val="8A8886"/>
                </a:solidFill>
                <a:latin typeface="Segoe U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47925" cy="685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47923" y="0"/>
            <a:ext cx="3047925" cy="68580"/>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6095847" y="0"/>
            <a:ext cx="3047925" cy="6858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143771" y="0"/>
            <a:ext cx="3047925" cy="68580"/>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384048"/>
            <a:ext cx="10872216" cy="237744"/>
          </a:xfrm>
          <a:prstGeom prst="rect">
            <a:avLst/>
          </a:prstGeom>
          <a:noFill/>
        </p:spPr>
        <p:txBody>
          <a:bodyPr wrap="square" lIns="0" rIns="0" tIns="0" bIns="0" anchor="t">
            <a:spAutoFit/>
          </a:bodyPr>
          <a:lstStyle/>
          <a:p>
            <a:pPr algn="l">
              <a:spcBef>
                <a:spcPts val="0"/>
              </a:spcBef>
              <a:spcAft>
                <a:spcPts val="0"/>
              </a:spcAft>
            </a:pPr>
            <a:r>
              <a:rPr sz="1050" b="1" i="0">
                <a:solidFill>
                  <a:srgbClr val="0078D4"/>
                </a:solidFill>
                <a:latin typeface="Segoe UI Semibold"/>
              </a:rPr>
              <a:t>APPENDIX</a:t>
            </a:r>
          </a:p>
        </p:txBody>
      </p:sp>
      <p:sp>
        <p:nvSpPr>
          <p:cNvPr id="7" name="TextBox 6"/>
          <p:cNvSpPr txBox="1"/>
          <p:nvPr/>
        </p:nvSpPr>
        <p:spPr>
          <a:xfrm>
            <a:off x="658368" y="658368"/>
            <a:ext cx="10872216" cy="502920"/>
          </a:xfrm>
          <a:prstGeom prst="rect">
            <a:avLst/>
          </a:prstGeom>
          <a:noFill/>
        </p:spPr>
        <p:txBody>
          <a:bodyPr wrap="square" lIns="0" rIns="0" tIns="0" bIns="0" anchor="t">
            <a:spAutoFit/>
          </a:bodyPr>
          <a:lstStyle/>
          <a:p>
            <a:pPr algn="l">
              <a:spcBef>
                <a:spcPts val="0"/>
              </a:spcBef>
              <a:spcAft>
                <a:spcPts val="0"/>
              </a:spcAft>
            </a:pPr>
            <a:r>
              <a:rPr sz="2900" b="0" i="0">
                <a:solidFill>
                  <a:srgbClr val="14243E"/>
                </a:solidFill>
                <a:latin typeface="Segoe UI Light"/>
              </a:rPr>
              <a:t>The five hardest normalization problems, and where they’re solved</a:t>
            </a:r>
          </a:p>
        </p:txBody>
      </p:sp>
      <p:sp>
        <p:nvSpPr>
          <p:cNvPr id="8" name="Rectangle 7"/>
          <p:cNvSpPr/>
          <p:nvPr/>
        </p:nvSpPr>
        <p:spPr>
          <a:xfrm>
            <a:off x="658368" y="1152144"/>
            <a:ext cx="960120" cy="320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9" name="Table 8"/>
          <p:cNvGraphicFramePr>
            <a:graphicFrameLocks noGrp="1"/>
          </p:cNvGraphicFramePr>
          <p:nvPr/>
        </p:nvGraphicFramePr>
        <p:xfrm>
          <a:off x="658368" y="1316736"/>
          <a:ext cx="10872215" cy="4572000"/>
        </p:xfrm>
        <a:graphic>
          <a:graphicData uri="http://schemas.openxmlformats.org/drawingml/2006/table">
            <a:tbl>
              <a:tblPr firstRow="1">
                <a:tableStyleId>{5C22544A-7EE6-4342-B048-85BDC9FD1C3A}</a:tableStyleId>
              </a:tblPr>
              <a:tblGrid>
                <a:gridCol w="3289073"/>
                <a:gridCol w="5755879"/>
                <a:gridCol w="1827263"/>
              </a:tblGrid>
              <a:tr h="365760">
                <a:tc>
                  <a:txBody>
                    <a:bodyPr/>
                    <a:lstStyle/>
                    <a:p>
                      <a:pPr>
                        <a:lnSpc>
                          <a:spcPct val="105000"/>
                        </a:lnSpc>
                        <a:spcBef>
                          <a:spcPts val="0"/>
                        </a:spcBef>
                        <a:spcAft>
                          <a:spcPts val="0"/>
                        </a:spcAft>
                      </a:pPr>
                      <a:r>
                        <a:rPr sz="1100" b="1">
                          <a:solidFill>
                            <a:srgbClr val="FFFFFF"/>
                          </a:solidFill>
                          <a:latin typeface="Segoe UI"/>
                        </a:rPr>
                        <a:t>Problem</a:t>
                      </a:r>
                    </a:p>
                  </a:txBody>
                  <a:tcPr marL="82296" marR="82296" marT="41148" marB="41148" anchor="ctr">
                    <a:solidFill>
                      <a:srgbClr val="14243E"/>
                    </a:solidFill>
                  </a:tcPr>
                </a:tc>
                <a:tc>
                  <a:txBody>
                    <a:bodyPr/>
                    <a:lstStyle/>
                    <a:p>
                      <a:pPr>
                        <a:lnSpc>
                          <a:spcPct val="105000"/>
                        </a:lnSpc>
                        <a:spcBef>
                          <a:spcPts val="0"/>
                        </a:spcBef>
                        <a:spcAft>
                          <a:spcPts val="0"/>
                        </a:spcAft>
                      </a:pPr>
                      <a:r>
                        <a:rPr sz="1100" b="1">
                          <a:solidFill>
                            <a:srgbClr val="FFFFFF"/>
                          </a:solidFill>
                          <a:latin typeface="Segoe UI"/>
                        </a:rPr>
                        <a:t>Mechanism</a:t>
                      </a:r>
                    </a:p>
                  </a:txBody>
                  <a:tcPr marL="82296" marR="82296" marT="41148" marB="41148" anchor="ctr">
                    <a:solidFill>
                      <a:srgbClr val="14243E"/>
                    </a:solidFill>
                  </a:tcPr>
                </a:tc>
                <a:tc>
                  <a:txBody>
                    <a:bodyPr/>
                    <a:lstStyle/>
                    <a:p>
                      <a:pPr>
                        <a:lnSpc>
                          <a:spcPct val="105000"/>
                        </a:lnSpc>
                        <a:spcBef>
                          <a:spcPts val="0"/>
                        </a:spcBef>
                        <a:spcAft>
                          <a:spcPts val="0"/>
                        </a:spcAft>
                      </a:pPr>
                      <a:r>
                        <a:rPr sz="1100" b="1">
                          <a:solidFill>
                            <a:srgbClr val="FFFFFF"/>
                          </a:solidFill>
                          <a:latin typeface="Segoe UI"/>
                        </a:rPr>
                        <a:t>Where</a:t>
                      </a:r>
                    </a:p>
                  </a:txBody>
                  <a:tcPr marL="82296" marR="82296" marT="41148" marB="41148" anchor="ctr">
                    <a:solidFill>
                      <a:srgbClr val="14243E"/>
                    </a:solidFill>
                  </a:tcPr>
                </a:tc>
              </a:tr>
              <a:tr h="841248">
                <a:tc>
                  <a:txBody>
                    <a:bodyPr/>
                    <a:lstStyle/>
                    <a:p>
                      <a:pPr>
                        <a:lnSpc>
                          <a:spcPct val="105000"/>
                        </a:lnSpc>
                        <a:spcBef>
                          <a:spcPts val="0"/>
                        </a:spcBef>
                        <a:spcAft>
                          <a:spcPts val="0"/>
                        </a:spcAft>
                      </a:pPr>
                      <a:r>
                        <a:rPr sz="1000" b="1">
                          <a:solidFill>
                            <a:srgbClr val="14243E"/>
                          </a:solidFill>
                          <a:latin typeface="Segoe UI"/>
                        </a:rPr>
                        <a:t>Codex traces rejoin their session — the host anchors only the first trace of a thread</a:t>
                      </a:r>
                    </a:p>
                  </a:txBody>
                  <a:tcPr marL="82296" marR="82296" marT="41148" marB="41148" anchor="ctr">
                    <a:solidFill>
                      <a:srgbClr val="FFFFFF"/>
                    </a:solidFill>
                  </a:tcPr>
                </a:tc>
                <a:tc>
                  <a:txBody>
                    <a:bodyPr/>
                    <a:lstStyle/>
                    <a:p>
                      <a:pPr>
                        <a:lnSpc>
                          <a:spcPct val="105000"/>
                        </a:lnSpc>
                        <a:spcBef>
                          <a:spcPts val="0"/>
                        </a:spcBef>
                        <a:spcAft>
                          <a:spcPts val="0"/>
                        </a:spcAft>
                      </a:pPr>
                      <a:r>
                        <a:rPr sz="1000">
                          <a:solidFill>
                            <a:srgbClr val="1B1A19"/>
                          </a:solidFill>
                          <a:latin typeface="Segoe UI"/>
                        </a:rPr>
                        <a:t>codex_trace_sessions: seed a session alias per trace from Codex’s own conversation.id log records, then promote the whole conversation to the host’s id once any trace turns out to be anchored</a:t>
                      </a:r>
                    </a:p>
                  </a:txBody>
                  <a:tcPr marL="82296" marR="82296" marT="41148" marB="41148" anchor="ctr">
                    <a:solidFill>
                      <a:srgbClr val="FFFFFF"/>
                    </a:solidFill>
                  </a:tcPr>
                </a:tc>
                <a:tc>
                  <a:txBody>
                    <a:bodyPr/>
                    <a:lstStyle/>
                    <a:p>
                      <a:pPr>
                        <a:lnSpc>
                          <a:spcPct val="105000"/>
                        </a:lnSpc>
                        <a:spcBef>
                          <a:spcPts val="0"/>
                        </a:spcBef>
                        <a:spcAft>
                          <a:spcPts val="0"/>
                        </a:spcAft>
                      </a:pPr>
                      <a:r>
                        <a:rPr sz="950">
                          <a:solidFill>
                            <a:srgbClr val="0078D4"/>
                          </a:solidFill>
                          <a:latin typeface="Consolas"/>
                        </a:rPr>
                        <a:t>store.ts  ·  sessions.ts</a:t>
                      </a:r>
                    </a:p>
                  </a:txBody>
                  <a:tcPr marL="82296" marR="82296" marT="41148" marB="41148" anchor="ctr">
                    <a:solidFill>
                      <a:srgbClr val="FFFFFF"/>
                    </a:solidFill>
                  </a:tcPr>
                </a:tc>
              </a:tr>
              <a:tr h="841248">
                <a:tc>
                  <a:txBody>
                    <a:bodyPr/>
                    <a:lstStyle/>
                    <a:p>
                      <a:pPr>
                        <a:lnSpc>
                          <a:spcPct val="105000"/>
                        </a:lnSpc>
                        <a:spcBef>
                          <a:spcPts val="0"/>
                        </a:spcBef>
                        <a:spcAft>
                          <a:spcPts val="0"/>
                        </a:spcAft>
                      </a:pPr>
                      <a:r>
                        <a:rPr sz="1000" b="1">
                          <a:solidFill>
                            <a:srgbClr val="14243E"/>
                          </a:solidFill>
                          <a:latin typeface="Segoe UI"/>
                        </a:rPr>
                        <a:t>Codex echo-trace duplication — each host-executed tool call is logged a second time on its own trace</a:t>
                      </a:r>
                    </a:p>
                  </a:txBody>
                  <a:tcPr marL="82296" marR="82296" marT="41148" marB="41148" anchor="ctr">
                    <a:solidFill>
                      <a:srgbClr val="F7F7F9"/>
                    </a:solidFill>
                  </a:tcPr>
                </a:tc>
                <a:tc>
                  <a:txBody>
                    <a:bodyPr/>
                    <a:lstStyle/>
                    <a:p>
                      <a:pPr>
                        <a:lnSpc>
                          <a:spcPct val="105000"/>
                        </a:lnSpc>
                        <a:spcBef>
                          <a:spcPts val="0"/>
                        </a:spcBef>
                        <a:spcAft>
                          <a:spcPts val="0"/>
                        </a:spcAft>
                      </a:pPr>
                      <a:r>
                        <a:rPr sz="1000">
                          <a:solidFill>
                            <a:srgbClr val="1B1A19"/>
                          </a:solidFill>
                          <a:latin typeface="Segoe UI"/>
                        </a:rPr>
                        <a:t>ECHO_TRACE structural predicate: content events, but no prompt, no round trip and no model-call span. Excluded from sessions, still browsable in Traces</a:t>
                      </a:r>
                    </a:p>
                  </a:txBody>
                  <a:tcPr marL="82296" marR="82296" marT="41148" marB="41148" anchor="ctr">
                    <a:solidFill>
                      <a:srgbClr val="F7F7F9"/>
                    </a:solidFill>
                  </a:tcPr>
                </a:tc>
                <a:tc>
                  <a:txBody>
                    <a:bodyPr/>
                    <a:lstStyle/>
                    <a:p>
                      <a:pPr>
                        <a:lnSpc>
                          <a:spcPct val="105000"/>
                        </a:lnSpc>
                        <a:spcBef>
                          <a:spcPts val="0"/>
                        </a:spcBef>
                        <a:spcAft>
                          <a:spcPts val="0"/>
                        </a:spcAft>
                      </a:pPr>
                      <a:r>
                        <a:rPr sz="950">
                          <a:solidFill>
                            <a:srgbClr val="0078D4"/>
                          </a:solidFill>
                          <a:latin typeface="Consolas"/>
                        </a:rPr>
                        <a:t>sessions.ts</a:t>
                      </a:r>
                    </a:p>
                  </a:txBody>
                  <a:tcPr marL="82296" marR="82296" marT="41148" marB="41148" anchor="ctr">
                    <a:solidFill>
                      <a:srgbClr val="F7F7F9"/>
                    </a:solidFill>
                  </a:tcPr>
                </a:tc>
              </a:tr>
              <a:tr h="841248">
                <a:tc>
                  <a:txBody>
                    <a:bodyPr/>
                    <a:lstStyle/>
                    <a:p>
                      <a:pPr>
                        <a:lnSpc>
                          <a:spcPct val="105000"/>
                        </a:lnSpc>
                        <a:spcBef>
                          <a:spcPts val="0"/>
                        </a:spcBef>
                        <a:spcAft>
                          <a:spcPts val="0"/>
                        </a:spcAft>
                      </a:pPr>
                      <a:r>
                        <a:rPr sz="1000" b="1">
                          <a:solidFill>
                            <a:srgbClr val="14243E"/>
                          </a:solidFill>
                          <a:latin typeface="Segoe UI"/>
                        </a:rPr>
                        <a:t>Claude call-order reconstruction — api_request is logged when the round trip finishes, so records arrive before the call they close</a:t>
                      </a:r>
                    </a:p>
                  </a:txBody>
                  <a:tcPr marL="82296" marR="82296" marT="41148" marB="41148" anchor="ctr">
                    <a:solidFill>
                      <a:srgbClr val="FFFFFF"/>
                    </a:solidFill>
                  </a:tcPr>
                </a:tc>
                <a:tc>
                  <a:txBody>
                    <a:bodyPr/>
                    <a:lstStyle/>
                    <a:p>
                      <a:pPr>
                        <a:lnSpc>
                          <a:spcPct val="105000"/>
                        </a:lnSpc>
                        <a:spcBef>
                          <a:spcPts val="0"/>
                        </a:spcBef>
                        <a:spcAft>
                          <a:spcPts val="0"/>
                        </a:spcAft>
                      </a:pPr>
                      <a:r>
                        <a:rPr sz="1000">
                          <a:solidFill>
                            <a:srgbClr val="1B1A19"/>
                          </a:solidFill>
                          <a:latin typeface="Segoe UI"/>
                        </a:rPr>
                        <a:t>ClaudeCallDraft adopts an already-open unclaimed draft instead of minting a new call, so a 7-call agent loop splits into 7 turns rather than collapsing into 1</a:t>
                      </a:r>
                    </a:p>
                  </a:txBody>
                  <a:tcPr marL="82296" marR="82296" marT="41148" marB="41148" anchor="ctr">
                    <a:solidFill>
                      <a:srgbClr val="FFFFFF"/>
                    </a:solidFill>
                  </a:tcPr>
                </a:tc>
                <a:tc>
                  <a:txBody>
                    <a:bodyPr/>
                    <a:lstStyle/>
                    <a:p>
                      <a:pPr>
                        <a:lnSpc>
                          <a:spcPct val="105000"/>
                        </a:lnSpc>
                        <a:spcBef>
                          <a:spcPts val="0"/>
                        </a:spcBef>
                        <a:spcAft>
                          <a:spcPts val="0"/>
                        </a:spcAft>
                      </a:pPr>
                      <a:r>
                        <a:rPr sz="950">
                          <a:solidFill>
                            <a:srgbClr val="0078D4"/>
                          </a:solidFill>
                          <a:latin typeface="Consolas"/>
                        </a:rPr>
                        <a:t>sessions.ts</a:t>
                      </a:r>
                    </a:p>
                  </a:txBody>
                  <a:tcPr marL="82296" marR="82296" marT="41148" marB="41148" anchor="ctr">
                    <a:solidFill>
                      <a:srgbClr val="FFFFFF"/>
                    </a:solidFill>
                  </a:tcPr>
                </a:tc>
              </a:tr>
              <a:tr h="841248">
                <a:tc>
                  <a:txBody>
                    <a:bodyPr/>
                    <a:lstStyle/>
                    <a:p>
                      <a:pPr>
                        <a:lnSpc>
                          <a:spcPct val="105000"/>
                        </a:lnSpc>
                        <a:spcBef>
                          <a:spcPts val="0"/>
                        </a:spcBef>
                        <a:spcAft>
                          <a:spcPts val="0"/>
                        </a:spcAft>
                      </a:pPr>
                      <a:r>
                        <a:rPr sz="1000" b="1">
                          <a:solidFill>
                            <a:srgbClr val="14243E"/>
                          </a:solidFill>
                          <a:latin typeface="Segoe UI"/>
                        </a:rPr>
                        <a:t>Three cache-token conventions at once, plus parent spans that re-report their children</a:t>
                      </a:r>
                    </a:p>
                  </a:txBody>
                  <a:tcPr marL="82296" marR="82296" marT="41148" marB="41148" anchor="ctr">
                    <a:solidFill>
                      <a:srgbClr val="F7F7F9"/>
                    </a:solidFill>
                  </a:tcPr>
                </a:tc>
                <a:tc>
                  <a:txBody>
                    <a:bodyPr/>
                    <a:lstStyle/>
                    <a:p>
                      <a:pPr>
                        <a:lnSpc>
                          <a:spcPct val="105000"/>
                        </a:lnSpc>
                        <a:spcBef>
                          <a:spcPts val="0"/>
                        </a:spcBef>
                        <a:spcAft>
                          <a:spcPts val="0"/>
                        </a:spcAft>
                      </a:pPr>
                      <a:r>
                        <a:rPr sz="1000">
                          <a:solidFill>
                            <a:srgbClr val="1B1A19"/>
                          </a:solidFill>
                          <a:latin typeface="Segoe UI"/>
                        </a:rPr>
                        <a:t>is_additive flag per span in token_facts + conditional expansion at query time; rollup spans excluded at harvest by gen_ai.operation.name</a:t>
                      </a:r>
                    </a:p>
                  </a:txBody>
                  <a:tcPr marL="82296" marR="82296" marT="41148" marB="41148" anchor="ctr">
                    <a:solidFill>
                      <a:srgbClr val="F7F7F9"/>
                    </a:solidFill>
                  </a:tcPr>
                </a:tc>
                <a:tc>
                  <a:txBody>
                    <a:bodyPr/>
                    <a:lstStyle/>
                    <a:p>
                      <a:pPr>
                        <a:lnSpc>
                          <a:spcPct val="105000"/>
                        </a:lnSpc>
                        <a:spcBef>
                          <a:spcPts val="0"/>
                        </a:spcBef>
                        <a:spcAft>
                          <a:spcPts val="0"/>
                        </a:spcAft>
                      </a:pPr>
                      <a:r>
                        <a:rPr sz="950">
                          <a:solidFill>
                            <a:srgbClr val="0078D4"/>
                          </a:solidFill>
                          <a:latin typeface="Consolas"/>
                        </a:rPr>
                        <a:t>store.ts  ·  tokenRows.ts</a:t>
                      </a:r>
                    </a:p>
                  </a:txBody>
                  <a:tcPr marL="82296" marR="82296" marT="41148" marB="41148" anchor="ctr">
                    <a:solidFill>
                      <a:srgbClr val="F7F7F9"/>
                    </a:solidFill>
                  </a:tcPr>
                </a:tc>
              </a:tr>
              <a:tr h="841248">
                <a:tc>
                  <a:txBody>
                    <a:bodyPr/>
                    <a:lstStyle/>
                    <a:p>
                      <a:pPr>
                        <a:lnSpc>
                          <a:spcPct val="105000"/>
                        </a:lnSpc>
                        <a:spcBef>
                          <a:spcPts val="0"/>
                        </a:spcBef>
                        <a:spcAft>
                          <a:spcPts val="0"/>
                        </a:spcAft>
                      </a:pPr>
                      <a:r>
                        <a:rPr sz="1000" b="1">
                          <a:solidFill>
                            <a:srgbClr val="14243E"/>
                          </a:solidFill>
                          <a:latin typeface="Segoe UI"/>
                        </a:rPr>
                        <a:t>Agent-host span inflation and multi-turn projection — one physical trace holds many turns</a:t>
                      </a:r>
                    </a:p>
                  </a:txBody>
                  <a:tcPr marL="82296" marR="82296" marT="41148" marB="41148" anchor="ctr">
                    <a:solidFill>
                      <a:srgbClr val="FFFFFF"/>
                    </a:solidFill>
                  </a:tcPr>
                </a:tc>
                <a:tc>
                  <a:txBody>
                    <a:bodyPr/>
                    <a:lstStyle/>
                    <a:p>
                      <a:pPr>
                        <a:lnSpc>
                          <a:spcPct val="105000"/>
                        </a:lnSpc>
                        <a:spcBef>
                          <a:spcPts val="0"/>
                        </a:spcBef>
                        <a:spcAft>
                          <a:spcPts val="0"/>
                        </a:spcAft>
                      </a:pPr>
                      <a:r>
                        <a:rPr sz="1000">
                          <a:solidFill>
                            <a:srgbClr val="1B1A19"/>
                          </a:solidFill>
                          <a:latin typeface="Segoe UI"/>
                        </a:rPr>
                        <a:t>AGENT_SPAN_COUNT and AGENT_SERVICE_NAME exclude host spans; getTraces() promotes each direct child of a host root into a logical trace &lt;traceId&gt;:&lt;rootSpanId&gt;</a:t>
                      </a:r>
                    </a:p>
                  </a:txBody>
                  <a:tcPr marL="82296" marR="82296" marT="41148" marB="41148" anchor="ctr">
                    <a:solidFill>
                      <a:srgbClr val="FFFFFF"/>
                    </a:solidFill>
                  </a:tcPr>
                </a:tc>
                <a:tc>
                  <a:txBody>
                    <a:bodyPr/>
                    <a:lstStyle/>
                    <a:p>
                      <a:pPr>
                        <a:lnSpc>
                          <a:spcPct val="105000"/>
                        </a:lnSpc>
                        <a:spcBef>
                          <a:spcPts val="0"/>
                        </a:spcBef>
                        <a:spcAft>
                          <a:spcPts val="0"/>
                        </a:spcAft>
                      </a:pPr>
                      <a:r>
                        <a:rPr sz="950">
                          <a:solidFill>
                            <a:srgbClr val="0078D4"/>
                          </a:solidFill>
                          <a:latin typeface="Consolas"/>
                        </a:rPr>
                        <a:t>sessions.ts  ·  traces.ts</a:t>
                      </a:r>
                    </a:p>
                  </a:txBody>
                  <a:tcPr marL="82296" marR="82296" marT="41148" marB="41148" anchor="ctr">
                    <a:solidFill>
                      <a:srgbClr val="FFFFFF"/>
                    </a:solidFill>
                  </a:tcPr>
                </a:tc>
              </a:tr>
            </a:tbl>
          </a:graphicData>
        </a:graphic>
      </p:graphicFrame>
      <p:sp>
        <p:nvSpPr>
          <p:cNvPr id="10" name="TextBox 9"/>
          <p:cNvSpPr txBox="1"/>
          <p:nvPr/>
        </p:nvSpPr>
        <p:spPr>
          <a:xfrm>
            <a:off x="658368" y="6382512"/>
            <a:ext cx="8686800" cy="237744"/>
          </a:xfrm>
          <a:prstGeom prst="rect">
            <a:avLst/>
          </a:prstGeom>
          <a:noFill/>
        </p:spPr>
        <p:txBody>
          <a:bodyPr wrap="square" lIns="0" rIns="0" tIns="0" bIns="0" anchor="t">
            <a:spAutoFit/>
          </a:bodyPr>
          <a:lstStyle/>
          <a:p>
            <a:pPr algn="l">
              <a:spcBef>
                <a:spcPts val="0"/>
              </a:spcBef>
              <a:spcAft>
                <a:spcPts val="0"/>
              </a:spcAft>
            </a:pPr>
            <a:r>
              <a:rPr sz="900" b="0" i="0">
                <a:solidFill>
                  <a:srgbClr val="8A8886"/>
                </a:solidFill>
                <a:latin typeface="Segoe UI"/>
              </a:rPr>
              <a:t>Microsoft  ·  Agent Insights  ·  appendix</a:t>
            </a:r>
          </a:p>
        </p:txBody>
      </p:sp>
      <p:sp>
        <p:nvSpPr>
          <p:cNvPr id="11" name="TextBox 10"/>
          <p:cNvSpPr txBox="1"/>
          <p:nvPr/>
        </p:nvSpPr>
        <p:spPr>
          <a:xfrm>
            <a:off x="10835640" y="6382512"/>
            <a:ext cx="694944" cy="237744"/>
          </a:xfrm>
          <a:prstGeom prst="rect">
            <a:avLst/>
          </a:prstGeom>
          <a:noFill/>
        </p:spPr>
        <p:txBody>
          <a:bodyPr wrap="square" lIns="0" rIns="0" tIns="0" bIns="0" anchor="t">
            <a:spAutoFit/>
          </a:bodyPr>
          <a:lstStyle/>
          <a:p>
            <a:pPr algn="r">
              <a:spcBef>
                <a:spcPts val="0"/>
              </a:spcBef>
              <a:spcAft>
                <a:spcPts val="0"/>
              </a:spcAft>
            </a:pPr>
            <a:r>
              <a:rPr sz="900" b="0" i="0">
                <a:solidFill>
                  <a:srgbClr val="8A8886"/>
                </a:solidFill>
                <a:latin typeface="Segoe U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47925" cy="685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47923" y="0"/>
            <a:ext cx="3047925" cy="68580"/>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6095847" y="0"/>
            <a:ext cx="3047925" cy="6858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143771" y="0"/>
            <a:ext cx="3047925" cy="68580"/>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384048"/>
            <a:ext cx="10872216" cy="237744"/>
          </a:xfrm>
          <a:prstGeom prst="rect">
            <a:avLst/>
          </a:prstGeom>
          <a:noFill/>
        </p:spPr>
        <p:txBody>
          <a:bodyPr wrap="square" lIns="0" rIns="0" tIns="0" bIns="0" anchor="t">
            <a:spAutoFit/>
          </a:bodyPr>
          <a:lstStyle/>
          <a:p>
            <a:pPr algn="l">
              <a:spcBef>
                <a:spcPts val="0"/>
              </a:spcBef>
              <a:spcAft>
                <a:spcPts val="0"/>
              </a:spcAft>
            </a:pPr>
            <a:r>
              <a:rPr sz="1050" b="1" i="0">
                <a:solidFill>
                  <a:srgbClr val="0078D4"/>
                </a:solidFill>
                <a:latin typeface="Segoe UI Semibold"/>
              </a:rPr>
              <a:t>APPENDIX · LEARNINGS</a:t>
            </a:r>
          </a:p>
        </p:txBody>
      </p:sp>
      <p:sp>
        <p:nvSpPr>
          <p:cNvPr id="7" name="TextBox 6"/>
          <p:cNvSpPr txBox="1"/>
          <p:nvPr/>
        </p:nvSpPr>
        <p:spPr>
          <a:xfrm>
            <a:off x="658368" y="658368"/>
            <a:ext cx="10872216" cy="502920"/>
          </a:xfrm>
          <a:prstGeom prst="rect">
            <a:avLst/>
          </a:prstGeom>
          <a:noFill/>
        </p:spPr>
        <p:txBody>
          <a:bodyPr wrap="square" lIns="0" rIns="0" tIns="0" bIns="0" anchor="t">
            <a:spAutoFit/>
          </a:bodyPr>
          <a:lstStyle/>
          <a:p>
            <a:pPr algn="l">
              <a:spcBef>
                <a:spcPts val="0"/>
              </a:spcBef>
              <a:spcAft>
                <a:spcPts val="0"/>
              </a:spcAft>
            </a:pPr>
            <a:r>
              <a:rPr sz="2900" b="0" i="0">
                <a:solidFill>
                  <a:srgbClr val="14243E"/>
                </a:solidFill>
                <a:latin typeface="Segoe UI Light"/>
              </a:rPr>
              <a:t>The longer version, with the reasoning</a:t>
            </a:r>
          </a:p>
        </p:txBody>
      </p:sp>
      <p:sp>
        <p:nvSpPr>
          <p:cNvPr id="8" name="TextBox 7"/>
          <p:cNvSpPr txBox="1"/>
          <p:nvPr/>
        </p:nvSpPr>
        <p:spPr>
          <a:xfrm>
            <a:off x="658368" y="1207008"/>
            <a:ext cx="10872216" cy="329184"/>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605E5C"/>
                </a:solidFill>
                <a:latin typeface="Segoe UI"/>
              </a:rPr>
              <a:t>Not in the running order — here for Q&amp;A.</a:t>
            </a:r>
          </a:p>
        </p:txBody>
      </p:sp>
      <p:sp>
        <p:nvSpPr>
          <p:cNvPr id="9" name="Rectangle 8"/>
          <p:cNvSpPr/>
          <p:nvPr/>
        </p:nvSpPr>
        <p:spPr>
          <a:xfrm>
            <a:off x="658368" y="1591056"/>
            <a:ext cx="960120" cy="320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58368" y="1755648"/>
            <a:ext cx="10872216" cy="969264"/>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58368" y="1755648"/>
            <a:ext cx="64008" cy="96926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932688" y="2048256"/>
            <a:ext cx="438912" cy="438912"/>
          </a:xfrm>
          <a:prstGeom prst="roundRect">
            <a:avLst>
              <a:gd name="adj" fmla="val 50000"/>
            </a:avLst>
          </a:prstGeom>
          <a:solidFill>
            <a:srgbClr val="0078D4"/>
          </a:solidFill>
          <a:ln w="127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500" b="1" i="0">
                <a:solidFill>
                  <a:srgbClr val="FFFFFF"/>
                </a:solidFill>
                <a:latin typeface="Segoe UI"/>
              </a:rPr>
              <a:t>1</a:t>
            </a:r>
          </a:p>
        </p:txBody>
      </p:sp>
      <p:sp>
        <p:nvSpPr>
          <p:cNvPr id="13" name="TextBox 12"/>
          <p:cNvSpPr txBox="1"/>
          <p:nvPr/>
        </p:nvSpPr>
        <p:spPr>
          <a:xfrm>
            <a:off x="1572768" y="1938528"/>
            <a:ext cx="9692640" cy="822960"/>
          </a:xfrm>
          <a:prstGeom prst="rect">
            <a:avLst/>
          </a:prstGeom>
          <a:noFill/>
        </p:spPr>
        <p:txBody>
          <a:bodyPr wrap="square" lIns="0" rIns="0" tIns="0" bIns="0" anchor="t">
            <a:spAutoFit/>
          </a:bodyPr>
          <a:lstStyle/>
          <a:p>
            <a:pPr algn="l">
              <a:spcBef>
                <a:spcPts val="0"/>
              </a:spcBef>
              <a:spcAft>
                <a:spcPts val="500"/>
              </a:spcAft>
            </a:pPr>
            <a:r>
              <a:rPr sz="1450" b="1" i="0">
                <a:solidFill>
                  <a:srgbClr val="14243E"/>
                </a:solidFill>
                <a:latin typeface="Segoe UI"/>
              </a:rPr>
              <a:t>Build for what the data shows, not for who sent it</a:t>
            </a:r>
          </a:p>
          <a:p>
            <a:pPr algn="l">
              <a:lnSpc>
                <a:spcPct val="122000"/>
              </a:lnSpc>
              <a:spcBef>
                <a:spcPts val="0"/>
              </a:spcBef>
              <a:spcAft>
                <a:spcPts val="0"/>
              </a:spcAft>
            </a:pPr>
            <a:r>
              <a:rPr sz="1150" b="0" i="0">
                <a:solidFill>
                  <a:srgbClr val="605E5C"/>
                </a:solidFill>
                <a:latin typeface="Segoe UI"/>
              </a:rPr>
              <a:t>Every filter written as “if it’s Codex, do X” would have rotted within a release. ECHO_TRACE is defined by shape — has content, no prompt, no round trip, no model-call span — and that is why it still holds. Harness-specific code is a dated cheque.</a:t>
            </a:r>
          </a:p>
        </p:txBody>
      </p:sp>
      <p:sp>
        <p:nvSpPr>
          <p:cNvPr id="14" name="Rounded Rectangle 13"/>
          <p:cNvSpPr/>
          <p:nvPr/>
        </p:nvSpPr>
        <p:spPr>
          <a:xfrm>
            <a:off x="658368" y="2843784"/>
            <a:ext cx="10872216" cy="969264"/>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58368" y="2843784"/>
            <a:ext cx="64008" cy="969264"/>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932688" y="3136392"/>
            <a:ext cx="438912" cy="438912"/>
          </a:xfrm>
          <a:prstGeom prst="roundRect">
            <a:avLst>
              <a:gd name="adj" fmla="val 50000"/>
            </a:avLst>
          </a:prstGeom>
          <a:solidFill>
            <a:srgbClr val="E3008C"/>
          </a:solidFill>
          <a:ln w="12700">
            <a:solidFill>
              <a:srgbClr val="E3008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500" b="1" i="0">
                <a:solidFill>
                  <a:srgbClr val="FFFFFF"/>
                </a:solidFill>
                <a:latin typeface="Segoe UI"/>
              </a:rPr>
              <a:t>2</a:t>
            </a:r>
          </a:p>
        </p:txBody>
      </p:sp>
      <p:sp>
        <p:nvSpPr>
          <p:cNvPr id="17" name="TextBox 16"/>
          <p:cNvSpPr txBox="1"/>
          <p:nvPr/>
        </p:nvSpPr>
        <p:spPr>
          <a:xfrm>
            <a:off x="1572768" y="3026664"/>
            <a:ext cx="9692640" cy="822960"/>
          </a:xfrm>
          <a:prstGeom prst="rect">
            <a:avLst/>
          </a:prstGeom>
          <a:noFill/>
        </p:spPr>
        <p:txBody>
          <a:bodyPr wrap="square" lIns="0" rIns="0" tIns="0" bIns="0" anchor="t">
            <a:spAutoFit/>
          </a:bodyPr>
          <a:lstStyle/>
          <a:p>
            <a:pPr algn="l">
              <a:spcBef>
                <a:spcPts val="0"/>
              </a:spcBef>
              <a:spcAft>
                <a:spcPts val="500"/>
              </a:spcAft>
            </a:pPr>
            <a:r>
              <a:rPr sz="1450" b="1" i="0">
                <a:solidFill>
                  <a:srgbClr val="14243E"/>
                </a:solidFill>
                <a:latin typeface="Segoe UI"/>
              </a:rPr>
              <a:t>A platform moving under you changes which problem you’re solving</a:t>
            </a:r>
          </a:p>
          <a:p>
            <a:pPr algn="l">
              <a:lnSpc>
                <a:spcPct val="122000"/>
              </a:lnSpc>
              <a:spcBef>
                <a:spcPts val="0"/>
              </a:spcBef>
              <a:spcAft>
                <a:spcPts val="0"/>
              </a:spcAft>
            </a:pPr>
            <a:r>
              <a:rPr sz="1150" b="0" i="0">
                <a:solidFill>
                  <a:srgbClr val="605E5C"/>
                </a:solidFill>
                <a:latin typeface="Segoe UI"/>
              </a:rPr>
              <a:t>The agent host arrived mid-project and made collection easier and interpretation harder. The lesson isn’t “platforms are unstable” — it’s that the moment the plumbing gets solved for you, the remaining value moves up a layer, into semantics. Plan to be there.</a:t>
            </a:r>
          </a:p>
        </p:txBody>
      </p:sp>
      <p:sp>
        <p:nvSpPr>
          <p:cNvPr id="18" name="Rounded Rectangle 17"/>
          <p:cNvSpPr/>
          <p:nvPr/>
        </p:nvSpPr>
        <p:spPr>
          <a:xfrm>
            <a:off x="658368" y="3931920"/>
            <a:ext cx="10872216" cy="969264"/>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58368" y="3931920"/>
            <a:ext cx="64008" cy="969264"/>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932688" y="4224528"/>
            <a:ext cx="438912" cy="438912"/>
          </a:xfrm>
          <a:prstGeom prst="roundRect">
            <a:avLst>
              <a:gd name="adj" fmla="val 50000"/>
            </a:avLst>
          </a:prstGeom>
          <a:solidFill>
            <a:srgbClr val="8661C5"/>
          </a:solidFill>
          <a:ln w="12700">
            <a:solidFill>
              <a:srgbClr val="8661C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500" b="1" i="0">
                <a:solidFill>
                  <a:srgbClr val="FFFFFF"/>
                </a:solidFill>
                <a:latin typeface="Segoe UI"/>
              </a:rPr>
              <a:t>3</a:t>
            </a:r>
          </a:p>
        </p:txBody>
      </p:sp>
      <p:sp>
        <p:nvSpPr>
          <p:cNvPr id="21" name="TextBox 20"/>
          <p:cNvSpPr txBox="1"/>
          <p:nvPr/>
        </p:nvSpPr>
        <p:spPr>
          <a:xfrm>
            <a:off x="1572768" y="4114800"/>
            <a:ext cx="9692640" cy="822960"/>
          </a:xfrm>
          <a:prstGeom prst="rect">
            <a:avLst/>
          </a:prstGeom>
          <a:noFill/>
        </p:spPr>
        <p:txBody>
          <a:bodyPr wrap="square" lIns="0" rIns="0" tIns="0" bIns="0" anchor="t">
            <a:spAutoFit/>
          </a:bodyPr>
          <a:lstStyle/>
          <a:p>
            <a:pPr algn="l">
              <a:spcBef>
                <a:spcPts val="0"/>
              </a:spcBef>
              <a:spcAft>
                <a:spcPts val="500"/>
              </a:spcAft>
            </a:pPr>
            <a:r>
              <a:rPr sz="1450" b="1" i="0">
                <a:solidFill>
                  <a:srgbClr val="14243E"/>
                </a:solidFill>
                <a:latin typeface="Segoe UI"/>
              </a:rPr>
              <a:t>The hard part was never the pipeline</a:t>
            </a:r>
          </a:p>
          <a:p>
            <a:pPr algn="l">
              <a:lnSpc>
                <a:spcPct val="122000"/>
              </a:lnSpc>
              <a:spcBef>
                <a:spcPts val="0"/>
              </a:spcBef>
              <a:spcAft>
                <a:spcPts val="0"/>
              </a:spcAft>
            </a:pPr>
            <a:r>
              <a:rPr sz="1150" b="0" i="0">
                <a:solidFill>
                  <a:srgbClr val="605E5C"/>
                </a:solidFill>
                <a:latin typeface="Segoe UI"/>
              </a:rPr>
              <a:t>The receiver is ~200 lines. The normalization layer is ~2 600. That ratio is the finding: OTel collection is commodity; making three vendors’ emissions mean the same thing is not.</a:t>
            </a:r>
          </a:p>
        </p:txBody>
      </p:sp>
      <p:sp>
        <p:nvSpPr>
          <p:cNvPr id="22" name="Rounded Rectangle 21"/>
          <p:cNvSpPr/>
          <p:nvPr/>
        </p:nvSpPr>
        <p:spPr>
          <a:xfrm>
            <a:off x="658368" y="5020056"/>
            <a:ext cx="10872216" cy="969264"/>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658368" y="5020056"/>
            <a:ext cx="64008" cy="969264"/>
          </a:xfrm>
          <a:prstGeom prst="rect">
            <a:avLst/>
          </a:prstGeom>
          <a:solidFill>
            <a:srgbClr val="E87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932688" y="5312664"/>
            <a:ext cx="438912" cy="438912"/>
          </a:xfrm>
          <a:prstGeom prst="roundRect">
            <a:avLst>
              <a:gd name="adj" fmla="val 50000"/>
            </a:avLst>
          </a:prstGeom>
          <a:solidFill>
            <a:srgbClr val="E87C00"/>
          </a:solidFill>
          <a:ln w="12700">
            <a:solidFill>
              <a:srgbClr val="E87C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500" b="1" i="0">
                <a:solidFill>
                  <a:srgbClr val="FFFFFF"/>
                </a:solidFill>
                <a:latin typeface="Segoe UI"/>
              </a:rPr>
              <a:t>4</a:t>
            </a:r>
          </a:p>
        </p:txBody>
      </p:sp>
      <p:sp>
        <p:nvSpPr>
          <p:cNvPr id="25" name="TextBox 24"/>
          <p:cNvSpPr txBox="1"/>
          <p:nvPr/>
        </p:nvSpPr>
        <p:spPr>
          <a:xfrm>
            <a:off x="1572768" y="5202936"/>
            <a:ext cx="9692640" cy="822960"/>
          </a:xfrm>
          <a:prstGeom prst="rect">
            <a:avLst/>
          </a:prstGeom>
          <a:noFill/>
        </p:spPr>
        <p:txBody>
          <a:bodyPr wrap="square" lIns="0" rIns="0" tIns="0" bIns="0" anchor="t">
            <a:spAutoFit/>
          </a:bodyPr>
          <a:lstStyle/>
          <a:p>
            <a:pPr algn="l">
              <a:spcBef>
                <a:spcPts val="0"/>
              </a:spcBef>
              <a:spcAft>
                <a:spcPts val="500"/>
              </a:spcAft>
            </a:pPr>
            <a:r>
              <a:rPr sz="1450" b="1" i="0">
                <a:solidFill>
                  <a:srgbClr val="14243E"/>
                </a:solidFill>
                <a:latin typeface="Segoe UI"/>
              </a:rPr>
              <a:t>Choosing what not to build is part of building it</a:t>
            </a:r>
          </a:p>
          <a:p>
            <a:pPr algn="l">
              <a:lnSpc>
                <a:spcPct val="122000"/>
              </a:lnSpc>
              <a:spcBef>
                <a:spcPts val="0"/>
              </a:spcBef>
              <a:spcAft>
                <a:spcPts val="0"/>
              </a:spcAft>
            </a:pPr>
            <a:r>
              <a:rPr sz="1150" b="0" i="0">
                <a:solidFill>
                  <a:srgbClr val="605E5C"/>
                </a:solidFill>
                <a:latin typeface="Segoe UI"/>
              </a:rPr>
              <a:t>I aimed the whole project at agent sessions rather than generic app traces, and went deep on one surface instead of wide on several. Scope that narrowed on one axis went much further on another — and I can point at the reason.</a:t>
            </a:r>
          </a:p>
        </p:txBody>
      </p:sp>
      <p:sp>
        <p:nvSpPr>
          <p:cNvPr id="26" name="TextBox 25"/>
          <p:cNvSpPr txBox="1"/>
          <p:nvPr/>
        </p:nvSpPr>
        <p:spPr>
          <a:xfrm>
            <a:off x="658368" y="6382512"/>
            <a:ext cx="8686800" cy="237744"/>
          </a:xfrm>
          <a:prstGeom prst="rect">
            <a:avLst/>
          </a:prstGeom>
          <a:noFill/>
        </p:spPr>
        <p:txBody>
          <a:bodyPr wrap="square" lIns="0" rIns="0" tIns="0" bIns="0" anchor="t">
            <a:spAutoFit/>
          </a:bodyPr>
          <a:lstStyle/>
          <a:p>
            <a:pPr algn="l">
              <a:spcBef>
                <a:spcPts val="0"/>
              </a:spcBef>
              <a:spcAft>
                <a:spcPts val="0"/>
              </a:spcAft>
            </a:pPr>
            <a:r>
              <a:rPr sz="900" b="0" i="0">
                <a:solidFill>
                  <a:srgbClr val="8A8886"/>
                </a:solidFill>
                <a:latin typeface="Segoe UI"/>
              </a:rPr>
              <a:t>Microsoft  ·  Agent Insights  ·  appendix</a:t>
            </a:r>
          </a:p>
        </p:txBody>
      </p:sp>
      <p:sp>
        <p:nvSpPr>
          <p:cNvPr id="27" name="TextBox 26"/>
          <p:cNvSpPr txBox="1"/>
          <p:nvPr/>
        </p:nvSpPr>
        <p:spPr>
          <a:xfrm>
            <a:off x="10835640" y="6382512"/>
            <a:ext cx="694944" cy="237744"/>
          </a:xfrm>
          <a:prstGeom prst="rect">
            <a:avLst/>
          </a:prstGeom>
          <a:noFill/>
        </p:spPr>
        <p:txBody>
          <a:bodyPr wrap="square" lIns="0" rIns="0" tIns="0" bIns="0" anchor="t">
            <a:spAutoFit/>
          </a:bodyPr>
          <a:lstStyle/>
          <a:p>
            <a:pPr algn="r">
              <a:spcBef>
                <a:spcPts val="0"/>
              </a:spcBef>
              <a:spcAft>
                <a:spcPts val="0"/>
              </a:spcAft>
            </a:pPr>
            <a:r>
              <a:rPr sz="900" b="0" i="0">
                <a:solidFill>
                  <a:srgbClr val="8A8886"/>
                </a:solidFill>
                <a:latin typeface="Segoe U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47925" cy="685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47923" y="0"/>
            <a:ext cx="3047925" cy="68580"/>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6095847" y="0"/>
            <a:ext cx="3047925" cy="6858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143771" y="0"/>
            <a:ext cx="3047925" cy="68580"/>
          </a:xfrm>
          <a:prstGeom prst="rect">
            <a:avLst/>
          </a:prstGeom>
          <a:solidFill>
            <a:srgbClr val="E300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384048"/>
            <a:ext cx="10872216" cy="237744"/>
          </a:xfrm>
          <a:prstGeom prst="rect">
            <a:avLst/>
          </a:prstGeom>
          <a:noFill/>
        </p:spPr>
        <p:txBody>
          <a:bodyPr wrap="square" lIns="0" rIns="0" tIns="0" bIns="0" anchor="t">
            <a:spAutoFit/>
          </a:bodyPr>
          <a:lstStyle/>
          <a:p>
            <a:pPr algn="l">
              <a:spcBef>
                <a:spcPts val="0"/>
              </a:spcBef>
              <a:spcAft>
                <a:spcPts val="0"/>
              </a:spcAft>
            </a:pPr>
            <a:r>
              <a:rPr sz="1050" b="1" i="0">
                <a:solidFill>
                  <a:srgbClr val="0078D4"/>
                </a:solidFill>
                <a:latin typeface="Segoe UI Semibold"/>
              </a:rPr>
              <a:t>APPENDIX · LEARNINGS</a:t>
            </a:r>
          </a:p>
        </p:txBody>
      </p:sp>
      <p:sp>
        <p:nvSpPr>
          <p:cNvPr id="7" name="TextBox 6"/>
          <p:cNvSpPr txBox="1"/>
          <p:nvPr/>
        </p:nvSpPr>
        <p:spPr>
          <a:xfrm>
            <a:off x="658368" y="658368"/>
            <a:ext cx="10872216" cy="502920"/>
          </a:xfrm>
          <a:prstGeom prst="rect">
            <a:avLst/>
          </a:prstGeom>
          <a:noFill/>
        </p:spPr>
        <p:txBody>
          <a:bodyPr wrap="square" lIns="0" rIns="0" tIns="0" bIns="0" anchor="t">
            <a:spAutoFit/>
          </a:bodyPr>
          <a:lstStyle/>
          <a:p>
            <a:pPr algn="l">
              <a:spcBef>
                <a:spcPts val="0"/>
              </a:spcBef>
              <a:spcAft>
                <a:spcPts val="0"/>
              </a:spcAft>
            </a:pPr>
            <a:r>
              <a:rPr sz="2900" b="0" i="0">
                <a:solidFill>
                  <a:srgbClr val="14243E"/>
                </a:solidFill>
                <a:latin typeface="Segoe UI Light"/>
              </a:rPr>
              <a:t>Four more, all of them things that bit me</a:t>
            </a:r>
          </a:p>
        </p:txBody>
      </p:sp>
      <p:sp>
        <p:nvSpPr>
          <p:cNvPr id="8" name="TextBox 7"/>
          <p:cNvSpPr txBox="1"/>
          <p:nvPr/>
        </p:nvSpPr>
        <p:spPr>
          <a:xfrm>
            <a:off x="658368" y="1207008"/>
            <a:ext cx="10872216" cy="329184"/>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605E5C"/>
                </a:solidFill>
                <a:latin typeface="Segoe UI"/>
              </a:rPr>
              <a:t>Not in the running order — here for Q&amp;A.</a:t>
            </a:r>
          </a:p>
        </p:txBody>
      </p:sp>
      <p:sp>
        <p:nvSpPr>
          <p:cNvPr id="9" name="Rectangle 8"/>
          <p:cNvSpPr/>
          <p:nvPr/>
        </p:nvSpPr>
        <p:spPr>
          <a:xfrm>
            <a:off x="658368" y="1591056"/>
            <a:ext cx="960120" cy="320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58368" y="1755648"/>
            <a:ext cx="10872216" cy="969264"/>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58368" y="1755648"/>
            <a:ext cx="64008" cy="969264"/>
          </a:xfrm>
          <a:prstGeom prst="rect">
            <a:avLst/>
          </a:prstGeom>
          <a:solidFill>
            <a:srgbClr val="00B7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932688" y="2048256"/>
            <a:ext cx="438912" cy="438912"/>
          </a:xfrm>
          <a:prstGeom prst="roundRect">
            <a:avLst>
              <a:gd name="adj" fmla="val 50000"/>
            </a:avLst>
          </a:prstGeom>
          <a:solidFill>
            <a:srgbClr val="00B7C3"/>
          </a:solidFill>
          <a:ln w="12700">
            <a:solidFill>
              <a:srgbClr val="00B7C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500" b="1" i="0">
                <a:solidFill>
                  <a:srgbClr val="FFFFFF"/>
                </a:solidFill>
                <a:latin typeface="Segoe UI"/>
              </a:rPr>
              <a:t>5</a:t>
            </a:r>
          </a:p>
        </p:txBody>
      </p:sp>
      <p:sp>
        <p:nvSpPr>
          <p:cNvPr id="13" name="TextBox 12"/>
          <p:cNvSpPr txBox="1"/>
          <p:nvPr/>
        </p:nvSpPr>
        <p:spPr>
          <a:xfrm>
            <a:off x="1572768" y="1938528"/>
            <a:ext cx="9692640" cy="822960"/>
          </a:xfrm>
          <a:prstGeom prst="rect">
            <a:avLst/>
          </a:prstGeom>
          <a:noFill/>
        </p:spPr>
        <p:txBody>
          <a:bodyPr wrap="square" lIns="0" rIns="0" tIns="0" bIns="0" anchor="t">
            <a:spAutoFit/>
          </a:bodyPr>
          <a:lstStyle/>
          <a:p>
            <a:pPr algn="l">
              <a:spcBef>
                <a:spcPts val="0"/>
              </a:spcBef>
              <a:spcAft>
                <a:spcPts val="500"/>
              </a:spcAft>
            </a:pPr>
            <a:r>
              <a:rPr sz="1450" b="1" i="0">
                <a:solidFill>
                  <a:srgbClr val="14243E"/>
                </a:solidFill>
                <a:latin typeface="Segoe UI"/>
              </a:rPr>
              <a:t>Measure before optimizing — then measure the optimizer</a:t>
            </a:r>
          </a:p>
          <a:p>
            <a:pPr algn="l">
              <a:lnSpc>
                <a:spcPct val="122000"/>
              </a:lnSpc>
              <a:spcBef>
                <a:spcPts val="0"/>
              </a:spcBef>
              <a:spcAft>
                <a:spcPts val="0"/>
              </a:spcAft>
            </a:pPr>
            <a:r>
              <a:rPr sz="1150" b="0" i="0">
                <a:solidFill>
                  <a:srgbClr val="605E5C"/>
                </a:solidFill>
                <a:latin typeface="Segoe UI"/>
              </a:rPr>
              <a:t>ANALYZE was an 8.4 s → 0.2 s difference and it is one statement. Column order in a SQLite table was an order of magnitude on scans. Neither was where I would have guessed.</a:t>
            </a:r>
          </a:p>
        </p:txBody>
      </p:sp>
      <p:sp>
        <p:nvSpPr>
          <p:cNvPr id="14" name="Rounded Rectangle 13"/>
          <p:cNvSpPr/>
          <p:nvPr/>
        </p:nvSpPr>
        <p:spPr>
          <a:xfrm>
            <a:off x="658368" y="2843784"/>
            <a:ext cx="10872216" cy="969264"/>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58368" y="2843784"/>
            <a:ext cx="64008" cy="969264"/>
          </a:xfrm>
          <a:prstGeom prst="rect">
            <a:avLst/>
          </a:prstGeom>
          <a:solidFill>
            <a:srgbClr val="D134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932688" y="3136392"/>
            <a:ext cx="438912" cy="438912"/>
          </a:xfrm>
          <a:prstGeom prst="roundRect">
            <a:avLst>
              <a:gd name="adj" fmla="val 50000"/>
            </a:avLst>
          </a:prstGeom>
          <a:solidFill>
            <a:srgbClr val="D13438"/>
          </a:solidFill>
          <a:ln w="12700">
            <a:solidFill>
              <a:srgbClr val="D1343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500" b="1" i="0">
                <a:solidFill>
                  <a:srgbClr val="FFFFFF"/>
                </a:solidFill>
                <a:latin typeface="Segoe UI"/>
              </a:rPr>
              <a:t>6</a:t>
            </a:r>
          </a:p>
        </p:txBody>
      </p:sp>
      <p:sp>
        <p:nvSpPr>
          <p:cNvPr id="17" name="TextBox 16"/>
          <p:cNvSpPr txBox="1"/>
          <p:nvPr/>
        </p:nvSpPr>
        <p:spPr>
          <a:xfrm>
            <a:off x="1572768" y="3026664"/>
            <a:ext cx="9692640" cy="822960"/>
          </a:xfrm>
          <a:prstGeom prst="rect">
            <a:avLst/>
          </a:prstGeom>
          <a:noFill/>
        </p:spPr>
        <p:txBody>
          <a:bodyPr wrap="square" lIns="0" rIns="0" tIns="0" bIns="0" anchor="t">
            <a:spAutoFit/>
          </a:bodyPr>
          <a:lstStyle/>
          <a:p>
            <a:pPr algn="l">
              <a:spcBef>
                <a:spcPts val="0"/>
              </a:spcBef>
              <a:spcAft>
                <a:spcPts val="500"/>
              </a:spcAft>
            </a:pPr>
            <a:r>
              <a:rPr sz="1450" b="1" i="0">
                <a:solidFill>
                  <a:srgbClr val="14243E"/>
                </a:solidFill>
                <a:latin typeface="Segoe UI"/>
              </a:rPr>
              <a:t>Blocking the extension host is a product bug, not a perf bug</a:t>
            </a:r>
          </a:p>
          <a:p>
            <a:pPr algn="l">
              <a:lnSpc>
                <a:spcPct val="122000"/>
              </a:lnSpc>
              <a:spcBef>
                <a:spcPts val="0"/>
              </a:spcBef>
              <a:spcAft>
                <a:spcPts val="0"/>
              </a:spcAft>
            </a:pPr>
            <a:r>
              <a:rPr sz="1150" b="0" i="0">
                <a:solidFill>
                  <a:srgbClr val="605E5C"/>
                </a:solidFill>
                <a:latin typeface="Segoe UI"/>
              </a:rPr>
              <a:t>A slow query froze the whole editor — not the panel, the editor. Moving the database onto a worker thread was the single change that made this feel like a real extension.</a:t>
            </a:r>
          </a:p>
        </p:txBody>
      </p:sp>
      <p:sp>
        <p:nvSpPr>
          <p:cNvPr id="18" name="Rounded Rectangle 17"/>
          <p:cNvSpPr/>
          <p:nvPr/>
        </p:nvSpPr>
        <p:spPr>
          <a:xfrm>
            <a:off x="658368" y="3931920"/>
            <a:ext cx="10872216" cy="969264"/>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58368" y="3931920"/>
            <a:ext cx="64008" cy="969264"/>
          </a:xfrm>
          <a:prstGeom prst="rect">
            <a:avLst/>
          </a:prstGeom>
          <a:solidFill>
            <a:srgbClr val="E87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932688" y="4224528"/>
            <a:ext cx="438912" cy="438912"/>
          </a:xfrm>
          <a:prstGeom prst="roundRect">
            <a:avLst>
              <a:gd name="adj" fmla="val 50000"/>
            </a:avLst>
          </a:prstGeom>
          <a:solidFill>
            <a:srgbClr val="E87C00"/>
          </a:solidFill>
          <a:ln w="12700">
            <a:solidFill>
              <a:srgbClr val="E87C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500" b="1" i="0">
                <a:solidFill>
                  <a:srgbClr val="FFFFFF"/>
                </a:solidFill>
                <a:latin typeface="Segoe UI"/>
              </a:rPr>
              <a:t>7</a:t>
            </a:r>
          </a:p>
        </p:txBody>
      </p:sp>
      <p:sp>
        <p:nvSpPr>
          <p:cNvPr id="21" name="TextBox 20"/>
          <p:cNvSpPr txBox="1"/>
          <p:nvPr/>
        </p:nvSpPr>
        <p:spPr>
          <a:xfrm>
            <a:off x="1572768" y="4114800"/>
            <a:ext cx="9692640" cy="822960"/>
          </a:xfrm>
          <a:prstGeom prst="rect">
            <a:avLst/>
          </a:prstGeom>
          <a:noFill/>
        </p:spPr>
        <p:txBody>
          <a:bodyPr wrap="square" lIns="0" rIns="0" tIns="0" bIns="0" anchor="t">
            <a:spAutoFit/>
          </a:bodyPr>
          <a:lstStyle/>
          <a:p>
            <a:pPr algn="l">
              <a:spcBef>
                <a:spcPts val="0"/>
              </a:spcBef>
              <a:spcAft>
                <a:spcPts val="500"/>
              </a:spcAft>
            </a:pPr>
            <a:r>
              <a:rPr sz="1450" b="1" i="0">
                <a:solidFill>
                  <a:srgbClr val="14243E"/>
                </a:solidFill>
                <a:latin typeface="Segoe UI"/>
              </a:rPr>
              <a:t>Silence is the worst failure mode</a:t>
            </a:r>
          </a:p>
          <a:p>
            <a:pPr algn="l">
              <a:lnSpc>
                <a:spcPct val="122000"/>
              </a:lnSpc>
              <a:spcBef>
                <a:spcPts val="0"/>
              </a:spcBef>
              <a:spcAft>
                <a:spcPts val="0"/>
              </a:spcAft>
            </a:pPr>
            <a:r>
              <a:rPr sz="1150" b="0" i="0">
                <a:solidFill>
                  <a:srgbClr val="605E5C"/>
                </a:solidFill>
                <a:latin typeface="Segoe UI"/>
              </a:rPr>
              <a:t>A port mismatch dropped every span with no error anywhere. A thrown query error vanished into a console the user never sees and left “loading spans…” on screen forever. Both fixes were about making failure visible, and both mattered more than any feature.</a:t>
            </a:r>
          </a:p>
        </p:txBody>
      </p:sp>
      <p:sp>
        <p:nvSpPr>
          <p:cNvPr id="22" name="Rounded Rectangle 21"/>
          <p:cNvSpPr/>
          <p:nvPr/>
        </p:nvSpPr>
        <p:spPr>
          <a:xfrm>
            <a:off x="658368" y="5020056"/>
            <a:ext cx="10872216" cy="969264"/>
          </a:xfrm>
          <a:prstGeom prst="roundRect">
            <a:avLst>
              <a:gd name="adj" fmla="val 4500"/>
            </a:avLst>
          </a:prstGeom>
          <a:solidFill>
            <a:srgbClr val="FFFFFF"/>
          </a:solidFill>
          <a:ln w="12700">
            <a:solidFill>
              <a:srgbClr val="E1DF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658368" y="5020056"/>
            <a:ext cx="64008" cy="969264"/>
          </a:xfrm>
          <a:prstGeom prst="rect">
            <a:avLst/>
          </a:prstGeom>
          <a:solidFill>
            <a:srgbClr val="0E70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932688" y="5312664"/>
            <a:ext cx="438912" cy="438912"/>
          </a:xfrm>
          <a:prstGeom prst="roundRect">
            <a:avLst>
              <a:gd name="adj" fmla="val 50000"/>
            </a:avLst>
          </a:prstGeom>
          <a:solidFill>
            <a:srgbClr val="0E700E"/>
          </a:solidFill>
          <a:ln w="12700">
            <a:solidFill>
              <a:srgbClr val="0E700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500" b="1" i="0">
                <a:solidFill>
                  <a:srgbClr val="FFFFFF"/>
                </a:solidFill>
                <a:latin typeface="Segoe UI"/>
              </a:rPr>
              <a:t>8</a:t>
            </a:r>
          </a:p>
        </p:txBody>
      </p:sp>
      <p:sp>
        <p:nvSpPr>
          <p:cNvPr id="25" name="TextBox 24"/>
          <p:cNvSpPr txBox="1"/>
          <p:nvPr/>
        </p:nvSpPr>
        <p:spPr>
          <a:xfrm>
            <a:off x="1572768" y="5202936"/>
            <a:ext cx="9692640" cy="822960"/>
          </a:xfrm>
          <a:prstGeom prst="rect">
            <a:avLst/>
          </a:prstGeom>
          <a:noFill/>
        </p:spPr>
        <p:txBody>
          <a:bodyPr wrap="square" lIns="0" rIns="0" tIns="0" bIns="0" anchor="t">
            <a:spAutoFit/>
          </a:bodyPr>
          <a:lstStyle/>
          <a:p>
            <a:pPr algn="l">
              <a:spcBef>
                <a:spcPts val="0"/>
              </a:spcBef>
              <a:spcAft>
                <a:spcPts val="500"/>
              </a:spcAft>
            </a:pPr>
            <a:r>
              <a:rPr sz="1450" b="1" i="0">
                <a:solidFill>
                  <a:srgbClr val="14243E"/>
                </a:solidFill>
                <a:latin typeface="Segoe UI"/>
              </a:rPr>
              <a:t>Design for the agent as a first-class consumer</a:t>
            </a:r>
          </a:p>
          <a:p>
            <a:pPr algn="l">
              <a:lnSpc>
                <a:spcPct val="122000"/>
              </a:lnSpc>
              <a:spcBef>
                <a:spcPts val="0"/>
              </a:spcBef>
              <a:spcAft>
                <a:spcPts val="0"/>
              </a:spcAft>
            </a:pPr>
            <a:r>
              <a:rPr sz="1150" b="0" i="0">
                <a:solidFill>
                  <a:srgbClr val="605E5C"/>
                </a:solidFill>
                <a:latin typeface="Segoe UI"/>
              </a:rPr>
              <a:t>Writing tool output for an LLM is its own discipline: page and budget instead of truncating; say “content capture was off — do not infer what was said” instead of returning an empty list; make deeplinks mandatory so an answer stays attached to the thing it describes.</a:t>
            </a:r>
          </a:p>
        </p:txBody>
      </p:sp>
      <p:sp>
        <p:nvSpPr>
          <p:cNvPr id="26" name="TextBox 25"/>
          <p:cNvSpPr txBox="1"/>
          <p:nvPr/>
        </p:nvSpPr>
        <p:spPr>
          <a:xfrm>
            <a:off x="658368" y="6382512"/>
            <a:ext cx="8686800" cy="237744"/>
          </a:xfrm>
          <a:prstGeom prst="rect">
            <a:avLst/>
          </a:prstGeom>
          <a:noFill/>
        </p:spPr>
        <p:txBody>
          <a:bodyPr wrap="square" lIns="0" rIns="0" tIns="0" bIns="0" anchor="t">
            <a:spAutoFit/>
          </a:bodyPr>
          <a:lstStyle/>
          <a:p>
            <a:pPr algn="l">
              <a:spcBef>
                <a:spcPts val="0"/>
              </a:spcBef>
              <a:spcAft>
                <a:spcPts val="0"/>
              </a:spcAft>
            </a:pPr>
            <a:r>
              <a:rPr sz="900" b="0" i="0">
                <a:solidFill>
                  <a:srgbClr val="8A8886"/>
                </a:solidFill>
                <a:latin typeface="Segoe UI"/>
              </a:rPr>
              <a:t>Microsoft  ·  Agent Insights  ·  appendix</a:t>
            </a:r>
          </a:p>
        </p:txBody>
      </p:sp>
      <p:sp>
        <p:nvSpPr>
          <p:cNvPr id="27" name="TextBox 26"/>
          <p:cNvSpPr txBox="1"/>
          <p:nvPr/>
        </p:nvSpPr>
        <p:spPr>
          <a:xfrm>
            <a:off x="10835640" y="6382512"/>
            <a:ext cx="694944" cy="237744"/>
          </a:xfrm>
          <a:prstGeom prst="rect">
            <a:avLst/>
          </a:prstGeom>
          <a:noFill/>
        </p:spPr>
        <p:txBody>
          <a:bodyPr wrap="square" lIns="0" rIns="0" tIns="0" bIns="0" anchor="t">
            <a:spAutoFit/>
          </a:bodyPr>
          <a:lstStyle/>
          <a:p>
            <a:pPr algn="r">
              <a:spcBef>
                <a:spcPts val="0"/>
              </a:spcBef>
              <a:spcAft>
                <a:spcPts val="0"/>
              </a:spcAft>
            </a:pPr>
            <a:r>
              <a:rPr sz="900" b="0" i="0">
                <a:solidFill>
                  <a:srgbClr val="8A8886"/>
                </a:solidFill>
                <a:latin typeface="Segoe UI"/>
              </a:rPr>
              <a:t>41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 Insights — OpenTelemetry for AI coding agents, inside VS Code</dc:title>
  <dc:subject>Microsoft internship final presentation</dc:subject>
  <dc:creator>Michelle Ma</dc:creator>
  <cp:keywords/>
  <dc:description>Final presentation for the VS Code internship project Agent Insights. Speaker notes on every slide; timings in square brackets. Slides marked OPTIONAL in the notes are the designated cut list.</dc:description>
  <cp:lastModifiedBy>Steve Canny</cp:lastModifiedBy>
  <cp:revision>1</cp:revision>
  <dcterms:created xsi:type="dcterms:W3CDTF">2013-01-27T09:14:16Z</dcterms:created>
  <dcterms:modified xsi:type="dcterms:W3CDTF">2013-01-27T09:15:58Z</dcterms:modified>
  <cp:category/>
</cp:coreProperties>
</file>